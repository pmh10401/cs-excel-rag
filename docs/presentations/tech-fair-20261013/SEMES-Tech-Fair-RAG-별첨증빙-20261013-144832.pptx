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437e01387c4e92" /><Relationship Type="http://schemas.openxmlformats.org/officeDocument/2006/relationships/extended-properties" Target="/docProps/app.xml" Id="R712eb3881de44b14" /><Relationship Type="http://schemas.openxmlformats.org/officeDocument/2006/relationships/officeDocument" Target="/ppt/presentation.xml" Id="Refc69175267c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452440bd1a45a0"/>
  </p:sldMasterIdLst>
  <p:notesMasterIdLst>
    <p:notesMasterId xmlns:r="http://schemas.openxmlformats.org/officeDocument/2006/relationships" r:id="Rdfce503d96264f1a"/>
  </p:notesMasterIdLst>
  <p:sldIdLst>
    <p:sldId xmlns:r="http://schemas.openxmlformats.org/officeDocument/2006/relationships" id="256" r:id="Ra6b24e76c40741b1"/>
    <p:sldId xmlns:r="http://schemas.openxmlformats.org/officeDocument/2006/relationships" id="257" r:id="R621b1942c0ae4b3a"/>
    <p:sldId xmlns:r="http://schemas.openxmlformats.org/officeDocument/2006/relationships" id="258" r:id="Rcfbf08c6ec634053"/>
    <p:sldId xmlns:r="http://schemas.openxmlformats.org/officeDocument/2006/relationships" id="259" r:id="Rfc04936b0dcb4c9b"/>
    <p:sldId xmlns:r="http://schemas.openxmlformats.org/officeDocument/2006/relationships" id="260" r:id="Rdf103fe0eb7140e7"/>
    <p:sldId xmlns:r="http://schemas.openxmlformats.org/officeDocument/2006/relationships" id="261" r:id="Ra6424e27302c44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5a863594fe464a" /><Relationship Type="http://schemas.openxmlformats.org/officeDocument/2006/relationships/slideMaster" Target="/ppt/slideMasters/slideMaster1.xml" Id="Rd7452440bd1a45a0" /><Relationship Type="http://schemas.openxmlformats.org/officeDocument/2006/relationships/notesMaster" Target="/ppt/notesMasters/notesMaster1.xml" Id="Rdfce503d96264f1a" /><Relationship Type="http://schemas.openxmlformats.org/officeDocument/2006/relationships/presProps" Target="/ppt/presProps.xml" Id="Rf707d59a23f94749" /><Relationship Type="http://schemas.openxmlformats.org/officeDocument/2006/relationships/tableStyles" Target="/ppt/tableStyles.xml" Id="R95f5d7d847574f1f" /><Relationship Type="http://schemas.openxmlformats.org/officeDocument/2006/relationships/slide" Target="/ppt/slides/slide1.xml" Id="Ra6b24e76c40741b1" /><Relationship Type="http://schemas.openxmlformats.org/officeDocument/2006/relationships/slide" Target="/ppt/slides/slide2.xml" Id="R621b1942c0ae4b3a" /><Relationship Type="http://schemas.openxmlformats.org/officeDocument/2006/relationships/slide" Target="/ppt/slides/slide3.xml" Id="Rcfbf08c6ec634053" /><Relationship Type="http://schemas.openxmlformats.org/officeDocument/2006/relationships/slide" Target="/ppt/slides/slide4.xml" Id="Rfc04936b0dcb4c9b" /><Relationship Type="http://schemas.openxmlformats.org/officeDocument/2006/relationships/slide" Target="/ppt/slides/slide5.xml" Id="Rdf103fe0eb7140e7" /><Relationship Type="http://schemas.openxmlformats.org/officeDocument/2006/relationships/slide" Target="/ppt/slides/slide6.xml" Id="Ra6424e27302c44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347886c30b40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326cc7fde94435" /><Relationship Type="http://schemas.openxmlformats.org/officeDocument/2006/relationships/notesMaster" Target="/ppt/notesMasters/notesMaster1.xml" Id="R07d958236c5541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0d186a718d4917" /><Relationship Type="http://schemas.openxmlformats.org/officeDocument/2006/relationships/notesMaster" Target="/ppt/notesMasters/notesMaster1.xml" Id="R5309d6d82fc149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d7c9de7a2b411c" /><Relationship Type="http://schemas.openxmlformats.org/officeDocument/2006/relationships/notesMaster" Target="/ppt/notesMasters/notesMaster1.xml" Id="Rc4c97fdcfbed43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317150da464a0d" /><Relationship Type="http://schemas.openxmlformats.org/officeDocument/2006/relationships/notesMaster" Target="/ppt/notesMasters/notesMaster1.xml" Id="R83a25cf0216d4b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bca6f550aa4552" /><Relationship Type="http://schemas.openxmlformats.org/officeDocument/2006/relationships/notesMaster" Target="/ppt/notesMasters/notesMaster1.xml" Id="R1b55fef8a7ca45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be9cb37c394341" /><Relationship Type="http://schemas.openxmlformats.org/officeDocument/2006/relationships/notesMaster" Target="/ppt/notesMasters/notesMaster1.xml" Id="Rffcdce9775e040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별첨 증빙. 본 발표 10장에 포함하지 않는 별도 자료입니다.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E1. 제품 구조와 원문 보존</a:t>
            </a:r>
          </a:p>
          <a:p xmlns:a="http://schemas.openxmlformats.org/drawingml/2006/main">
            <a:r>
              <a:t>https://github.com/pmh10401/cs-excel-rag/blob/c19a2c1710ded204aceace5ba9f682436245d181/docs/전체-프로그램-플로우.md</a:t>
            </a:r>
          </a:p>
          <a:p xmlns:a="http://schemas.openxmlformats.org/drawingml/2006/main">
            <a:r>
              <a:t>현 구조, 원문·상세·셀 인용, 선택적 번역·재정렬. 실제 정확도나 특허 신규성 증거가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E2. 10만 합성 자료 검색 비교</a:t>
            </a:r>
          </a:p>
          <a:p xmlns:a="http://schemas.openxmlformats.org/drawingml/2006/main">
            <a:r>
              <a:t>https://github.com/pmh10401/cs-excel-rag/blob/c19a2c1710ded204aceace5ba9f682436245d181/docs/임베딩-품질비교-20261007.md</a:t>
            </a:r>
          </a:p>
          <a:p xmlns:a="http://schemas.openxmlformats.org/drawingml/2006/main">
            <a:r>
              <a:t>50개 고정 개발 질문 중 정답 있는 44개. 키워드 첫 정답28/44, Qwen결합39/44, EmbeddingGemma 2결합35/44. 최종 답변은 평가하지 않음.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E3. 원문 관계 보완 비교</a:t>
            </a:r>
          </a:p>
          <a:p xmlns:a="http://schemas.openxmlformats.org/drawingml/2006/main">
            <a:r>
              <a:t>https://github.com/pmh10401/cs-excel-rag/blob/c19a2c1710ded204aceace5ba9f682436245d181/docs/관계검색-비교-20261007.md</a:t>
            </a:r>
          </a:p>
          <a:p xmlns:a="http://schemas.openxmlformats.org/drawingml/2006/main">
            <a:r>
              <a:t>2,000 합성 상세,41문항 중 정답있는34개. 첫 정답32/34와34/34. 정답없는3개 중2개는 두방식 모두 유사후보를 반환.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E4. 작업 복구와 동시 질문</a:t>
            </a:r>
          </a:p>
          <a:p xmlns:a="http://schemas.openxmlformats.org/drawingml/2006/main">
            <a:r>
              <a:t>https://github.com/pmh10401/cs-excel-rag/blob/c19a2c1710ded204aceace5ba9f682436245d181/docs/임원보고서.md</a:t>
            </a:r>
          </a:p>
          <a:p xmlns:a="http://schemas.openxmlformats.org/drawingml/2006/main">
            <a:r>
              <a:t>Mac·모의 모델. 작업 복구14건과 동시 처리7건 통과. Windows실기기/DRM 및 실제120B부하 미확인.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E6. 제품화 목표와 남은 검증</a:t>
            </a:r>
          </a:p>
          <a:p xmlns:a="http://schemas.openxmlformats.org/drawingml/2006/main">
            <a:r>
              <a:t>https://github.com/pmh10401/cs-excel-rag/blob/c19a2c1710ded204aceace5ba9f682436245d181/docs/제품화-설계-20261013.md</a:t>
            </a:r>
          </a:p>
          <a:p xmlns:a="http://schemas.openxmlformats.org/drawingml/2006/main">
            <a:r>
              <a:t>Windows 사내서버+여러브라우저 목표. 사용자·관리자권한,운영API,현장정확도,실제부하 확인 필요. 문서 최초설계의 후속범위 중 동시질문은E4로 상태갱신.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별첨 증빙. 본 발표 10장에 포함하지 않는 별도 자료입니다.</a:t>
            </a:r>
          </a:p>
          <a:p xmlns:a="http://schemas.openxmlformats.org/drawingml/2006/main">
            <a:r>
              <a:t>Gemma 2는 EmbeddingGemma 2를 뜻합니다. Qwen은 Qwen3 Embedding 0.6B입니다. 44문항에는 정확한 CS 조회3개가 포함됩니다. 현상 질문만의 첫정답은 Qwen36/41, 새모델32/41입니다. 모델별 접두사와 차원이 다른 설정 묶음을 비교했습니다.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E2. 10만 합성 자료 검색 비교</a:t>
            </a:r>
          </a:p>
          <a:p xmlns:a="http://schemas.openxmlformats.org/drawingml/2006/main">
            <a:r>
              <a:t>https://github.com/pmh10401/cs-excel-rag/blob/c19a2c1710ded204aceace5ba9f682436245d181/docs/임베딩-품질비교-20261007.md</a:t>
            </a:r>
          </a:p>
          <a:p xmlns:a="http://schemas.openxmlformats.org/drawingml/2006/main">
            <a:r>
              <a:t>50개 고정 개발 질문 중 정답 있는 44개. 키워드 첫 정답28/44, Qwen결합39/44, EmbeddingGemma 2결합35/44. 최종 답변은 평가하지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별첨 증빙. 본 발표 10장에 포함하지 않는 별도 자료입니다.</a:t>
            </a:r>
          </a:p>
          <a:p xmlns:a="http://schemas.openxmlformats.org/drawingml/2006/main">
            <a:r>
              <a:t>원문·검토 해시 전후 일치. 41/41완료, 오류0, 누락0. 저장된82개검색결과를 재계산하고 관계경로원문셀768개를 대조했습니다. 정답은 질문의 설비·부품·현상에 맞는 기록이며 성공한조치를뜻하지않습니다.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E3. 원문 관계 보완 비교</a:t>
            </a:r>
          </a:p>
          <a:p xmlns:a="http://schemas.openxmlformats.org/drawingml/2006/main">
            <a:r>
              <a:t>https://github.com/pmh10401/cs-excel-rag/blob/c19a2c1710ded204aceace5ba9f682436245d181/docs/관계검색-비교-20261007.md</a:t>
            </a:r>
          </a:p>
          <a:p xmlns:a="http://schemas.openxmlformats.org/drawingml/2006/main">
            <a:r>
              <a:t>2,000 합성 상세,41문항 중 정답있는34개. 첫 정답32/34와34/34. 정답없는3개 중2개는 두방식 모두 유사후보를 반환.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별첨 증빙. 본 발표 10장에 포함하지 않는 별도 자료입니다.</a:t>
            </a:r>
          </a:p>
          <a:p xmlns:a="http://schemas.openxmlformats.org/drawingml/2006/main">
            <a:r>
              <a:t>로컬 증빙: outputs/durable-jobs-20261013/progress.md, outputs/concurrent-preparation-20261013/verification.json 및 rag-concurrent-core.log. 기능검사 통과 건수를 동시사용자 수나현장정답률로 해석하지 않습니다. 최신 코드c19a2c1.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E4. 작업 복구와 동시 질문</a:t>
            </a:r>
          </a:p>
          <a:p xmlns:a="http://schemas.openxmlformats.org/drawingml/2006/main">
            <a:r>
              <a:t>https://github.com/pmh10401/cs-excel-rag/blob/c19a2c1710ded204aceace5ba9f682436245d181/docs/임원보고서.md</a:t>
            </a:r>
          </a:p>
          <a:p xmlns:a="http://schemas.openxmlformats.org/drawingml/2006/main">
            <a:r>
              <a:t>Mac·모의 모델. 작업 복구14건과 동시 처리7건 통과. Windows실기기/DRM 및 실제120B부하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별첨 증빙. 본 발표 10장에 포함하지 않는 별도 자료입니다.</a:t>
            </a:r>
          </a:p>
          <a:p xmlns:a="http://schemas.openxmlformats.org/drawingml/2006/main">
            <a:r>
              <a:t>스크린샷 원본: outputs/durable-jobs-20261013/rag-durable-resume-before.png, outputs/concurrent-preparation-20261013/desktop-waiting.png. 가상 자료와 모의 모델의 브라우저 기능 확인입니다.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E4. 작업 복구와 동시 질문</a:t>
            </a:r>
          </a:p>
          <a:p xmlns:a="http://schemas.openxmlformats.org/drawingml/2006/main">
            <a:r>
              <a:t>https://github.com/pmh10401/cs-excel-rag/blob/c19a2c1710ded204aceace5ba9f682436245d181/docs/임원보고서.md</a:t>
            </a:r>
          </a:p>
          <a:p xmlns:a="http://schemas.openxmlformats.org/drawingml/2006/main">
            <a:r>
              <a:t>Mac·모의 모델. 작업 복구14건과 동시 처리7건 통과. Windows실기기/DRM 및 실제120B부하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별첨 증빙. 본 발표 10장에 포함하지 않는 별도 자료입니다.</a:t>
            </a:r>
          </a:p>
          <a:p xmlns:a="http://schemas.openxmlformats.org/drawingml/2006/main">
            <a:r>
              <a:t>검증 파일: outputs/embedding-quality-20261007/verification.json, independent-verification.json; outputs/relations-pilot-20261007-final/verification.json; outputs/concurrent-preparation-20261013/verification.json. 결과자료는로컬보관이며원문DB·개인설정·요청응답로그는본PPT에포함하지않았습니다. 검색결과SHA256 fd4e5d7ad40b27af36b23423817c8ffc411ce04eebac38cbba7da80b1752b3f4. 배포파일SHA256 192ac9500246c41fc557bf4a752d83fc9cd0b62037c34d45bc66181b0e43719e.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E2. 10만 합성 자료 검색 비교</a:t>
            </a:r>
          </a:p>
          <a:p xmlns:a="http://schemas.openxmlformats.org/drawingml/2006/main">
            <a:r>
              <a:t>https://github.com/pmh10401/cs-excel-rag/blob/c19a2c1710ded204aceace5ba9f682436245d181/docs/임베딩-품질비교-20261007.md</a:t>
            </a:r>
          </a:p>
          <a:p xmlns:a="http://schemas.openxmlformats.org/drawingml/2006/main">
            <a:r>
              <a:t>50개 고정 개발 질문 중 정답 있는 44개. 키워드 첫 정답28/44, Qwen결합39/44, EmbeddingGemma 2결합35/44. 최종 답변은 평가하지 않음.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E3. 원문 관계 보완 비교</a:t>
            </a:r>
          </a:p>
          <a:p xmlns:a="http://schemas.openxmlformats.org/drawingml/2006/main">
            <a:r>
              <a:t>https://github.com/pmh10401/cs-excel-rag/blob/c19a2c1710ded204aceace5ba9f682436245d181/docs/관계검색-비교-20261007.md</a:t>
            </a:r>
          </a:p>
          <a:p xmlns:a="http://schemas.openxmlformats.org/drawingml/2006/main">
            <a:r>
              <a:t>2,000 합성 상세,41문항 중 정답있는34개. 첫 정답32/34와34/34. 정답없는3개 중2개는 두방식 모두 유사후보를 반환.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E4. 작업 복구와 동시 질문</a:t>
            </a:r>
          </a:p>
          <a:p xmlns:a="http://schemas.openxmlformats.org/drawingml/2006/main">
            <a:r>
              <a:t>https://github.com/pmh10401/cs-excel-rag/blob/c19a2c1710ded204aceace5ba9f682436245d181/docs/임원보고서.md</a:t>
            </a:r>
          </a:p>
          <a:p xmlns:a="http://schemas.openxmlformats.org/drawingml/2006/main">
            <a:r>
              <a:t>Mac·모의 모델. 작업 복구14건과 동시 처리7건 통과. Windows실기기/DRM 및 실제120B부하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293ff69e1a4d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d401a6cb94a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01e1aadb143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1d5cce5d546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bb024e8e845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70cf9fa6f47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DCE1F8-7815-4E17-89C3-72BD9FC1AE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43C574-8FCD-4455-8FA8-EDAEFB0B0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08FDDB-58D1-4106-93A8-F42F9906F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4F305F-31EB-4D2C-975A-FC52A824DB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5A5E7D-AA03-4C55-BF89-0C5389C5ED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BC4D93-69E3-43C2-9CE4-D752BF4495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851EFA-B66D-45E7-A726-89282D93FD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2B387C-CE83-4AD1-A889-0FEDCB9887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3DAA3B-C624-4FD8-9695-629DA736D4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140B08-792C-425D-B1DF-F078434C79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d19371b0134cf5" /><Relationship Type="http://schemas.openxmlformats.org/officeDocument/2006/relationships/slideLayout" Target="/ppt/slideLayouts/slideLayout1.xml" Id="Rc7ec168c12074f9e" /><Relationship Type="http://schemas.openxmlformats.org/officeDocument/2006/relationships/slideLayout" Target="/ppt/slideLayouts/slideLayout2.xml" Id="Rc84863c30da04be7" /><Relationship Type="http://schemas.openxmlformats.org/officeDocument/2006/relationships/slideLayout" Target="/ppt/slideLayouts/slideLayout3.xml" Id="R8dd760705bf04f1f" /><Relationship Type="http://schemas.openxmlformats.org/officeDocument/2006/relationships/slideLayout" Target="/ppt/slideLayouts/slideLayout4.xml" Id="Rebec3543ee4849d0" /><Relationship Type="http://schemas.openxmlformats.org/officeDocument/2006/relationships/slideLayout" Target="/ppt/slideLayouts/slideLayout5.xml" Id="R04240fb9369146b8" /><Relationship Type="http://schemas.openxmlformats.org/officeDocument/2006/relationships/slideLayout" Target="/ppt/slideLayouts/slideLayout6.xml" Id="Rd21d76f3552949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ec168c12074f9e"/>
    <p:sldLayoutId xmlns:r="http://schemas.openxmlformats.org/officeDocument/2006/relationships" id="2147483650" r:id="Rc84863c30da04be7"/>
    <p:sldLayoutId xmlns:r="http://schemas.openxmlformats.org/officeDocument/2006/relationships" id="2147483651" r:id="R8dd760705bf04f1f"/>
    <p:sldLayoutId xmlns:r="http://schemas.openxmlformats.org/officeDocument/2006/relationships" id="2147483652" r:id="Rebec3543ee4849d0"/>
    <p:sldLayoutId xmlns:r="http://schemas.openxmlformats.org/officeDocument/2006/relationships" id="2147483653" r:id="R04240fb9369146b8"/>
    <p:sldLayoutId xmlns:r="http://schemas.openxmlformats.org/officeDocument/2006/relationships" id="2147483654" r:id="Rd21d76f3552949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6c6860fb064205" /><Relationship Type="http://schemas.openxmlformats.org/officeDocument/2006/relationships/notesSlide" Target="/ppt/notesSlides/notesSlide1.xml" Id="R4e1fb838e5804c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4c9a6829a42e0" /><Relationship Type="http://schemas.openxmlformats.org/officeDocument/2006/relationships/notesSlide" Target="/ppt/notesSlides/notesSlide2.xml" Id="R998f086dc93d4d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029991deb4cb5" /><Relationship Type="http://schemas.openxmlformats.org/officeDocument/2006/relationships/notesSlide" Target="/ppt/notesSlides/notesSlide3.xml" Id="R4f3f476428b542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f0a73ef9f4636" /><Relationship Type="http://schemas.openxmlformats.org/officeDocument/2006/relationships/notesSlide" Target="/ppt/notesSlides/notesSlide4.xml" Id="Redc41a0fd37e47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d22bfedde43c0" /><Relationship Type="http://schemas.openxmlformats.org/officeDocument/2006/relationships/image" Target="/ppt/media/image.png" Id="Rd63637ffe8cd4632" /><Relationship Type="http://schemas.openxmlformats.org/officeDocument/2006/relationships/image" Target="/ppt/media/image2.png" Id="Re77be1015c674028" /><Relationship Type="http://schemas.openxmlformats.org/officeDocument/2006/relationships/notesSlide" Target="/ppt/notesSlides/notesSlide5.xml" Id="Rd85a0224dd8245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8880ef8654f7d" /><Relationship Type="http://schemas.openxmlformats.org/officeDocument/2006/relationships/notesSlide" Target="/ppt/notesSlides/notesSlide6.xml" Id="R15facc1b9a5e48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AB022-91EB-4FEA-BA40-D6820FF8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A1  </a:t>
            </a:r>
            <a:r>
              <a: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평가 항목과 증빙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951BF-7886-4DAC-9CBB-E60A0740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발표의 주장 범위와 실제 확인 자료를 연결합니다.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1861B-2422-4FEA-B734-B14D7596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A1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7B1B5-DA03-476A-84A2-A6D0B0D3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3BE1B-877F-4B98-A596-55721EDBECD3}"/>
              </a:ext>
            </a:extLst>
          </p:cNvPr>
          <p:cNvGraphicFramePr/>
          <p:nvPr/>
        </p:nvGraphicFramePr>
        <p:xfrm>
          <a:off xmlns:a="http://schemas.openxmlformats.org/drawingml/2006/main" x="638175" y="1790700"/>
          <a:ext xmlns:a="http://schemas.openxmlformats.org/drawingml/2006/main" cx="10925175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4543425"/>
                <a:gridCol w="4543425"/>
              </a:tblGrid>
              <a:tr h="4953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제시하는 증빙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입증하지 않은 범위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</a:tr>
              <a:tr h="9620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우수성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A2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 비교,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A3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보완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질문·원문·조건의 저장 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선진사 대비 우위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현장 질문의 최종 답변 품질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파급효과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A4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복구·동시 처리 기능 검사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A5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화면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양산 적용 성과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비용 절감·고장 감소 효과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9620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독창성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복수 상세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 실제 셀 인용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원문과 보조 문장 분리 구조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특허 신규성·진보성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출원 또는 등록 여부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타당성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A6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원문·지표 검증 기록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조건과 실패 사례 보존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결과의 현장 일반화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Windows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실기기 전체 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482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C4EF9-3F84-4AFC-B70D-E8C62CCD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A2  10</a:t>
            </a:r>
            <a:r>
              <a: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만 합성 자료의 검색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97F00-1E55-49D5-BD21-7F3E5C60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2026.10.07 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Mac LM Studio 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같은 원문과 고정 개발 질문 · 답변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LLM 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호출 없음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90206-78D3-4F43-B87E-F16695ED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A2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40A17-D79E-404C-BCCF-55349E07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5CE59-9AC4-41A6-B3F8-77082107714F}"/>
              </a:ext>
            </a:extLst>
          </p:cNvPr>
          <p:cNvGraphicFramePr/>
          <p:nvPr/>
        </p:nvGraphicFramePr>
        <p:xfrm>
          <a:off xmlns:a="http://schemas.openxmlformats.org/drawingml/2006/main" x="638175" y="1809750"/>
          <a:ext xmlns:a="http://schemas.openxmlformats.org/drawingml/2006/main" cx="109347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62600"/>
                <a:gridCol w="1724025"/>
                <a:gridCol w="1800225"/>
                <a:gridCol w="1847850"/>
              </a:tblGrid>
              <a:tr h="485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Qwen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Gemma 2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</a:tr>
              <a:tr h="7715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결과 정답 / 정답 있는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44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28/44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39/44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35/44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상위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 정답 포함 /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44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28/44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43/44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41/44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15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없는 질문에 빈 결과 /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4/6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3/6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3/6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4D85C-44E1-4A35-B10F-DD3C12BA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161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비교 조건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1334F-E1B9-4DFA-949F-4C959268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914900"/>
            <a:ext cx="90201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18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100,000</a:t>
            </a:r>
            <a:r>
              <a:rPr sz="18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건과 고유 본문 </a:t>
            </a:r>
            <a:r>
              <a:rPr sz="18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14,542</a:t>
            </a:r>
            <a:r>
              <a:rPr sz="18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개. 키워드·벡터 후보는 각 최대 </a:t>
            </a:r>
            <a:r>
              <a:rPr sz="1800" b="0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20</a:t>
            </a:r>
            <a:r>
              <a:rPr sz="18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D9D0E-7BB3-4434-AEDA-8E938C76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161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해석 한계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6305E-9A52-4A47-B400-BF928BA8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572125"/>
            <a:ext cx="90201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개발 질문 재사용. 근거 없는 질문의 오검색이 남음. 검색 수치와 답변 정확도는 다름.</a:t>
            </a:r>
          </a:p>
        </p:txBody>
      </p:sp>
    </p:spTree>
    <p:extLst>
      <p:ext uri="{BB962C8B-B14F-4D97-AF65-F5344CB8AC3E}">
        <p14:creationId xmlns:p14="http://schemas.microsoft.com/office/powerpoint/2010/main" val="1886395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EA0B6-68BF-4485-9A35-DD9FAF2B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A3  </a:t>
            </a:r>
            <a:r>
              <a: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원문 관계 보완 검색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ACC78-69D5-4286-80E6-B109AC54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2026.10.07 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2,000 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합성 상세 · 고정 한국어 질문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41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개 · 같은 벡터와 원문 사용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13121-7B49-417E-90A3-0EF8BA8A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A3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C8051-28FA-4921-BCCA-266FBC1B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D2B5B-CBB3-4D14-A646-9FA7508878C1}"/>
              </a:ext>
            </a:extLst>
          </p:cNvPr>
          <p:cNvGraphicFramePr/>
          <p:nvPr/>
        </p:nvGraphicFramePr>
        <p:xfrm>
          <a:off xmlns:a="http://schemas.openxmlformats.org/drawingml/2006/main" x="638175" y="1800225"/>
          <a:ext xmlns:a="http://schemas.openxmlformats.org/drawingml/2006/main" cx="10925175" cy="2943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1381125"/>
                <a:gridCol w="2190750"/>
                <a:gridCol w="2495550"/>
              </a:tblGrid>
              <a:tr h="4286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있는 질문 유형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문항 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첫 정답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보완 첫 정답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</a:tr>
              <a:tr h="4953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설비 + 부품 + 현상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모듈 + 부품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953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현상만 질문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정확한 </a:t>
                      </a:r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 </a:t>
                      </a:r>
                      <a:r>
                        <a:rPr sz="187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334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440D4-EA96-4A4B-9086-ECA00372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48250"/>
            <a:ext cx="1064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4601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94601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46010"/>
                </a:solidFill>
                <a:latin typeface="Malgun Gothic"/>
                <a:ea typeface="Malgun Gothic"/>
                <a:cs typeface="Malgun Gothic"/>
              </a:rPr>
              <a:t>정답 없는 </a:t>
            </a:r>
            <a:r>
              <a:rPr sz="2025" b="1">
                <a:solidFill>
                  <a:srgbClr val="94601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025" b="1">
                <a:solidFill>
                  <a:srgbClr val="946010"/>
                </a:solidFill>
                <a:latin typeface="Malgun Gothic"/>
                <a:ea typeface="Malgun Gothic"/>
                <a:cs typeface="Malgun Gothic"/>
              </a:rPr>
              <a:t>문항은 두 방식 모두 </a:t>
            </a:r>
            <a:r>
              <a:rPr sz="2025" b="1">
                <a:solidFill>
                  <a:srgbClr val="94601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025" b="1">
                <a:solidFill>
                  <a:srgbClr val="946010"/>
                </a:solidFill>
                <a:latin typeface="Malgun Gothic"/>
                <a:ea typeface="Malgun Gothic"/>
                <a:cs typeface="Malgun Gothic"/>
              </a:rPr>
              <a:t>건만 빈 결과, </a:t>
            </a:r>
            <a:r>
              <a:rPr sz="2025" b="1">
                <a:solidFill>
                  <a:srgbClr val="94601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025" b="1">
                <a:solidFill>
                  <a:srgbClr val="946010"/>
                </a:solidFill>
                <a:latin typeface="Malgun Gothic"/>
                <a:ea typeface="Malgun Gothic"/>
                <a:cs typeface="Malgun Gothic"/>
              </a:rPr>
              <a:t>건은 유사 후보 반환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75494-C776-42BA-A406-875E6800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629275"/>
            <a:ext cx="10648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나머지 </a:t>
            </a:r>
            <a:r>
              <a:rPr sz="18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문항은 숫자·부정 등에서 후보 유지 여부를 확인한 검사입니다.</a:t>
            </a:r>
          </a:p>
          <a:p xmlns:a="http://schemas.openxmlformats.org/drawingml/2006/main">
            <a:pPr algn="l">
              <a:def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원문 관계는 함께 기록됐다는 뜻이며, 원인이나 조치 성공을 증명하지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29589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11246-A5C8-4DBF-82EB-FB173D62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A4  </a:t>
            </a:r>
            <a:r>
              <a: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작업 복구와 동시 질문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BD41F-0BA6-4503-81FD-62880BF5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2026.10.13 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실제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SQLite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·프로세스·브라우저와 모의 모델을 사용한 </a:t>
            </a:r>
            <a:r>
              <a:rPr sz="1725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Mac </a:t>
            </a: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기능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C58D2-F299-43F3-B177-4C90A1A8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A4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C146D-7923-4D4F-9280-BDAD6197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9AF5E-7820-4D2A-BA64-E4A55F4F99C3}"/>
              </a:ext>
            </a:extLst>
          </p:cNvPr>
          <p:cNvGraphicFramePr/>
          <p:nvPr/>
        </p:nvGraphicFramePr>
        <p:xfrm>
          <a:off xmlns:a="http://schemas.openxmlformats.org/drawingml/2006/main" x="638175" y="1809750"/>
          <a:ext xmlns:a="http://schemas.openxmlformats.org/drawingml/2006/main" cx="10925175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7425"/>
                <a:gridCol w="6200775"/>
                <a:gridCol w="2466975"/>
              </a:tblGrid>
              <a:tr h="485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 범위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확인한 상황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</a:tr>
              <a:tr h="10191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복구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자식 프로세스 종료,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DB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후 중단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Excel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삭제 후 재개, 검토 결과 보존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14/14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 질문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갱신 중 같은 원문으로 답변, 질문 순서 우선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처리 재개, 사용자별 로그 구분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7/7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115252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브라우저와 배포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PC 1440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×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1024,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모바일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390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×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844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배포본 파일 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</a:t>
                      </a:r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개가 소스와 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검사 통과</a:t>
                      </a:r>
                    </a:p>
                    <a:p>
                      <a:r>
                        <a:rPr sz="1800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오프라인 검사 통과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EDC4D-879D-48E8-84E6-A6584BBE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확인 범위: 단일 서버 프로세스의 동작과 데이터 보존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9D34C-69CB-4FB2-8446-3F35F17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미확인: </a:t>
            </a: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Windows </a:t>
            </a:r>
            <a:r>
              <a: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실기기·</a:t>
            </a: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DRM, </a:t>
            </a:r>
            <a:r>
              <a: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실제 </a:t>
            </a: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GPT-OSS 120B </a:t>
            </a:r>
            <a:r>
              <a: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부하, 사용자 권한 분리</a:t>
            </a:r>
          </a:p>
        </p:txBody>
      </p:sp>
    </p:spTree>
    <p:extLst>
      <p:ext uri="{BB962C8B-B14F-4D97-AF65-F5344CB8AC3E}">
        <p14:creationId xmlns:p14="http://schemas.microsoft.com/office/powerpoint/2010/main" val="2010883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F2DAB-DD71-4DE8-A1AE-A96D445A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A5  </a:t>
            </a:r>
            <a:r>
              <a: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중단 후 재개와 준비 중 질문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8982D-C58D-4640-BADB-9D59567B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가상 자료·모의 모델의 브라우저 동작 확인 자료입니다.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F3A18-0210-471A-9E5E-43C83E88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A5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12A7B-36E9-4E51-83B6-964F0A77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5081F-97C3-4CF5-AA3C-6D397A3F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71650"/>
            <a:ext cx="5276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중단한 준비 작업 재개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4672A-356A-46D6-B485-41DF282A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71650"/>
            <a:ext cx="5229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59C7"/>
                </a:solidFill>
                <a:latin typeface="Malgun Gothic"/>
                <a:ea typeface="Malgun Gothic"/>
                <a:cs typeface="Malgun Gothic"/>
              </a:rPr>
              <a:t>질문과 준비 상태를 각각 표시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135A2-1800-4F31-B0BB-227A7C6DF9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637ffe8cd4632"/>
          <a:stretch xmlns:a="http://schemas.openxmlformats.org/drawingml/2006/main"/>
        </p:blipFill>
        <p:spPr>
          <a:xfrm xmlns:a="http://schemas.openxmlformats.org/drawingml/2006/main">
            <a:off x="823466" y="2276475"/>
            <a:ext cx="4915793" cy="349567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3171F-26E3-4F4E-A24C-71FAE5474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be1015c674028"/>
          <a:stretch xmlns:a="http://schemas.openxmlformats.org/drawingml/2006/main"/>
        </p:blipFill>
        <p:spPr>
          <a:xfrm xmlns:a="http://schemas.openxmlformats.org/drawingml/2006/main">
            <a:off x="6412260" y="2276475"/>
            <a:ext cx="5130105" cy="36480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A08E8-080F-40C0-BE35-71672499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69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화면의 완료 시간·건수는 기능 시험용 값입니다. 실제 모델 속도나 업무 성과를 뜻하지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422213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28143-FA14-44C1-B488-8D889E9D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238"/>
                </a:solidFill>
                <a:latin typeface="Times New Roman"/>
                <a:ea typeface="Times New Roman"/>
                <a:cs typeface="Times New Roman"/>
              </a:rPr>
              <a:t>A6  </a:t>
            </a:r>
            <a:r>
              <a:rPr sz="3225" b="1">
                <a:solidFill>
                  <a:srgbClr val="142238"/>
                </a:solidFill>
                <a:latin typeface="Malgun Gothic"/>
                <a:ea typeface="Malgun Gothic"/>
                <a:cs typeface="Malgun Gothic"/>
              </a:rPr>
              <a:t>결과 검증과 원본 자료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6E9E6-E88C-4D54-A40D-FCABABD1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수치의 출처를 역추적할 수 있도록 보고서와 저장 결과를 함께 보관합니다.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2CEB7-9FD5-4C00-9C8F-0DA10A7A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별첨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A6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RAG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CS </a:t>
            </a:r>
            <a:r>
              <a:rPr sz="120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리포트 검색 서비스 · 기준 </a:t>
            </a:r>
            <a:r>
              <a:rPr sz="120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2026.10.13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F5151-B6CA-4CB1-AEEA-4A78CFD2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91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4CCDA-5E97-4B93-8FC0-FF4AB7526FAA}"/>
              </a:ext>
            </a:extLst>
          </p:cNvPr>
          <p:cNvGraphicFramePr/>
          <p:nvPr/>
        </p:nvGraphicFramePr>
        <p:xfrm>
          <a:off xmlns:a="http://schemas.openxmlformats.org/drawingml/2006/main" x="638175" y="1800225"/>
          <a:ext xmlns:a="http://schemas.openxmlformats.org/drawingml/2006/main" cx="10925175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5600700"/>
                <a:gridCol w="3209925"/>
              </a:tblGrid>
              <a:tr h="47625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대조·보존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T w="9525">
                      <a:solidFill>
                        <a:srgbClr val="D8DFE8"/>
                      </a:solidFill>
                    </a:lnT>
                    <a:lnB w="9525">
                      <a:solidFill>
                        <a:srgbClr val="D8DFE8"/>
                      </a:solidFill>
                    </a:lnB>
                    <a:solidFill>
                      <a:srgbClr val="142238"/>
                    </a:solidFill>
                  </a:tcPr>
                </a:tc>
              </a:tr>
              <a:tr h="10668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 비교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검색 결과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250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개, 조건 결과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96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 재계산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건수·점수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236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개와 상세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556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 원문 대조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임베딩-품질비교-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20261007.md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보완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41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문항의 결과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82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개와 관계 경로 셀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768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 대조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원문·검토 해시 전후 일치,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DB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무결성 정상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관계검색-비교-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20261007.md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10668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복구·동시 질문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FE8"/>
                      </a:solidFill>
                    </a:lnL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오프라인·브라우저 검사 기록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배포본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SHA-256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 소스 파일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 일치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임원보고서.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md</a:t>
                      </a:r>
                    </a:p>
                    <a:p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JSON</a:t>
                      </a:r>
                      <a:r>
                        <a:rPr sz="1725" b="0">
                          <a:solidFill>
                            <a:srgbClr val="1422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 로그는 로컬 보관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FE8"/>
                      </a:solidFill>
                    </a:lnR>
                    <a:lnB w="9525">
                      <a:solidFill>
                        <a:srgbClr val="D8DF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48EA7-F04A-4419-ABB1-FE32B9E4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기준 코드  </a:t>
            </a:r>
            <a:r>
              <a:rPr sz="1650" b="0">
                <a:solidFill>
                  <a:srgbClr val="5B6676"/>
                </a:solidFill>
                <a:latin typeface="Times New Roman"/>
                <a:ea typeface="Times New Roman"/>
                <a:cs typeface="Times New Roman"/>
              </a:rPr>
              <a:t>c19a2c1710ded204aceace5ba9f682436245d181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0FD88-81F3-44EA-8837-FF5F2E8E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676"/>
                </a:solidFill>
                <a:latin typeface="Malgun Gothic"/>
                <a:ea typeface="Malgun Gothic"/>
                <a:cs typeface="Malgun Gothic"/>
              </a:rPr>
              <a:t>세부 문서 링크와 조건은 각 슬라이드 발표자 노트에 수록</a:t>
            </a:r>
          </a:p>
        </p:txBody>
      </p:sp>
    </p:spTree>
    <p:extLst>
      <p:ext uri="{BB962C8B-B14F-4D97-AF65-F5344CB8AC3E}">
        <p14:creationId xmlns:p14="http://schemas.microsoft.com/office/powerpoint/2010/main" val="648526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2026-10-13T05:48:37.2460000Z</dcterms:created>
  <dcterms:modified xsi:type="dcterms:W3CDTF">2026-10-13T05:48:37.2460000Z</dcterms:modified>
</coreProperties>
</file>