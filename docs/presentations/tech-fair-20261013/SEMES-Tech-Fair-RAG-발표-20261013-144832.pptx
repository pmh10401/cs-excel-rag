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1.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f16b5b50a56a467e" /><Relationship Type="http://schemas.openxmlformats.org/officeDocument/2006/relationships/extended-properties" Target="/docProps/app.xml" Id="Rf903226d208049c7" /><Relationship Type="http://schemas.openxmlformats.org/officeDocument/2006/relationships/officeDocument" Target="/ppt/presentation.xml" Id="Re4594475465c4593" /></Relationships>
</file>

<file path=ppt/presentation.xml><?xml version="1.0" encoding="utf-8"?>
<p:presentation xmlns:p="http://schemas.openxmlformats.org/presentationml/2006/main">
  <p:sldMasterIdLst>
    <p:sldMasterId xmlns:r="http://schemas.openxmlformats.org/officeDocument/2006/relationships" id="2147483648" r:id="R7ad12640fe0d4466"/>
  </p:sldMasterIdLst>
  <p:notesMasterIdLst>
    <p:notesMasterId xmlns:r="http://schemas.openxmlformats.org/officeDocument/2006/relationships" r:id="Rc227900a05844633"/>
  </p:notesMasterIdLst>
  <p:sldIdLst>
    <p:sldId xmlns:r="http://schemas.openxmlformats.org/officeDocument/2006/relationships" id="256" r:id="Reca5ff81feae4fde"/>
    <p:sldId xmlns:r="http://schemas.openxmlformats.org/officeDocument/2006/relationships" id="257" r:id="Rb1922cc9c818471d"/>
    <p:sldId xmlns:r="http://schemas.openxmlformats.org/officeDocument/2006/relationships" id="258" r:id="R8776674289a144ba"/>
    <p:sldId xmlns:r="http://schemas.openxmlformats.org/officeDocument/2006/relationships" id="259" r:id="Rb5a40554a3524373"/>
    <p:sldId xmlns:r="http://schemas.openxmlformats.org/officeDocument/2006/relationships" id="260" r:id="R27898549162449e3"/>
    <p:sldId xmlns:r="http://schemas.openxmlformats.org/officeDocument/2006/relationships" id="261" r:id="Rd82e748d8e4846cf"/>
    <p:sldId xmlns:r="http://schemas.openxmlformats.org/officeDocument/2006/relationships" id="262" r:id="Rb6b5a83d4c914e06"/>
    <p:sldId xmlns:r="http://schemas.openxmlformats.org/officeDocument/2006/relationships" id="263" r:id="R82a69814ecb24d1a"/>
    <p:sldId xmlns:r="http://schemas.openxmlformats.org/officeDocument/2006/relationships" id="264" r:id="R13397eabb9f843d4"/>
    <p:sldId xmlns:r="http://schemas.openxmlformats.org/officeDocument/2006/relationships" id="265" r:id="Rd7e7fd99944e427e"/>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3d0c383668b4d6c" /><Relationship Type="http://schemas.openxmlformats.org/officeDocument/2006/relationships/slideMaster" Target="/ppt/slideMasters/slideMaster1.xml" Id="R7ad12640fe0d4466" /><Relationship Type="http://schemas.openxmlformats.org/officeDocument/2006/relationships/notesMaster" Target="/ppt/notesMasters/notesMaster1.xml" Id="Rc227900a05844633" /><Relationship Type="http://schemas.openxmlformats.org/officeDocument/2006/relationships/presProps" Target="/ppt/presProps.xml" Id="R3a93f53149684306" /><Relationship Type="http://schemas.openxmlformats.org/officeDocument/2006/relationships/tableStyles" Target="/ppt/tableStyles.xml" Id="Re7535a73a24d42b7" /><Relationship Type="http://schemas.openxmlformats.org/officeDocument/2006/relationships/slide" Target="/ppt/slides/slide1.xml" Id="Reca5ff81feae4fde" /><Relationship Type="http://schemas.openxmlformats.org/officeDocument/2006/relationships/slide" Target="/ppt/slides/slide2.xml" Id="Rb1922cc9c818471d" /><Relationship Type="http://schemas.openxmlformats.org/officeDocument/2006/relationships/slide" Target="/ppt/slides/slide3.xml" Id="R8776674289a144ba" /><Relationship Type="http://schemas.openxmlformats.org/officeDocument/2006/relationships/slide" Target="/ppt/slides/slide4.xml" Id="Rb5a40554a3524373" /><Relationship Type="http://schemas.openxmlformats.org/officeDocument/2006/relationships/slide" Target="/ppt/slides/slide5.xml" Id="R27898549162449e3" /><Relationship Type="http://schemas.openxmlformats.org/officeDocument/2006/relationships/slide" Target="/ppt/slides/slide6.xml" Id="Rd82e748d8e4846cf" /><Relationship Type="http://schemas.openxmlformats.org/officeDocument/2006/relationships/slide" Target="/ppt/slides/slide7.xml" Id="Rb6b5a83d4c914e06" /><Relationship Type="http://schemas.openxmlformats.org/officeDocument/2006/relationships/slide" Target="/ppt/slides/slide8.xml" Id="R82a69814ecb24d1a" /><Relationship Type="http://schemas.openxmlformats.org/officeDocument/2006/relationships/slide" Target="/ppt/slides/slide9.xml" Id="R13397eabb9f843d4" /><Relationship Type="http://schemas.openxmlformats.org/officeDocument/2006/relationships/slide" Target="/ppt/slides/slide10.xml" Id="Rd7e7fd99944e427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89aeabf88e64a4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Times New Roman"/>
        <a:ea typeface=""/>
        <a:cs typeface=""/>
      </a:majorFont>
      <a:minorFont>
        <a:latin typeface="Times New Roman"/>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8481eb46ec34810" /><Relationship Type="http://schemas.openxmlformats.org/officeDocument/2006/relationships/notesMaster" Target="/ppt/notesMasters/notesMaster1.xml" Id="R875af96b39fc4fcc" /></Relationships>
</file>

<file path=ppt/notesSlides/_rels/notesSlide2.xml.rels>&#65279;<?xml version="1.0" encoding="utf-8"?><Relationships xmlns="http://schemas.openxmlformats.org/package/2006/relationships"><Relationship Type="http://schemas.openxmlformats.org/officeDocument/2006/relationships/slide" Target="/ppt/slides/slide2.xml" Id="R6c58412f50af4038" /><Relationship Type="http://schemas.openxmlformats.org/officeDocument/2006/relationships/notesMaster" Target="/ppt/notesMasters/notesMaster1.xml" Id="R0b02d9ed24c34955" /></Relationships>
</file>

<file path=ppt/notesSlides/_rels/notesSlide3.xml.rels>&#65279;<?xml version="1.0" encoding="utf-8"?><Relationships xmlns="http://schemas.openxmlformats.org/package/2006/relationships"><Relationship Type="http://schemas.openxmlformats.org/officeDocument/2006/relationships/slide" Target="/ppt/slides/slide3.xml" Id="Rc294925757a64b1c" /><Relationship Type="http://schemas.openxmlformats.org/officeDocument/2006/relationships/notesMaster" Target="/ppt/notesMasters/notesMaster1.xml" Id="R8a4c43d6eba94fab" /></Relationships>
</file>

<file path=ppt/notesSlides/_rels/notesSlide4.xml.rels>&#65279;<?xml version="1.0" encoding="utf-8"?><Relationships xmlns="http://schemas.openxmlformats.org/package/2006/relationships"><Relationship Type="http://schemas.openxmlformats.org/officeDocument/2006/relationships/slide" Target="/ppt/slides/slide4.xml" Id="R8b7a770fdf824ddf" /><Relationship Type="http://schemas.openxmlformats.org/officeDocument/2006/relationships/notesMaster" Target="/ppt/notesMasters/notesMaster1.xml" Id="R6318ab676cb54aa4" /></Relationships>
</file>

<file path=ppt/notesSlides/_rels/notesSlide5.xml.rels>&#65279;<?xml version="1.0" encoding="utf-8"?><Relationships xmlns="http://schemas.openxmlformats.org/package/2006/relationships"><Relationship Type="http://schemas.openxmlformats.org/officeDocument/2006/relationships/slide" Target="/ppt/slides/slide5.xml" Id="R864f438bccb04c75" /><Relationship Type="http://schemas.openxmlformats.org/officeDocument/2006/relationships/notesMaster" Target="/ppt/notesMasters/notesMaster1.xml" Id="R4d0ecbb32c7643c2" /></Relationships>
</file>

<file path=ppt/notesSlides/_rels/notesSlide6.xml.rels>&#65279;<?xml version="1.0" encoding="utf-8"?><Relationships xmlns="http://schemas.openxmlformats.org/package/2006/relationships"><Relationship Type="http://schemas.openxmlformats.org/officeDocument/2006/relationships/slide" Target="/ppt/slides/slide6.xml" Id="R248c60a8ad074991" /><Relationship Type="http://schemas.openxmlformats.org/officeDocument/2006/relationships/notesMaster" Target="/ppt/notesMasters/notesMaster1.xml" Id="R218023bbed1a4fae" /></Relationships>
</file>

<file path=ppt/notesSlides/_rels/notesSlide7.xml.rels>&#65279;<?xml version="1.0" encoding="utf-8"?><Relationships xmlns="http://schemas.openxmlformats.org/package/2006/relationships"><Relationship Type="http://schemas.openxmlformats.org/officeDocument/2006/relationships/slide" Target="/ppt/slides/slide7.xml" Id="R3d9907d748434fde" /><Relationship Type="http://schemas.openxmlformats.org/officeDocument/2006/relationships/notesMaster" Target="/ppt/notesMasters/notesMaster1.xml" Id="Rc4142193eefd4858" /></Relationships>
</file>

<file path=ppt/notesSlides/_rels/notesSlide8.xml.rels>&#65279;<?xml version="1.0" encoding="utf-8"?><Relationships xmlns="http://schemas.openxmlformats.org/package/2006/relationships"><Relationship Type="http://schemas.openxmlformats.org/officeDocument/2006/relationships/slide" Target="/ppt/slides/slide8.xml" Id="R399c4901a17b4a1b" /><Relationship Type="http://schemas.openxmlformats.org/officeDocument/2006/relationships/notesMaster" Target="/ppt/notesMasters/notesMaster1.xml" Id="R90cf9e74cf734049" /></Relationships>
</file>

<file path=ppt/notesSlides/_rels/notesSlide9.xml.rels>&#65279;<?xml version="1.0" encoding="utf-8"?><Relationships xmlns="http://schemas.openxmlformats.org/package/2006/relationships"><Relationship Type="http://schemas.openxmlformats.org/officeDocument/2006/relationships/slide" Target="/ppt/slides/slide9.xml" Id="Rac6c6089490146e0" /><Relationship Type="http://schemas.openxmlformats.org/officeDocument/2006/relationships/notesMaster" Target="/ppt/notesMasters/notesMaster1.xml" Id="R4dff339e0ff742a7"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fd78122175ec49e2" /><Relationship Type="http://schemas.openxmlformats.org/officeDocument/2006/relationships/notesMaster" Target="/ppt/notesMasters/notesMaster1.xml" Id="Rd85514770026481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200" b="0">
                <a:solidFill>
                  <a:srgbClr val="142238"/>
                </a:solidFill>
                <a:latin typeface="Malgun Gothic"/>
                <a:ea typeface="Malgun Gothic"/>
                <a:cs typeface="Malgun Gothic"/>
              </a:rPr>
              <a:t>발표 배정 </a:t>
            </a:r>
            <a:r>
              <a:rPr sz="1200" b="0">
                <a:solidFill>
                  <a:srgbClr val="142238"/>
                </a:solidFill>
                <a:latin typeface="Times New Roman"/>
                <a:ea typeface="Times New Roman"/>
                <a:cs typeface="Times New Roman"/>
              </a:rPr>
              <a:t>20</a:t>
            </a:r>
            <a:r>
              <a:rPr sz="1200" b="0">
                <a:solidFill>
                  <a:srgbClr val="142238"/>
                </a:solidFill>
                <a:latin typeface="Malgun Gothic"/>
                <a:ea typeface="Malgun Gothic"/>
                <a:cs typeface="Malgun Gothic"/>
              </a:rPr>
              <a:t>초</a:t>
            </a:r>
            <a:br>
              <a:rPr sz="1200" b="0">
                <a:solidFill>
                  <a:srgbClr val="142238"/>
                </a:solidFill>
                <a:latin typeface="Malgun Gothic"/>
                <a:ea typeface="Malgun Gothic"/>
                <a:cs typeface="Malgun Gothic"/>
              </a:rPr>
            </a:br>
            <a:br>
              <a:rPr sz="1200" b="0">
                <a:solidFill>
                  <a:srgbClr val="142238"/>
                </a:solidFill>
                <a:latin typeface="Malgun Gothic"/>
                <a:ea typeface="Malgun Gothic"/>
                <a:cs typeface="Malgun Gothic"/>
              </a:rPr>
            </a:br>
            <a:r>
              <a:rPr sz="1200" b="0">
                <a:solidFill>
                  <a:srgbClr val="142238"/>
                </a:solidFill>
                <a:latin typeface="Malgun Gothic"/>
                <a:ea typeface="Malgun Gothic"/>
                <a:cs typeface="Malgun Gothic"/>
              </a:rPr>
              <a:t>안녕하십니까. </a:t>
            </a:r>
            <a:r>
              <a:rPr sz="1200" b="0">
                <a:solidFill>
                  <a:srgbClr val="142238"/>
                </a:solidFill>
                <a:latin typeface="Times New Roman"/>
                <a:ea typeface="Times New Roman"/>
                <a:cs typeface="Times New Roman"/>
              </a:rPr>
              <a:t>photo sw </a:t>
            </a:r>
            <a:r>
              <a:rPr sz="1200" b="0">
                <a:solidFill>
                  <a:srgbClr val="142238"/>
                </a:solidFill>
                <a:latin typeface="Malgun Gothic"/>
                <a:ea typeface="Malgun Gothic"/>
                <a:cs typeface="Malgun Gothic"/>
              </a:rPr>
              <a:t>그룹 박민호입니다. </a:t>
            </a:r>
            <a:r>
              <a:rPr sz="1200" b="0">
                <a:solidFill>
                  <a:srgbClr val="142238"/>
                </a:solidFill>
                <a:latin typeface="Times New Roman"/>
                <a:ea typeface="Times New Roman"/>
                <a:cs typeface="Times New Roman"/>
              </a:rPr>
              <a:t>RAG </a:t>
            </a:r>
            <a:r>
              <a:rPr sz="1200" b="0">
                <a:solidFill>
                  <a:srgbClr val="142238"/>
                </a:solidFill>
                <a:latin typeface="Malgun Gothic"/>
                <a:ea typeface="Malgun Gothic"/>
                <a:cs typeface="Malgun Gothic"/>
              </a:rPr>
              <a:t>기반 </a:t>
            </a:r>
            <a:r>
              <a:rPr sz="1200" b="0">
                <a:solidFill>
                  <a:srgbClr val="142238"/>
                </a:solidFill>
                <a:latin typeface="Times New Roman"/>
                <a:ea typeface="Times New Roman"/>
                <a:cs typeface="Times New Roman"/>
              </a:rPr>
              <a:t>CS </a:t>
            </a:r>
            <a:r>
              <a:rPr sz="1200" b="0">
                <a:solidFill>
                  <a:srgbClr val="142238"/>
                </a:solidFill>
                <a:latin typeface="Malgun Gothic"/>
                <a:ea typeface="Malgun Gothic"/>
                <a:cs typeface="Malgun Gothic"/>
              </a:rPr>
              <a:t>리포트 검색 서비스를 소개하겠습니다. 장비의 문제 현상으로 과거 사례를 찾고, 당시 수행한 조치를 원문 근거와 함께 확인하는 서비스입니다. 먼저 요청하신 평가 질문부터 말씀드리겠습니다.</a:t>
            </a:r>
            <a:br>
              <a:rPr sz="1200" b="0">
                <a:solidFill>
                  <a:srgbClr val="142238"/>
                </a:solidFill>
                <a:latin typeface="Malgun Gothic"/>
                <a:ea typeface="Malgun Gothic"/>
                <a:cs typeface="Malgun Gothic"/>
              </a:rPr>
            </a:br>
            <a:br>
              <a:rPr sz="1200" b="0">
                <a:solidFill>
                  <a:srgbClr val="142238"/>
                </a:solidFill>
                <a:latin typeface="Malgun Gothic"/>
                <a:ea typeface="Malgun Gothic"/>
                <a:cs typeface="Malgun Gothic"/>
              </a:rPr>
            </a:br>
            <a:r>
              <a:rPr sz="1200" b="0">
                <a:solidFill>
                  <a:srgbClr val="142238"/>
                </a:solidFill>
                <a:latin typeface="Malgun Gothic"/>
                <a:ea typeface="Malgun Gothic"/>
                <a:cs typeface="Malgun Gothic"/>
              </a:rPr>
              <a:t>근거</a:t>
            </a:r>
            <a:br>
              <a:rPr sz="1200" b="0">
                <a:solidFill>
                  <a:srgbClr val="142238"/>
                </a:solidFill>
                <a:latin typeface="Malgun Gothic"/>
                <a:ea typeface="Malgun Gothic"/>
                <a:cs typeface="Malgun Gothic"/>
              </a:rPr>
            </a:br>
            <a:r>
              <a:rPr sz="1200" b="0">
                <a:solidFill>
                  <a:srgbClr val="142238"/>
                </a:solidFill>
                <a:latin typeface="Times New Roman"/>
                <a:ea typeface="Times New Roman"/>
                <a:cs typeface="Times New Roman"/>
              </a:rPr>
              <a:t>E1. </a:t>
            </a:r>
            <a:r>
              <a:rPr sz="1200" b="0">
                <a:solidFill>
                  <a:srgbClr val="142238"/>
                </a:solidFill>
                <a:latin typeface="Malgun Gothic"/>
                <a:ea typeface="Malgun Gothic"/>
                <a:cs typeface="Malgun Gothic"/>
              </a:rPr>
              <a:t>제품 구조와 원문 보존 (</a:t>
            </a:r>
            <a:r>
              <a:rPr sz="1200" b="0">
                <a:solidFill>
                  <a:srgbClr val="142238"/>
                </a:solidFill>
                <a:latin typeface="Times New Roman"/>
                <a:ea typeface="Times New Roman"/>
                <a:cs typeface="Times New Roman"/>
              </a:rPr>
              <a:t>2026-10-13)</a:t>
            </a:r>
            <a:br>
              <a:rPr sz="1200" b="0">
                <a:solidFill>
                  <a:srgbClr val="142238"/>
                </a:solidFill>
                <a:latin typeface="Malgun Gothic"/>
                <a:ea typeface="Malgun Gothic"/>
                <a:cs typeface="Malgun Gothic"/>
              </a:rPr>
            </a:br>
            <a:r>
              <a:rPr sz="1200" b="0">
                <a:solidFill>
                  <a:srgbClr val="142238"/>
                </a:solidFill>
                <a:latin typeface="Times New Roman"/>
                <a:ea typeface="Times New Roman"/>
                <a:cs typeface="Times New Roman"/>
              </a:rPr>
              <a:t>https://github.com/pmh10401/cs-excel-rag/blob/c19a2c1710ded204aceace5ba9f682436245d181/docs/</a:t>
            </a:r>
            <a:r>
              <a:rPr sz="1200" b="0">
                <a:solidFill>
                  <a:srgbClr val="142238"/>
                </a:solidFill>
                <a:latin typeface="Malgun Gothic"/>
                <a:ea typeface="Malgun Gothic"/>
                <a:cs typeface="Malgun Gothic"/>
              </a:rPr>
              <a:t>전체-프로그램-플로우.</a:t>
            </a:r>
            <a:r>
              <a:rPr sz="1200" b="0">
                <a:solidFill>
                  <a:srgbClr val="142238"/>
                </a:solidFill>
                <a:latin typeface="Times New Roman"/>
                <a:ea typeface="Times New Roman"/>
                <a:cs typeface="Times New Roman"/>
              </a:rPr>
              <a:t>md</a:t>
            </a:r>
            <a:br>
              <a:rPr sz="1200" b="0">
                <a:solidFill>
                  <a:srgbClr val="142238"/>
                </a:solidFill>
                <a:latin typeface="Malgun Gothic"/>
                <a:ea typeface="Malgun Gothic"/>
                <a:cs typeface="Malgun Gothic"/>
              </a:rPr>
            </a:br>
            <a:r>
              <a:rPr sz="1200" b="0">
                <a:solidFill>
                  <a:srgbClr val="142238"/>
                </a:solidFill>
                <a:latin typeface="Malgun Gothic"/>
                <a:ea typeface="Malgun Gothic"/>
                <a:cs typeface="Malgun Gothic"/>
              </a:rPr>
              <a:t>현 구조, 원문·상세·셀 인용, 선택적 번역·재정렬. 실제 정확도나 특허 신규성 증거가 아님.</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200" b="0">
                <a:solidFill>
                  <a:srgbClr val="142238"/>
                </a:solidFill>
                <a:latin typeface="Malgun Gothic"/>
                <a:ea typeface="Malgun Gothic"/>
                <a:cs typeface="Malgun Gothic"/>
              </a:rPr>
              <a:t>발표 배정 </a:t>
            </a:r>
            <a:r>
              <a:rPr sz="1200" b="0">
                <a:solidFill>
                  <a:srgbClr val="142238"/>
                </a:solidFill>
                <a:latin typeface="Times New Roman"/>
                <a:ea typeface="Times New Roman"/>
                <a:cs typeface="Times New Roman"/>
              </a:rPr>
              <a:t>70</a:t>
            </a:r>
            <a:r>
              <a:rPr sz="1200" b="0">
                <a:solidFill>
                  <a:srgbClr val="142238"/>
                </a:solidFill>
                <a:latin typeface="Malgun Gothic"/>
                <a:ea typeface="Malgun Gothic"/>
                <a:cs typeface="Malgun Gothic"/>
              </a:rPr>
              <a:t>초</a:t>
            </a:r>
            <a:br>
              <a:rPr sz="1200" b="0">
                <a:solidFill>
                  <a:srgbClr val="142238"/>
                </a:solidFill>
                <a:latin typeface="Malgun Gothic"/>
                <a:ea typeface="Malgun Gothic"/>
                <a:cs typeface="Malgun Gothic"/>
              </a:rPr>
            </a:br>
            <a:br>
              <a:rPr sz="1200" b="0">
                <a:solidFill>
                  <a:srgbClr val="142238"/>
                </a:solidFill>
                <a:latin typeface="Malgun Gothic"/>
                <a:ea typeface="Malgun Gothic"/>
                <a:cs typeface="Malgun Gothic"/>
              </a:rPr>
            </a:br>
            <a:r>
              <a:rPr sz="1200" b="0">
                <a:solidFill>
                  <a:srgbClr val="142238"/>
                </a:solidFill>
                <a:latin typeface="Malgun Gothic"/>
                <a:ea typeface="Malgun Gothic"/>
                <a:cs typeface="Malgun Gothic"/>
              </a:rPr>
              <a:t>네 가지 질문에 먼저 답하겠습니다. 첫째, 개발용 합성 자료에서는 현재 결합 검색이 키워드 단독보다 정답 사례를 더 잘 찾았습니다. 정답 있는 </a:t>
            </a:r>
            <a:r>
              <a:rPr sz="1200" b="0">
                <a:solidFill>
                  <a:srgbClr val="142238"/>
                </a:solidFill>
                <a:latin typeface="Times New Roman"/>
                <a:ea typeface="Times New Roman"/>
                <a:cs typeface="Times New Roman"/>
              </a:rPr>
              <a:t>44</a:t>
            </a:r>
            <a:r>
              <a:rPr sz="1200" b="0">
                <a:solidFill>
                  <a:srgbClr val="142238"/>
                </a:solidFill>
                <a:latin typeface="Malgun Gothic"/>
                <a:ea typeface="Malgun Gothic"/>
                <a:cs typeface="Malgun Gothic"/>
              </a:rPr>
              <a:t>문항에서 첫 정답이 </a:t>
            </a:r>
            <a:r>
              <a:rPr sz="1200" b="0">
                <a:solidFill>
                  <a:srgbClr val="142238"/>
                </a:solidFill>
                <a:latin typeface="Times New Roman"/>
                <a:ea typeface="Times New Roman"/>
                <a:cs typeface="Times New Roman"/>
              </a:rPr>
              <a:t>28</a:t>
            </a:r>
            <a:r>
              <a:rPr sz="1200" b="0">
                <a:solidFill>
                  <a:srgbClr val="142238"/>
                </a:solidFill>
                <a:latin typeface="Malgun Gothic"/>
                <a:ea typeface="Malgun Gothic"/>
                <a:cs typeface="Malgun Gothic"/>
              </a:rPr>
              <a:t>건에서 </a:t>
            </a:r>
            <a:r>
              <a:rPr sz="1200" b="0">
                <a:solidFill>
                  <a:srgbClr val="142238"/>
                </a:solidFill>
                <a:latin typeface="Times New Roman"/>
                <a:ea typeface="Times New Roman"/>
                <a:cs typeface="Times New Roman"/>
              </a:rPr>
              <a:t>35</a:t>
            </a:r>
            <a:r>
              <a:rPr sz="1200" b="0">
                <a:solidFill>
                  <a:srgbClr val="142238"/>
                </a:solidFill>
                <a:latin typeface="Malgun Gothic"/>
                <a:ea typeface="Malgun Gothic"/>
                <a:cs typeface="Malgun Gothic"/>
              </a:rPr>
              <a:t>건으로 늘었습니다. 다만 선진사와 직접 비교한 자료는 없어 월등하다고 주장하지 않습니다. 둘째, 과거 조치를 재사용하고 여러 직원이 함께 조회하는 기능을 구현했습니다. 양산 적용 성과와 절감 시간은 시범 운영에서 확인할 항목입니다. 셋째, 한 </a:t>
            </a:r>
            <a:r>
              <a:rPr sz="1200" b="0">
                <a:solidFill>
                  <a:srgbClr val="142238"/>
                </a:solidFill>
                <a:latin typeface="Times New Roman"/>
                <a:ea typeface="Times New Roman"/>
                <a:cs typeface="Times New Roman"/>
              </a:rPr>
              <a:t>CS</a:t>
            </a:r>
            <a:r>
              <a:rPr sz="1200" b="0">
                <a:solidFill>
                  <a:srgbClr val="142238"/>
                </a:solidFill>
                <a:latin typeface="Malgun Gothic"/>
                <a:ea typeface="Malgun Gothic"/>
                <a:cs typeface="Malgun Gothic"/>
              </a:rPr>
              <a:t>에 여러 부품 문제가 있는 업무 특성과 원문 셀까지 연결하는 근거 관리가 이 구현의 특징입니다. 특허 출원이나 등록은 확인 자료가 없어 성과에 포함하지 않았습니다. 넷째, 비교 조건과 실패 사례를 함께 남겼습니다. </a:t>
            </a:r>
            <a:r>
              <a:rPr sz="1200" b="0">
                <a:solidFill>
                  <a:srgbClr val="142238"/>
                </a:solidFill>
                <a:latin typeface="Times New Roman"/>
                <a:ea typeface="Times New Roman"/>
                <a:cs typeface="Times New Roman"/>
              </a:rPr>
              <a:t>AI </a:t>
            </a:r>
            <a:r>
              <a:rPr sz="1200" b="0">
                <a:solidFill>
                  <a:srgbClr val="142238"/>
                </a:solidFill>
                <a:latin typeface="Malgun Gothic"/>
                <a:ea typeface="Malgun Gothic"/>
                <a:cs typeface="Malgun Gothic"/>
              </a:rPr>
              <a:t>분과의 별도 기준이 공지되면 항목 간 연결을 조정하겠습니다.</a:t>
            </a:r>
            <a:br>
              <a:rPr sz="1200" b="0">
                <a:solidFill>
                  <a:srgbClr val="142238"/>
                </a:solidFill>
                <a:latin typeface="Malgun Gothic"/>
                <a:ea typeface="Malgun Gothic"/>
                <a:cs typeface="Malgun Gothic"/>
              </a:rPr>
            </a:br>
            <a:br>
              <a:rPr sz="1200" b="0">
                <a:solidFill>
                  <a:srgbClr val="142238"/>
                </a:solidFill>
                <a:latin typeface="Malgun Gothic"/>
                <a:ea typeface="Malgun Gothic"/>
                <a:cs typeface="Malgun Gothic"/>
              </a:rPr>
            </a:br>
            <a:r>
              <a:rPr sz="1200" b="0">
                <a:solidFill>
                  <a:srgbClr val="142238"/>
                </a:solidFill>
                <a:latin typeface="Malgun Gothic"/>
                <a:ea typeface="Malgun Gothic"/>
                <a:cs typeface="Malgun Gothic"/>
              </a:rPr>
              <a:t>근거</a:t>
            </a:r>
            <a:br>
              <a:rPr sz="1200" b="0">
                <a:solidFill>
                  <a:srgbClr val="142238"/>
                </a:solidFill>
                <a:latin typeface="Malgun Gothic"/>
                <a:ea typeface="Malgun Gothic"/>
                <a:cs typeface="Malgun Gothic"/>
              </a:rPr>
            </a:br>
            <a:r>
              <a:rPr sz="1200" b="0">
                <a:solidFill>
                  <a:srgbClr val="142238"/>
                </a:solidFill>
                <a:latin typeface="Times New Roman"/>
                <a:ea typeface="Times New Roman"/>
                <a:cs typeface="Times New Roman"/>
              </a:rPr>
              <a:t>E1. </a:t>
            </a:r>
            <a:r>
              <a:rPr sz="1200" b="0">
                <a:solidFill>
                  <a:srgbClr val="142238"/>
                </a:solidFill>
                <a:latin typeface="Malgun Gothic"/>
                <a:ea typeface="Malgun Gothic"/>
                <a:cs typeface="Malgun Gothic"/>
              </a:rPr>
              <a:t>제품 구조와 원문 보존 (</a:t>
            </a:r>
            <a:r>
              <a:rPr sz="1200" b="0">
                <a:solidFill>
                  <a:srgbClr val="142238"/>
                </a:solidFill>
                <a:latin typeface="Times New Roman"/>
                <a:ea typeface="Times New Roman"/>
                <a:cs typeface="Times New Roman"/>
              </a:rPr>
              <a:t>2026-10-13)</a:t>
            </a:r>
            <a:br>
              <a:rPr sz="1200" b="0">
                <a:solidFill>
                  <a:srgbClr val="142238"/>
                </a:solidFill>
                <a:latin typeface="Malgun Gothic"/>
                <a:ea typeface="Malgun Gothic"/>
                <a:cs typeface="Malgun Gothic"/>
              </a:rPr>
            </a:br>
            <a:r>
              <a:rPr sz="1200" b="0">
                <a:solidFill>
                  <a:srgbClr val="142238"/>
                </a:solidFill>
                <a:latin typeface="Times New Roman"/>
                <a:ea typeface="Times New Roman"/>
                <a:cs typeface="Times New Roman"/>
              </a:rPr>
              <a:t>https://github.com/pmh10401/cs-excel-rag/blob/c19a2c1710ded204aceace5ba9f682436245d181/docs/</a:t>
            </a:r>
            <a:r>
              <a:rPr sz="1200" b="0">
                <a:solidFill>
                  <a:srgbClr val="142238"/>
                </a:solidFill>
                <a:latin typeface="Malgun Gothic"/>
                <a:ea typeface="Malgun Gothic"/>
                <a:cs typeface="Malgun Gothic"/>
              </a:rPr>
              <a:t>전체-프로그램-플로우.</a:t>
            </a:r>
            <a:r>
              <a:rPr sz="1200" b="0">
                <a:solidFill>
                  <a:srgbClr val="142238"/>
                </a:solidFill>
                <a:latin typeface="Times New Roman"/>
                <a:ea typeface="Times New Roman"/>
                <a:cs typeface="Times New Roman"/>
              </a:rPr>
              <a:t>md</a:t>
            </a:r>
            <a:br>
              <a:rPr sz="1200" b="0">
                <a:solidFill>
                  <a:srgbClr val="142238"/>
                </a:solidFill>
                <a:latin typeface="Malgun Gothic"/>
                <a:ea typeface="Malgun Gothic"/>
                <a:cs typeface="Malgun Gothic"/>
              </a:rPr>
            </a:br>
            <a:r>
              <a:rPr sz="1200" b="0">
                <a:solidFill>
                  <a:srgbClr val="142238"/>
                </a:solidFill>
                <a:latin typeface="Malgun Gothic"/>
                <a:ea typeface="Malgun Gothic"/>
                <a:cs typeface="Malgun Gothic"/>
              </a:rPr>
              <a:t>현 구조, 원문·상세·셀 인용, 선택적 번역·재정렬. 실제 정확도나 특허 신규성 증거가 아님.</a:t>
            </a:r>
            <a:br>
              <a:rPr sz="1200" b="0">
                <a:solidFill>
                  <a:srgbClr val="142238"/>
                </a:solidFill>
                <a:latin typeface="Malgun Gothic"/>
                <a:ea typeface="Malgun Gothic"/>
                <a:cs typeface="Malgun Gothic"/>
              </a:rPr>
            </a:br>
            <a:br>
              <a:rPr sz="1200" b="0">
                <a:solidFill>
                  <a:srgbClr val="142238"/>
                </a:solidFill>
                <a:latin typeface="Malgun Gothic"/>
                <a:ea typeface="Malgun Gothic"/>
                <a:cs typeface="Malgun Gothic"/>
              </a:rPr>
            </a:br>
            <a:r>
              <a:rPr sz="1200" b="0">
                <a:solidFill>
                  <a:srgbClr val="142238"/>
                </a:solidFill>
                <a:latin typeface="Times New Roman"/>
                <a:ea typeface="Times New Roman"/>
                <a:cs typeface="Times New Roman"/>
              </a:rPr>
              <a:t>E2. 10</a:t>
            </a:r>
            <a:r>
              <a:rPr sz="1200" b="0">
                <a:solidFill>
                  <a:srgbClr val="142238"/>
                </a:solidFill>
                <a:latin typeface="Malgun Gothic"/>
                <a:ea typeface="Malgun Gothic"/>
                <a:cs typeface="Malgun Gothic"/>
              </a:rPr>
              <a:t>만 합성 자료 검색 비교 (</a:t>
            </a:r>
            <a:r>
              <a:rPr sz="1200" b="0">
                <a:solidFill>
                  <a:srgbClr val="142238"/>
                </a:solidFill>
                <a:latin typeface="Times New Roman"/>
                <a:ea typeface="Times New Roman"/>
                <a:cs typeface="Times New Roman"/>
              </a:rPr>
              <a:t>2026-10-07)</a:t>
            </a:r>
            <a:br>
              <a:rPr sz="1200" b="0">
                <a:solidFill>
                  <a:srgbClr val="142238"/>
                </a:solidFill>
                <a:latin typeface="Malgun Gothic"/>
                <a:ea typeface="Malgun Gothic"/>
                <a:cs typeface="Malgun Gothic"/>
              </a:rPr>
            </a:br>
            <a:r>
              <a:rPr sz="1200" b="0">
                <a:solidFill>
                  <a:srgbClr val="142238"/>
                </a:solidFill>
                <a:latin typeface="Times New Roman"/>
                <a:ea typeface="Times New Roman"/>
                <a:cs typeface="Times New Roman"/>
              </a:rPr>
              <a:t>https://github.com/pmh10401/cs-excel-rag/blob/c19a2c1710ded204aceace5ba9f682436245d181/docs/</a:t>
            </a:r>
            <a:r>
              <a:rPr sz="1200" b="0">
                <a:solidFill>
                  <a:srgbClr val="142238"/>
                </a:solidFill>
                <a:latin typeface="Malgun Gothic"/>
                <a:ea typeface="Malgun Gothic"/>
                <a:cs typeface="Malgun Gothic"/>
              </a:rPr>
              <a:t>임베딩-품질비교-</a:t>
            </a:r>
            <a:r>
              <a:rPr sz="1200" b="0">
                <a:solidFill>
                  <a:srgbClr val="142238"/>
                </a:solidFill>
                <a:latin typeface="Times New Roman"/>
                <a:ea typeface="Times New Roman"/>
                <a:cs typeface="Times New Roman"/>
              </a:rPr>
              <a:t>20261007.md</a:t>
            </a:r>
            <a:br>
              <a:rPr sz="1200" b="0">
                <a:solidFill>
                  <a:srgbClr val="142238"/>
                </a:solidFill>
                <a:latin typeface="Malgun Gothic"/>
                <a:ea typeface="Malgun Gothic"/>
                <a:cs typeface="Malgun Gothic"/>
              </a:rPr>
            </a:br>
            <a:r>
              <a:rPr sz="1200" b="0">
                <a:solidFill>
                  <a:srgbClr val="142238"/>
                </a:solidFill>
                <a:latin typeface="Times New Roman"/>
                <a:ea typeface="Times New Roman"/>
                <a:cs typeface="Times New Roman"/>
              </a:rPr>
              <a:t>50</a:t>
            </a:r>
            <a:r>
              <a:rPr sz="1200" b="0">
                <a:solidFill>
                  <a:srgbClr val="142238"/>
                </a:solidFill>
                <a:latin typeface="Malgun Gothic"/>
                <a:ea typeface="Malgun Gothic"/>
                <a:cs typeface="Malgun Gothic"/>
              </a:rPr>
              <a:t>개 고정 개발 질문 중 정답 있는 </a:t>
            </a:r>
            <a:r>
              <a:rPr sz="1200" b="0">
                <a:solidFill>
                  <a:srgbClr val="142238"/>
                </a:solidFill>
                <a:latin typeface="Times New Roman"/>
                <a:ea typeface="Times New Roman"/>
                <a:cs typeface="Times New Roman"/>
              </a:rPr>
              <a:t>44</a:t>
            </a:r>
            <a:r>
              <a:rPr sz="1200" b="0">
                <a:solidFill>
                  <a:srgbClr val="142238"/>
                </a:solidFill>
                <a:latin typeface="Malgun Gothic"/>
                <a:ea typeface="Malgun Gothic"/>
                <a:cs typeface="Malgun Gothic"/>
              </a:rPr>
              <a:t>개. 키워드 첫 정답</a:t>
            </a:r>
            <a:r>
              <a:rPr sz="1200" b="0">
                <a:solidFill>
                  <a:srgbClr val="142238"/>
                </a:solidFill>
                <a:latin typeface="Times New Roman"/>
                <a:ea typeface="Times New Roman"/>
                <a:cs typeface="Times New Roman"/>
              </a:rPr>
              <a:t>28/44, Qwen</a:t>
            </a:r>
            <a:r>
              <a:rPr sz="1200" b="0">
                <a:solidFill>
                  <a:srgbClr val="142238"/>
                </a:solidFill>
                <a:latin typeface="Malgun Gothic"/>
                <a:ea typeface="Malgun Gothic"/>
                <a:cs typeface="Malgun Gothic"/>
              </a:rPr>
              <a:t>결합</a:t>
            </a:r>
            <a:r>
              <a:rPr sz="1200" b="0">
                <a:solidFill>
                  <a:srgbClr val="142238"/>
                </a:solidFill>
                <a:latin typeface="Times New Roman"/>
                <a:ea typeface="Times New Roman"/>
                <a:cs typeface="Times New Roman"/>
              </a:rPr>
              <a:t>39/44, EmbeddingGemma 2</a:t>
            </a:r>
            <a:r>
              <a:rPr sz="1200" b="0">
                <a:solidFill>
                  <a:srgbClr val="142238"/>
                </a:solidFill>
                <a:latin typeface="Malgun Gothic"/>
                <a:ea typeface="Malgun Gothic"/>
                <a:cs typeface="Malgun Gothic"/>
              </a:rPr>
              <a:t>결합</a:t>
            </a:r>
            <a:r>
              <a:rPr sz="1200" b="0">
                <a:solidFill>
                  <a:srgbClr val="142238"/>
                </a:solidFill>
                <a:latin typeface="Times New Roman"/>
                <a:ea typeface="Times New Roman"/>
                <a:cs typeface="Times New Roman"/>
              </a:rPr>
              <a:t>35/44. </a:t>
            </a:r>
            <a:r>
              <a:rPr sz="1200" b="0">
                <a:solidFill>
                  <a:srgbClr val="142238"/>
                </a:solidFill>
                <a:latin typeface="Malgun Gothic"/>
                <a:ea typeface="Malgun Gothic"/>
                <a:cs typeface="Malgun Gothic"/>
              </a:rPr>
              <a:t>최종 답변은 평가하지 않음.</a:t>
            </a:r>
            <a:br>
              <a:rPr sz="1200" b="0">
                <a:solidFill>
                  <a:srgbClr val="142238"/>
                </a:solidFill>
                <a:latin typeface="Malgun Gothic"/>
                <a:ea typeface="Malgun Gothic"/>
                <a:cs typeface="Malgun Gothic"/>
              </a:rPr>
            </a:br>
            <a:br>
              <a:rPr sz="1200" b="0">
                <a:solidFill>
                  <a:srgbClr val="142238"/>
                </a:solidFill>
                <a:latin typeface="Malgun Gothic"/>
                <a:ea typeface="Malgun Gothic"/>
                <a:cs typeface="Malgun Gothic"/>
              </a:rPr>
            </a:br>
            <a:r>
              <a:rPr sz="1200" b="0">
                <a:solidFill>
                  <a:srgbClr val="142238"/>
                </a:solidFill>
                <a:latin typeface="Times New Roman"/>
                <a:ea typeface="Times New Roman"/>
                <a:cs typeface="Times New Roman"/>
              </a:rPr>
              <a:t>E3. </a:t>
            </a:r>
            <a:r>
              <a:rPr sz="1200" b="0">
                <a:solidFill>
                  <a:srgbClr val="142238"/>
                </a:solidFill>
                <a:latin typeface="Malgun Gothic"/>
                <a:ea typeface="Malgun Gothic"/>
                <a:cs typeface="Malgun Gothic"/>
              </a:rPr>
              <a:t>원문 관계 보완 비교 (</a:t>
            </a:r>
            <a:r>
              <a:rPr sz="1200" b="0">
                <a:solidFill>
                  <a:srgbClr val="142238"/>
                </a:solidFill>
                <a:latin typeface="Times New Roman"/>
                <a:ea typeface="Times New Roman"/>
                <a:cs typeface="Times New Roman"/>
              </a:rPr>
              <a:t>2026-10-07)</a:t>
            </a:r>
            <a:br>
              <a:rPr sz="1200" b="0">
                <a:solidFill>
                  <a:srgbClr val="142238"/>
                </a:solidFill>
                <a:latin typeface="Malgun Gothic"/>
                <a:ea typeface="Malgun Gothic"/>
                <a:cs typeface="Malgun Gothic"/>
              </a:rPr>
            </a:br>
            <a:r>
              <a:rPr sz="1200" b="0">
                <a:solidFill>
                  <a:srgbClr val="142238"/>
                </a:solidFill>
                <a:latin typeface="Times New Roman"/>
                <a:ea typeface="Times New Roman"/>
                <a:cs typeface="Times New Roman"/>
              </a:rPr>
              <a:t>https://github.com/pmh10401/cs-excel-rag/blob/c19a2c1710ded204aceace5ba9f682436245d181/docs/</a:t>
            </a:r>
            <a:r>
              <a:rPr sz="1200" b="0">
                <a:solidFill>
                  <a:srgbClr val="142238"/>
                </a:solidFill>
                <a:latin typeface="Malgun Gothic"/>
                <a:ea typeface="Malgun Gothic"/>
                <a:cs typeface="Malgun Gothic"/>
              </a:rPr>
              <a:t>관계검색-비교-</a:t>
            </a:r>
            <a:r>
              <a:rPr sz="1200" b="0">
                <a:solidFill>
                  <a:srgbClr val="142238"/>
                </a:solidFill>
                <a:latin typeface="Times New Roman"/>
                <a:ea typeface="Times New Roman"/>
                <a:cs typeface="Times New Roman"/>
              </a:rPr>
              <a:t>20261007.md</a:t>
            </a:r>
            <a:br>
              <a:rPr sz="1200" b="0">
                <a:solidFill>
                  <a:srgbClr val="142238"/>
                </a:solidFill>
                <a:latin typeface="Malgun Gothic"/>
                <a:ea typeface="Malgun Gothic"/>
                <a:cs typeface="Malgun Gothic"/>
              </a:rPr>
            </a:br>
            <a:r>
              <a:rPr sz="1200" b="0">
                <a:solidFill>
                  <a:srgbClr val="142238"/>
                </a:solidFill>
                <a:latin typeface="Times New Roman"/>
                <a:ea typeface="Times New Roman"/>
                <a:cs typeface="Times New Roman"/>
              </a:rPr>
              <a:t>2,000 </a:t>
            </a:r>
            <a:r>
              <a:rPr sz="1200" b="0">
                <a:solidFill>
                  <a:srgbClr val="142238"/>
                </a:solidFill>
                <a:latin typeface="Malgun Gothic"/>
                <a:ea typeface="Malgun Gothic"/>
                <a:cs typeface="Malgun Gothic"/>
              </a:rPr>
              <a:t>합성 상세,</a:t>
            </a:r>
            <a:r>
              <a:rPr sz="1200" b="0">
                <a:solidFill>
                  <a:srgbClr val="142238"/>
                </a:solidFill>
                <a:latin typeface="Times New Roman"/>
                <a:ea typeface="Times New Roman"/>
                <a:cs typeface="Times New Roman"/>
              </a:rPr>
              <a:t>41</a:t>
            </a:r>
            <a:r>
              <a:rPr sz="1200" b="0">
                <a:solidFill>
                  <a:srgbClr val="142238"/>
                </a:solidFill>
                <a:latin typeface="Malgun Gothic"/>
                <a:ea typeface="Malgun Gothic"/>
                <a:cs typeface="Malgun Gothic"/>
              </a:rPr>
              <a:t>문항 중 정답있는</a:t>
            </a:r>
            <a:r>
              <a:rPr sz="1200" b="0">
                <a:solidFill>
                  <a:srgbClr val="142238"/>
                </a:solidFill>
                <a:latin typeface="Times New Roman"/>
                <a:ea typeface="Times New Roman"/>
                <a:cs typeface="Times New Roman"/>
              </a:rPr>
              <a:t>34</a:t>
            </a:r>
            <a:r>
              <a:rPr sz="1200" b="0">
                <a:solidFill>
                  <a:srgbClr val="142238"/>
                </a:solidFill>
                <a:latin typeface="Malgun Gothic"/>
                <a:ea typeface="Malgun Gothic"/>
                <a:cs typeface="Malgun Gothic"/>
              </a:rPr>
              <a:t>개. 첫 정답</a:t>
            </a:r>
            <a:r>
              <a:rPr sz="1200" b="0">
                <a:solidFill>
                  <a:srgbClr val="142238"/>
                </a:solidFill>
                <a:latin typeface="Times New Roman"/>
                <a:ea typeface="Times New Roman"/>
                <a:cs typeface="Times New Roman"/>
              </a:rPr>
              <a:t>32/34</a:t>
            </a:r>
            <a:r>
              <a:rPr sz="1200" b="0">
                <a:solidFill>
                  <a:srgbClr val="142238"/>
                </a:solidFill>
                <a:latin typeface="Malgun Gothic"/>
                <a:ea typeface="Malgun Gothic"/>
                <a:cs typeface="Malgun Gothic"/>
              </a:rPr>
              <a:t>와</a:t>
            </a:r>
            <a:r>
              <a:rPr sz="1200" b="0">
                <a:solidFill>
                  <a:srgbClr val="142238"/>
                </a:solidFill>
                <a:latin typeface="Times New Roman"/>
                <a:ea typeface="Times New Roman"/>
                <a:cs typeface="Times New Roman"/>
              </a:rPr>
              <a:t>34/34. </a:t>
            </a:r>
            <a:r>
              <a:rPr sz="1200" b="0">
                <a:solidFill>
                  <a:srgbClr val="142238"/>
                </a:solidFill>
                <a:latin typeface="Malgun Gothic"/>
                <a:ea typeface="Malgun Gothic"/>
                <a:cs typeface="Malgun Gothic"/>
              </a:rPr>
              <a:t>정답없는</a:t>
            </a:r>
            <a:r>
              <a:rPr sz="1200" b="0">
                <a:solidFill>
                  <a:srgbClr val="142238"/>
                </a:solidFill>
                <a:latin typeface="Times New Roman"/>
                <a:ea typeface="Times New Roman"/>
                <a:cs typeface="Times New Roman"/>
              </a:rPr>
              <a:t>3</a:t>
            </a:r>
            <a:r>
              <a:rPr sz="1200" b="0">
                <a:solidFill>
                  <a:srgbClr val="142238"/>
                </a:solidFill>
                <a:latin typeface="Malgun Gothic"/>
                <a:ea typeface="Malgun Gothic"/>
                <a:cs typeface="Malgun Gothic"/>
              </a:rPr>
              <a:t>개 중</a:t>
            </a:r>
            <a:r>
              <a:rPr sz="1200" b="0">
                <a:solidFill>
                  <a:srgbClr val="142238"/>
                </a:solidFill>
                <a:latin typeface="Times New Roman"/>
                <a:ea typeface="Times New Roman"/>
                <a:cs typeface="Times New Roman"/>
              </a:rPr>
              <a:t>2</a:t>
            </a:r>
            <a:r>
              <a:rPr sz="1200" b="0">
                <a:solidFill>
                  <a:srgbClr val="142238"/>
                </a:solidFill>
                <a:latin typeface="Malgun Gothic"/>
                <a:ea typeface="Malgun Gothic"/>
                <a:cs typeface="Malgun Gothic"/>
              </a:rPr>
              <a:t>개는 두방식 모두 유사후보를 반환.</a:t>
            </a:r>
            <a:br>
              <a:rPr sz="1200" b="0">
                <a:solidFill>
                  <a:srgbClr val="142238"/>
                </a:solidFill>
                <a:latin typeface="Malgun Gothic"/>
                <a:ea typeface="Malgun Gothic"/>
                <a:cs typeface="Malgun Gothic"/>
              </a:rPr>
            </a:br>
            <a:br>
              <a:rPr sz="1200" b="0">
                <a:solidFill>
                  <a:srgbClr val="142238"/>
                </a:solidFill>
                <a:latin typeface="Malgun Gothic"/>
                <a:ea typeface="Malgun Gothic"/>
                <a:cs typeface="Malgun Gothic"/>
              </a:rPr>
            </a:br>
            <a:r>
              <a:rPr sz="1200" b="0">
                <a:solidFill>
                  <a:srgbClr val="142238"/>
                </a:solidFill>
                <a:latin typeface="Times New Roman"/>
                <a:ea typeface="Times New Roman"/>
                <a:cs typeface="Times New Roman"/>
              </a:rPr>
              <a:t>E4. </a:t>
            </a:r>
            <a:r>
              <a:rPr sz="1200" b="0">
                <a:solidFill>
                  <a:srgbClr val="142238"/>
                </a:solidFill>
                <a:latin typeface="Malgun Gothic"/>
                <a:ea typeface="Malgun Gothic"/>
                <a:cs typeface="Malgun Gothic"/>
              </a:rPr>
              <a:t>작업 복구와 동시 질문 (</a:t>
            </a:r>
            <a:r>
              <a:rPr sz="1200" b="0">
                <a:solidFill>
                  <a:srgbClr val="142238"/>
                </a:solidFill>
                <a:latin typeface="Times New Roman"/>
                <a:ea typeface="Times New Roman"/>
                <a:cs typeface="Times New Roman"/>
              </a:rPr>
              <a:t>2026-10-13)</a:t>
            </a:r>
            <a:br>
              <a:rPr sz="1200" b="0">
                <a:solidFill>
                  <a:srgbClr val="142238"/>
                </a:solidFill>
                <a:latin typeface="Malgun Gothic"/>
                <a:ea typeface="Malgun Gothic"/>
                <a:cs typeface="Malgun Gothic"/>
              </a:rPr>
            </a:br>
            <a:r>
              <a:rPr sz="1200" b="0">
                <a:solidFill>
                  <a:srgbClr val="142238"/>
                </a:solidFill>
                <a:latin typeface="Times New Roman"/>
                <a:ea typeface="Times New Roman"/>
                <a:cs typeface="Times New Roman"/>
              </a:rPr>
              <a:t>https://github.com/pmh10401/cs-excel-rag/blob/c19a2c1710ded204aceace5ba9f682436245d181/docs/</a:t>
            </a:r>
            <a:r>
              <a:rPr sz="1200" b="0">
                <a:solidFill>
                  <a:srgbClr val="142238"/>
                </a:solidFill>
                <a:latin typeface="Malgun Gothic"/>
                <a:ea typeface="Malgun Gothic"/>
                <a:cs typeface="Malgun Gothic"/>
              </a:rPr>
              <a:t>임원보고서.</a:t>
            </a:r>
            <a:r>
              <a:rPr sz="1200" b="0">
                <a:solidFill>
                  <a:srgbClr val="142238"/>
                </a:solidFill>
                <a:latin typeface="Times New Roman"/>
                <a:ea typeface="Times New Roman"/>
                <a:cs typeface="Times New Roman"/>
              </a:rPr>
              <a:t>md</a:t>
            </a:r>
            <a:br>
              <a:rPr sz="1200" b="0">
                <a:solidFill>
                  <a:srgbClr val="142238"/>
                </a:solidFill>
                <a:latin typeface="Malgun Gothic"/>
                <a:ea typeface="Malgun Gothic"/>
                <a:cs typeface="Malgun Gothic"/>
              </a:rPr>
            </a:br>
            <a:r>
              <a:rPr sz="1200" b="0">
                <a:solidFill>
                  <a:srgbClr val="142238"/>
                </a:solidFill>
                <a:latin typeface="Times New Roman"/>
                <a:ea typeface="Times New Roman"/>
                <a:cs typeface="Times New Roman"/>
              </a:rPr>
              <a:t>Mac</a:t>
            </a:r>
            <a:r>
              <a:rPr sz="1200" b="0">
                <a:solidFill>
                  <a:srgbClr val="142238"/>
                </a:solidFill>
                <a:latin typeface="Malgun Gothic"/>
                <a:ea typeface="Malgun Gothic"/>
                <a:cs typeface="Malgun Gothic"/>
              </a:rPr>
              <a:t>·모의 모델. 작업 복구</a:t>
            </a:r>
            <a:r>
              <a:rPr sz="1200" b="0">
                <a:solidFill>
                  <a:srgbClr val="142238"/>
                </a:solidFill>
                <a:latin typeface="Times New Roman"/>
                <a:ea typeface="Times New Roman"/>
                <a:cs typeface="Times New Roman"/>
              </a:rPr>
              <a:t>14</a:t>
            </a:r>
            <a:r>
              <a:rPr sz="1200" b="0">
                <a:solidFill>
                  <a:srgbClr val="142238"/>
                </a:solidFill>
                <a:latin typeface="Malgun Gothic"/>
                <a:ea typeface="Malgun Gothic"/>
                <a:cs typeface="Malgun Gothic"/>
              </a:rPr>
              <a:t>건과 동시 처리</a:t>
            </a:r>
            <a:r>
              <a:rPr sz="1200" b="0">
                <a:solidFill>
                  <a:srgbClr val="142238"/>
                </a:solidFill>
                <a:latin typeface="Times New Roman"/>
                <a:ea typeface="Times New Roman"/>
                <a:cs typeface="Times New Roman"/>
              </a:rPr>
              <a:t>7</a:t>
            </a:r>
            <a:r>
              <a:rPr sz="1200" b="0">
                <a:solidFill>
                  <a:srgbClr val="142238"/>
                </a:solidFill>
                <a:latin typeface="Malgun Gothic"/>
                <a:ea typeface="Malgun Gothic"/>
                <a:cs typeface="Malgun Gothic"/>
              </a:rPr>
              <a:t>건 통과. </a:t>
            </a:r>
            <a:r>
              <a:rPr sz="1200" b="0">
                <a:solidFill>
                  <a:srgbClr val="142238"/>
                </a:solidFill>
                <a:latin typeface="Times New Roman"/>
                <a:ea typeface="Times New Roman"/>
                <a:cs typeface="Times New Roman"/>
              </a:rPr>
              <a:t>Windows</a:t>
            </a:r>
            <a:r>
              <a:rPr sz="1200" b="0">
                <a:solidFill>
                  <a:srgbClr val="142238"/>
                </a:solidFill>
                <a:latin typeface="Malgun Gothic"/>
                <a:ea typeface="Malgun Gothic"/>
                <a:cs typeface="Malgun Gothic"/>
              </a:rPr>
              <a:t>실기기/</a:t>
            </a:r>
            <a:r>
              <a:rPr sz="1200" b="0">
                <a:solidFill>
                  <a:srgbClr val="142238"/>
                </a:solidFill>
                <a:latin typeface="Times New Roman"/>
                <a:ea typeface="Times New Roman"/>
                <a:cs typeface="Times New Roman"/>
              </a:rPr>
              <a:t>DRM </a:t>
            </a:r>
            <a:r>
              <a:rPr sz="1200" b="0">
                <a:solidFill>
                  <a:srgbClr val="142238"/>
                </a:solidFill>
                <a:latin typeface="Malgun Gothic"/>
                <a:ea typeface="Malgun Gothic"/>
                <a:cs typeface="Malgun Gothic"/>
              </a:rPr>
              <a:t>및 실제</a:t>
            </a:r>
            <a:r>
              <a:rPr sz="1200" b="0">
                <a:solidFill>
                  <a:srgbClr val="142238"/>
                </a:solidFill>
                <a:latin typeface="Times New Roman"/>
                <a:ea typeface="Times New Roman"/>
                <a:cs typeface="Times New Roman"/>
              </a:rPr>
              <a:t>120B</a:t>
            </a:r>
            <a:r>
              <a:rPr sz="1200" b="0">
                <a:solidFill>
                  <a:srgbClr val="142238"/>
                </a:solidFill>
                <a:latin typeface="Malgun Gothic"/>
                <a:ea typeface="Malgun Gothic"/>
                <a:cs typeface="Malgun Gothic"/>
              </a:rPr>
              <a:t>부하 미확인.</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200" b="0">
                <a:solidFill>
                  <a:srgbClr val="142238"/>
                </a:solidFill>
                <a:latin typeface="Malgun Gothic"/>
                <a:ea typeface="Malgun Gothic"/>
                <a:cs typeface="Malgun Gothic"/>
              </a:rPr>
              <a:t>발표 배정 </a:t>
            </a:r>
            <a:r>
              <a:rPr sz="1200" b="0">
                <a:solidFill>
                  <a:srgbClr val="142238"/>
                </a:solidFill>
                <a:latin typeface="Times New Roman"/>
                <a:ea typeface="Times New Roman"/>
                <a:cs typeface="Times New Roman"/>
              </a:rPr>
              <a:t>45</a:t>
            </a:r>
            <a:r>
              <a:rPr sz="1200" b="0">
                <a:solidFill>
                  <a:srgbClr val="142238"/>
                </a:solidFill>
                <a:latin typeface="Malgun Gothic"/>
                <a:ea typeface="Malgun Gothic"/>
                <a:cs typeface="Malgun Gothic"/>
              </a:rPr>
              <a:t>초</a:t>
            </a:r>
            <a:br>
              <a:rPr sz="1200" b="0">
                <a:solidFill>
                  <a:srgbClr val="142238"/>
                </a:solidFill>
                <a:latin typeface="Malgun Gothic"/>
                <a:ea typeface="Malgun Gothic"/>
                <a:cs typeface="Malgun Gothic"/>
              </a:rPr>
            </a:br>
            <a:br>
              <a:rPr sz="1200" b="0">
                <a:solidFill>
                  <a:srgbClr val="142238"/>
                </a:solidFill>
                <a:latin typeface="Malgun Gothic"/>
                <a:ea typeface="Malgun Gothic"/>
                <a:cs typeface="Malgun Gothic"/>
              </a:rPr>
            </a:br>
            <a:r>
              <a:rPr sz="1200" b="0">
                <a:solidFill>
                  <a:srgbClr val="142238"/>
                </a:solidFill>
                <a:latin typeface="Times New Roman"/>
                <a:ea typeface="Times New Roman"/>
                <a:cs typeface="Times New Roman"/>
              </a:rPr>
              <a:t>CS </a:t>
            </a:r>
            <a:r>
              <a:rPr sz="1200" b="0">
                <a:solidFill>
                  <a:srgbClr val="142238"/>
                </a:solidFill>
                <a:latin typeface="Malgun Gothic"/>
                <a:ea typeface="Malgun Gothic"/>
                <a:cs typeface="Malgun Gothic"/>
              </a:rPr>
              <a:t>기록은 이미 쌓여 있지만 다시 꺼내 쓰기에는 어려움이 있습니다. 같은 누수 현상도 한국어, 영어, 중국어 또는 약어로 기록합니다. 한 접수번호에 펌프와 밸브의 서로 다른 상세가 함께 있을 수도 있습니다. 담당자가 필요한 것은 비슷한 제목의 파일만이 아닙니다. 어느 부품에 어떤 조치를 실제로 했고 결과가 확인되었는지입니다. 그래서 이 서비스는 표현 차이를 보완하는 검색과, 원문 상세를 구분하는 근거 관리를 함께 설계했습니다.</a:t>
            </a:r>
            <a:br>
              <a:rPr sz="1200" b="0">
                <a:solidFill>
                  <a:srgbClr val="142238"/>
                </a:solidFill>
                <a:latin typeface="Malgun Gothic"/>
                <a:ea typeface="Malgun Gothic"/>
                <a:cs typeface="Malgun Gothic"/>
              </a:rPr>
            </a:br>
            <a:br>
              <a:rPr sz="1200" b="0">
                <a:solidFill>
                  <a:srgbClr val="142238"/>
                </a:solidFill>
                <a:latin typeface="Malgun Gothic"/>
                <a:ea typeface="Malgun Gothic"/>
                <a:cs typeface="Malgun Gothic"/>
              </a:rPr>
            </a:br>
            <a:r>
              <a:rPr sz="1200" b="0">
                <a:solidFill>
                  <a:srgbClr val="142238"/>
                </a:solidFill>
                <a:latin typeface="Malgun Gothic"/>
                <a:ea typeface="Malgun Gothic"/>
                <a:cs typeface="Malgun Gothic"/>
              </a:rPr>
              <a:t>근거</a:t>
            </a:r>
            <a:br>
              <a:rPr sz="1200" b="0">
                <a:solidFill>
                  <a:srgbClr val="142238"/>
                </a:solidFill>
                <a:latin typeface="Malgun Gothic"/>
                <a:ea typeface="Malgun Gothic"/>
                <a:cs typeface="Malgun Gothic"/>
              </a:rPr>
            </a:br>
            <a:r>
              <a:rPr sz="1200" b="0">
                <a:solidFill>
                  <a:srgbClr val="142238"/>
                </a:solidFill>
                <a:latin typeface="Times New Roman"/>
                <a:ea typeface="Times New Roman"/>
                <a:cs typeface="Times New Roman"/>
              </a:rPr>
              <a:t>E1. </a:t>
            </a:r>
            <a:r>
              <a:rPr sz="1200" b="0">
                <a:solidFill>
                  <a:srgbClr val="142238"/>
                </a:solidFill>
                <a:latin typeface="Malgun Gothic"/>
                <a:ea typeface="Malgun Gothic"/>
                <a:cs typeface="Malgun Gothic"/>
              </a:rPr>
              <a:t>제품 구조와 원문 보존 (</a:t>
            </a:r>
            <a:r>
              <a:rPr sz="1200" b="0">
                <a:solidFill>
                  <a:srgbClr val="142238"/>
                </a:solidFill>
                <a:latin typeface="Times New Roman"/>
                <a:ea typeface="Times New Roman"/>
                <a:cs typeface="Times New Roman"/>
              </a:rPr>
              <a:t>2026-10-13)</a:t>
            </a:r>
            <a:br>
              <a:rPr sz="1200" b="0">
                <a:solidFill>
                  <a:srgbClr val="142238"/>
                </a:solidFill>
                <a:latin typeface="Malgun Gothic"/>
                <a:ea typeface="Malgun Gothic"/>
                <a:cs typeface="Malgun Gothic"/>
              </a:rPr>
            </a:br>
            <a:r>
              <a:rPr sz="1200" b="0">
                <a:solidFill>
                  <a:srgbClr val="142238"/>
                </a:solidFill>
                <a:latin typeface="Times New Roman"/>
                <a:ea typeface="Times New Roman"/>
                <a:cs typeface="Times New Roman"/>
              </a:rPr>
              <a:t>https://github.com/pmh10401/cs-excel-rag/blob/c19a2c1710ded204aceace5ba9f682436245d181/docs/</a:t>
            </a:r>
            <a:r>
              <a:rPr sz="1200" b="0">
                <a:solidFill>
                  <a:srgbClr val="142238"/>
                </a:solidFill>
                <a:latin typeface="Malgun Gothic"/>
                <a:ea typeface="Malgun Gothic"/>
                <a:cs typeface="Malgun Gothic"/>
              </a:rPr>
              <a:t>전체-프로그램-플로우.</a:t>
            </a:r>
            <a:r>
              <a:rPr sz="1200" b="0">
                <a:solidFill>
                  <a:srgbClr val="142238"/>
                </a:solidFill>
                <a:latin typeface="Times New Roman"/>
                <a:ea typeface="Times New Roman"/>
                <a:cs typeface="Times New Roman"/>
              </a:rPr>
              <a:t>md</a:t>
            </a:r>
            <a:br>
              <a:rPr sz="1200" b="0">
                <a:solidFill>
                  <a:srgbClr val="142238"/>
                </a:solidFill>
                <a:latin typeface="Malgun Gothic"/>
                <a:ea typeface="Malgun Gothic"/>
                <a:cs typeface="Malgun Gothic"/>
              </a:rPr>
            </a:br>
            <a:r>
              <a:rPr sz="1200" b="0">
                <a:solidFill>
                  <a:srgbClr val="142238"/>
                </a:solidFill>
                <a:latin typeface="Malgun Gothic"/>
                <a:ea typeface="Malgun Gothic"/>
                <a:cs typeface="Malgun Gothic"/>
              </a:rPr>
              <a:t>현 구조, 원문·상세·셀 인용, 선택적 번역·재정렬. 실제 정확도나 특허 신규성 증거가 아님.</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200" b="0">
                <a:solidFill>
                  <a:srgbClr val="142238"/>
                </a:solidFill>
                <a:latin typeface="Malgun Gothic"/>
                <a:ea typeface="Malgun Gothic"/>
                <a:cs typeface="Malgun Gothic"/>
              </a:rPr>
              <a:t>발표 배정 </a:t>
            </a:r>
            <a:r>
              <a:rPr sz="1200" b="0">
                <a:solidFill>
                  <a:srgbClr val="142238"/>
                </a:solidFill>
                <a:latin typeface="Times New Roman"/>
                <a:ea typeface="Times New Roman"/>
                <a:cs typeface="Times New Roman"/>
              </a:rPr>
              <a:t>60</a:t>
            </a:r>
            <a:r>
              <a:rPr sz="1200" b="0">
                <a:solidFill>
                  <a:srgbClr val="142238"/>
                </a:solidFill>
                <a:latin typeface="Malgun Gothic"/>
                <a:ea typeface="Malgun Gothic"/>
                <a:cs typeface="Malgun Gothic"/>
              </a:rPr>
              <a:t>초</a:t>
            </a:r>
            <a:br>
              <a:rPr sz="1200" b="0">
                <a:solidFill>
                  <a:srgbClr val="142238"/>
                </a:solidFill>
                <a:latin typeface="Malgun Gothic"/>
                <a:ea typeface="Malgun Gothic"/>
                <a:cs typeface="Malgun Gothic"/>
              </a:rPr>
            </a:br>
            <a:br>
              <a:rPr sz="1200" b="0">
                <a:solidFill>
                  <a:srgbClr val="142238"/>
                </a:solidFill>
                <a:latin typeface="Malgun Gothic"/>
                <a:ea typeface="Malgun Gothic"/>
                <a:cs typeface="Malgun Gothic"/>
              </a:rPr>
            </a:br>
            <a:r>
              <a:rPr sz="1200" b="0">
                <a:solidFill>
                  <a:srgbClr val="142238"/>
                </a:solidFill>
                <a:latin typeface="Malgun Gothic"/>
                <a:ea typeface="Malgun Gothic"/>
                <a:cs typeface="Malgun Gothic"/>
              </a:rPr>
              <a:t>흐름은 두 부분입니다. 먼저 자료 준비입니다. </a:t>
            </a:r>
            <a:r>
              <a:rPr sz="1200" b="0">
                <a:solidFill>
                  <a:srgbClr val="142238"/>
                </a:solidFill>
                <a:latin typeface="Times New Roman"/>
                <a:ea typeface="Times New Roman"/>
                <a:cs typeface="Times New Roman"/>
              </a:rPr>
              <a:t>Excel</a:t>
            </a:r>
            <a:r>
              <a:rPr sz="1200" b="0">
                <a:solidFill>
                  <a:srgbClr val="142238"/>
                </a:solidFill>
                <a:latin typeface="Malgun Gothic"/>
                <a:ea typeface="Malgun Gothic"/>
                <a:cs typeface="Malgun Gothic"/>
              </a:rPr>
              <a:t>을 읽어 원문과 셀 위치를 보존하고, 한 접수의 여러 상세를 구분합니다. </a:t>
            </a:r>
            <a:r>
              <a:rPr sz="1200" b="0">
                <a:solidFill>
                  <a:srgbClr val="142238"/>
                </a:solidFill>
                <a:latin typeface="Times New Roman"/>
                <a:ea typeface="Times New Roman"/>
                <a:cs typeface="Times New Roman"/>
              </a:rPr>
              <a:t>LLM</a:t>
            </a:r>
            <a:r>
              <a:rPr sz="1200" b="0">
                <a:solidFill>
                  <a:srgbClr val="142238"/>
                </a:solidFill>
                <a:latin typeface="Malgun Gothic"/>
                <a:ea typeface="Malgun Gothic"/>
                <a:cs typeface="Malgun Gothic"/>
              </a:rPr>
              <a:t>이 읽기 쉬운 문장을 제안하면 검사와 검토를 거칩니다. 영어 번역은 선택 사항입니다. 이후 키워드 색인과 뜻을 비교하는 임베딩을 준비합니다. 질문 단계에서는 한국어 문제 현상으로 관련 사례를 찾습니다. 선택적으로 </a:t>
            </a:r>
            <a:r>
              <a:rPr sz="1200" b="0">
                <a:solidFill>
                  <a:srgbClr val="142238"/>
                </a:solidFill>
                <a:latin typeface="Times New Roman"/>
                <a:ea typeface="Times New Roman"/>
                <a:cs typeface="Times New Roman"/>
              </a:rPr>
              <a:t>Clef</a:t>
            </a:r>
            <a:r>
              <a:rPr sz="1200" b="0">
                <a:solidFill>
                  <a:srgbClr val="142238"/>
                </a:solidFill>
                <a:latin typeface="Malgun Gothic"/>
                <a:ea typeface="Malgun Gothic"/>
                <a:cs typeface="Malgun Gothic"/>
              </a:rPr>
              <a:t>가 후보 순서를 보완하고, 답변 </a:t>
            </a:r>
            <a:r>
              <a:rPr sz="1200" b="0">
                <a:solidFill>
                  <a:srgbClr val="142238"/>
                </a:solidFill>
                <a:latin typeface="Times New Roman"/>
                <a:ea typeface="Times New Roman"/>
                <a:cs typeface="Times New Roman"/>
              </a:rPr>
              <a:t>LLM</a:t>
            </a:r>
            <a:r>
              <a:rPr sz="1200" b="0">
                <a:solidFill>
                  <a:srgbClr val="142238"/>
                </a:solidFill>
                <a:latin typeface="Malgun Gothic"/>
                <a:ea typeface="Malgun Gothic"/>
                <a:cs typeface="Malgun Gothic"/>
              </a:rPr>
              <a:t>은 찾은 원문으로 한국어 답변을 작성합니다. 마지막으로 숫자, 단위, 인용과 상세 범위를 검사합니다. </a:t>
            </a:r>
            <a:r>
              <a:rPr sz="1200" b="0">
                <a:solidFill>
                  <a:srgbClr val="142238"/>
                </a:solidFill>
                <a:latin typeface="Times New Roman"/>
                <a:ea typeface="Times New Roman"/>
                <a:cs typeface="Times New Roman"/>
              </a:rPr>
              <a:t>LLM</a:t>
            </a:r>
            <a:r>
              <a:rPr sz="1200" b="0">
                <a:solidFill>
                  <a:srgbClr val="142238"/>
                </a:solidFill>
                <a:latin typeface="Malgun Gothic"/>
                <a:ea typeface="Malgun Gothic"/>
                <a:cs typeface="Malgun Gothic"/>
              </a:rPr>
              <a:t>이나 </a:t>
            </a:r>
            <a:r>
              <a:rPr sz="1200" b="0">
                <a:solidFill>
                  <a:srgbClr val="142238"/>
                </a:solidFill>
                <a:latin typeface="Times New Roman"/>
                <a:ea typeface="Times New Roman"/>
                <a:cs typeface="Times New Roman"/>
              </a:rPr>
              <a:t>Clef</a:t>
            </a:r>
            <a:r>
              <a:rPr sz="1200" b="0">
                <a:solidFill>
                  <a:srgbClr val="142238"/>
                </a:solidFill>
                <a:latin typeface="Malgun Gothic"/>
                <a:ea typeface="Malgun Gothic"/>
                <a:cs typeface="Malgun Gothic"/>
              </a:rPr>
              <a:t>를 쓴다고 사실이 자동 검증되는 것은 아닙니다. 끝까지 사실의 기준을 원문에 두는 것이 핵심입니다.</a:t>
            </a:r>
            <a:br>
              <a:rPr sz="1200" b="0">
                <a:solidFill>
                  <a:srgbClr val="142238"/>
                </a:solidFill>
                <a:latin typeface="Malgun Gothic"/>
                <a:ea typeface="Malgun Gothic"/>
                <a:cs typeface="Malgun Gothic"/>
              </a:rPr>
            </a:br>
            <a:br>
              <a:rPr sz="1200" b="0">
                <a:solidFill>
                  <a:srgbClr val="142238"/>
                </a:solidFill>
                <a:latin typeface="Malgun Gothic"/>
                <a:ea typeface="Malgun Gothic"/>
                <a:cs typeface="Malgun Gothic"/>
              </a:rPr>
            </a:br>
            <a:r>
              <a:rPr sz="1200" b="0">
                <a:solidFill>
                  <a:srgbClr val="142238"/>
                </a:solidFill>
                <a:latin typeface="Malgun Gothic"/>
                <a:ea typeface="Malgun Gothic"/>
                <a:cs typeface="Malgun Gothic"/>
              </a:rPr>
              <a:t>근거</a:t>
            </a:r>
            <a:br>
              <a:rPr sz="1200" b="0">
                <a:solidFill>
                  <a:srgbClr val="142238"/>
                </a:solidFill>
                <a:latin typeface="Malgun Gothic"/>
                <a:ea typeface="Malgun Gothic"/>
                <a:cs typeface="Malgun Gothic"/>
              </a:rPr>
            </a:br>
            <a:r>
              <a:rPr sz="1200" b="0">
                <a:solidFill>
                  <a:srgbClr val="142238"/>
                </a:solidFill>
                <a:latin typeface="Times New Roman"/>
                <a:ea typeface="Times New Roman"/>
                <a:cs typeface="Times New Roman"/>
              </a:rPr>
              <a:t>E1. </a:t>
            </a:r>
            <a:r>
              <a:rPr sz="1200" b="0">
                <a:solidFill>
                  <a:srgbClr val="142238"/>
                </a:solidFill>
                <a:latin typeface="Malgun Gothic"/>
                <a:ea typeface="Malgun Gothic"/>
                <a:cs typeface="Malgun Gothic"/>
              </a:rPr>
              <a:t>제품 구조와 원문 보존 (</a:t>
            </a:r>
            <a:r>
              <a:rPr sz="1200" b="0">
                <a:solidFill>
                  <a:srgbClr val="142238"/>
                </a:solidFill>
                <a:latin typeface="Times New Roman"/>
                <a:ea typeface="Times New Roman"/>
                <a:cs typeface="Times New Roman"/>
              </a:rPr>
              <a:t>2026-10-13)</a:t>
            </a:r>
            <a:br>
              <a:rPr sz="1200" b="0">
                <a:solidFill>
                  <a:srgbClr val="142238"/>
                </a:solidFill>
                <a:latin typeface="Malgun Gothic"/>
                <a:ea typeface="Malgun Gothic"/>
                <a:cs typeface="Malgun Gothic"/>
              </a:rPr>
            </a:br>
            <a:r>
              <a:rPr sz="1200" b="0">
                <a:solidFill>
                  <a:srgbClr val="142238"/>
                </a:solidFill>
                <a:latin typeface="Times New Roman"/>
                <a:ea typeface="Times New Roman"/>
                <a:cs typeface="Times New Roman"/>
              </a:rPr>
              <a:t>https://github.com/pmh10401/cs-excel-rag/blob/c19a2c1710ded204aceace5ba9f682436245d181/docs/</a:t>
            </a:r>
            <a:r>
              <a:rPr sz="1200" b="0">
                <a:solidFill>
                  <a:srgbClr val="142238"/>
                </a:solidFill>
                <a:latin typeface="Malgun Gothic"/>
                <a:ea typeface="Malgun Gothic"/>
                <a:cs typeface="Malgun Gothic"/>
              </a:rPr>
              <a:t>전체-프로그램-플로우.</a:t>
            </a:r>
            <a:r>
              <a:rPr sz="1200" b="0">
                <a:solidFill>
                  <a:srgbClr val="142238"/>
                </a:solidFill>
                <a:latin typeface="Times New Roman"/>
                <a:ea typeface="Times New Roman"/>
                <a:cs typeface="Times New Roman"/>
              </a:rPr>
              <a:t>md</a:t>
            </a:r>
            <a:br>
              <a:rPr sz="1200" b="0">
                <a:solidFill>
                  <a:srgbClr val="142238"/>
                </a:solidFill>
                <a:latin typeface="Malgun Gothic"/>
                <a:ea typeface="Malgun Gothic"/>
                <a:cs typeface="Malgun Gothic"/>
              </a:rPr>
            </a:br>
            <a:r>
              <a:rPr sz="1200" b="0">
                <a:solidFill>
                  <a:srgbClr val="142238"/>
                </a:solidFill>
                <a:latin typeface="Malgun Gothic"/>
                <a:ea typeface="Malgun Gothic"/>
                <a:cs typeface="Malgun Gothic"/>
              </a:rPr>
              <a:t>현 구조, 원문·상세·셀 인용, 선택적 번역·재정렬. 실제 정확도나 특허 신규성 증거가 아님.</a:t>
            </a:r>
            <a:br>
              <a:rPr sz="1200" b="0">
                <a:solidFill>
                  <a:srgbClr val="142238"/>
                </a:solidFill>
                <a:latin typeface="Malgun Gothic"/>
                <a:ea typeface="Malgun Gothic"/>
                <a:cs typeface="Malgun Gothic"/>
              </a:rPr>
            </a:br>
            <a:br>
              <a:rPr sz="1200" b="0">
                <a:solidFill>
                  <a:srgbClr val="142238"/>
                </a:solidFill>
                <a:latin typeface="Malgun Gothic"/>
                <a:ea typeface="Malgun Gothic"/>
                <a:cs typeface="Malgun Gothic"/>
              </a:rPr>
            </a:br>
            <a:r>
              <a:rPr sz="1200" b="0">
                <a:solidFill>
                  <a:srgbClr val="142238"/>
                </a:solidFill>
                <a:latin typeface="Times New Roman"/>
                <a:ea typeface="Times New Roman"/>
                <a:cs typeface="Times New Roman"/>
              </a:rPr>
              <a:t>E5. </a:t>
            </a:r>
            <a:r>
              <a:rPr sz="1200" b="0">
                <a:solidFill>
                  <a:srgbClr val="142238"/>
                </a:solidFill>
                <a:latin typeface="Malgun Gothic"/>
                <a:ea typeface="Malgun Gothic"/>
                <a:cs typeface="Malgun Gothic"/>
              </a:rPr>
              <a:t>모델 실행과 사용자 화면 (</a:t>
            </a:r>
            <a:r>
              <a:rPr sz="1200" b="0">
                <a:solidFill>
                  <a:srgbClr val="142238"/>
                </a:solidFill>
                <a:latin typeface="Times New Roman"/>
                <a:ea typeface="Times New Roman"/>
                <a:cs typeface="Times New Roman"/>
              </a:rPr>
              <a:t>2026-10-08)</a:t>
            </a:r>
            <a:br>
              <a:rPr sz="1200" b="0">
                <a:solidFill>
                  <a:srgbClr val="142238"/>
                </a:solidFill>
                <a:latin typeface="Malgun Gothic"/>
                <a:ea typeface="Malgun Gothic"/>
                <a:cs typeface="Malgun Gothic"/>
              </a:rPr>
            </a:br>
            <a:r>
              <a:rPr sz="1200" b="0">
                <a:solidFill>
                  <a:srgbClr val="142238"/>
                </a:solidFill>
                <a:latin typeface="Times New Roman"/>
                <a:ea typeface="Times New Roman"/>
                <a:cs typeface="Times New Roman"/>
              </a:rPr>
              <a:t>https://github.com/pmh10401/cs-excel-rag/blob/c19a2c1710ded204aceace5ba9f682436245d181/docs/Clef-</a:t>
            </a:r>
            <a:r>
              <a:rPr sz="1200" b="0">
                <a:solidFill>
                  <a:srgbClr val="142238"/>
                </a:solidFill>
                <a:latin typeface="Malgun Gothic"/>
                <a:ea typeface="Malgun Gothic"/>
                <a:cs typeface="Malgun Gothic"/>
              </a:rPr>
              <a:t>테스트-</a:t>
            </a:r>
            <a:r>
              <a:rPr sz="1200" b="0">
                <a:solidFill>
                  <a:srgbClr val="142238"/>
                </a:solidFill>
                <a:latin typeface="Times New Roman"/>
                <a:ea typeface="Times New Roman"/>
                <a:cs typeface="Times New Roman"/>
              </a:rPr>
              <a:t>RAG-20261008.md</a:t>
            </a:r>
            <a:br>
              <a:rPr sz="1200" b="0">
                <a:solidFill>
                  <a:srgbClr val="142238"/>
                </a:solidFill>
                <a:latin typeface="Malgun Gothic"/>
                <a:ea typeface="Malgun Gothic"/>
                <a:cs typeface="Malgun Gothic"/>
              </a:rPr>
            </a:br>
            <a:r>
              <a:rPr sz="1200" b="0">
                <a:solidFill>
                  <a:srgbClr val="142238"/>
                </a:solidFill>
                <a:latin typeface="Times New Roman"/>
                <a:ea typeface="Times New Roman"/>
                <a:cs typeface="Times New Roman"/>
              </a:rPr>
              <a:t>Clef MLX </a:t>
            </a:r>
            <a:r>
              <a:rPr sz="1200" b="0">
                <a:solidFill>
                  <a:srgbClr val="142238"/>
                </a:solidFill>
                <a:latin typeface="Malgun Gothic"/>
                <a:ea typeface="Malgun Gothic"/>
                <a:cs typeface="Malgun Gothic"/>
              </a:rPr>
              <a:t>실제</a:t>
            </a:r>
            <a:r>
              <a:rPr sz="1200" b="0">
                <a:solidFill>
                  <a:srgbClr val="142238"/>
                </a:solidFill>
                <a:latin typeface="Times New Roman"/>
                <a:ea typeface="Times New Roman"/>
                <a:cs typeface="Times New Roman"/>
              </a:rPr>
              <a:t>Mac</a:t>
            </a:r>
            <a:r>
              <a:rPr sz="1200" b="0">
                <a:solidFill>
                  <a:srgbClr val="142238"/>
                </a:solidFill>
                <a:latin typeface="Malgun Gothic"/>
                <a:ea typeface="Malgun Gothic"/>
                <a:cs typeface="Malgun Gothic"/>
              </a:rPr>
              <a:t>연결. 동일질문 반복기능확인. 한국어현장품질향상 및 </a:t>
            </a:r>
            <a:r>
              <a:rPr sz="1200" b="0">
                <a:solidFill>
                  <a:srgbClr val="142238"/>
                </a:solidFill>
                <a:latin typeface="Times New Roman"/>
                <a:ea typeface="Times New Roman"/>
                <a:cs typeface="Times New Roman"/>
              </a:rPr>
              <a:t>Windows GPU </a:t>
            </a:r>
            <a:r>
              <a:rPr sz="1200" b="0">
                <a:solidFill>
                  <a:srgbClr val="142238"/>
                </a:solidFill>
                <a:latin typeface="Malgun Gothic"/>
                <a:ea typeface="Malgun Gothic"/>
                <a:cs typeface="Malgun Gothic"/>
              </a:rPr>
              <a:t>미확인.</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200" b="0">
                <a:solidFill>
                  <a:srgbClr val="142238"/>
                </a:solidFill>
                <a:latin typeface="Malgun Gothic"/>
                <a:ea typeface="Malgun Gothic"/>
                <a:cs typeface="Malgun Gothic"/>
              </a:rPr>
              <a:t>발표 배정 </a:t>
            </a:r>
            <a:r>
              <a:rPr sz="1200" b="0">
                <a:solidFill>
                  <a:srgbClr val="142238"/>
                </a:solidFill>
                <a:latin typeface="Times New Roman"/>
                <a:ea typeface="Times New Roman"/>
                <a:cs typeface="Times New Roman"/>
              </a:rPr>
              <a:t>65</a:t>
            </a:r>
            <a:r>
              <a:rPr sz="1200" b="0">
                <a:solidFill>
                  <a:srgbClr val="142238"/>
                </a:solidFill>
                <a:latin typeface="Malgun Gothic"/>
                <a:ea typeface="Malgun Gothic"/>
                <a:cs typeface="Malgun Gothic"/>
              </a:rPr>
              <a:t>초</a:t>
            </a:r>
            <a:br>
              <a:rPr sz="1200" b="0">
                <a:solidFill>
                  <a:srgbClr val="142238"/>
                </a:solidFill>
                <a:latin typeface="Malgun Gothic"/>
                <a:ea typeface="Malgun Gothic"/>
                <a:cs typeface="Malgun Gothic"/>
              </a:rPr>
            </a:br>
            <a:br>
              <a:rPr sz="1200" b="0">
                <a:solidFill>
                  <a:srgbClr val="142238"/>
                </a:solidFill>
                <a:latin typeface="Malgun Gothic"/>
                <a:ea typeface="Malgun Gothic"/>
                <a:cs typeface="Malgun Gothic"/>
              </a:rPr>
            </a:br>
            <a:r>
              <a:rPr sz="1200" b="0">
                <a:solidFill>
                  <a:srgbClr val="142238"/>
                </a:solidFill>
                <a:latin typeface="Malgun Gothic"/>
                <a:ea typeface="Malgun Gothic"/>
                <a:cs typeface="Malgun Gothic"/>
              </a:rPr>
              <a:t>이 표는 구조를 설명하기 위한 가상 사례입니다. 같은 </a:t>
            </a:r>
            <a:r>
              <a:rPr sz="1200" b="0">
                <a:solidFill>
                  <a:srgbClr val="142238"/>
                </a:solidFill>
                <a:latin typeface="Times New Roman"/>
                <a:ea typeface="Times New Roman"/>
                <a:cs typeface="Times New Roman"/>
              </a:rPr>
              <a:t>CS </a:t>
            </a:r>
            <a:r>
              <a:rPr sz="1200" b="0">
                <a:solidFill>
                  <a:srgbClr val="142238"/>
                </a:solidFill>
                <a:latin typeface="Malgun Gothic"/>
                <a:ea typeface="Malgun Gothic"/>
                <a:cs typeface="Malgun Gothic"/>
              </a:rPr>
              <a:t>번호 아래 상세 </a:t>
            </a:r>
            <a:r>
              <a:rPr sz="1200" b="0">
                <a:solidFill>
                  <a:srgbClr val="142238"/>
                </a:solidFill>
                <a:latin typeface="Times New Roman"/>
                <a:ea typeface="Times New Roman"/>
                <a:cs typeface="Times New Roman"/>
              </a:rPr>
              <a:t>A</a:t>
            </a:r>
            <a:r>
              <a:rPr sz="1200" b="0">
                <a:solidFill>
                  <a:srgbClr val="142238"/>
                </a:solidFill>
                <a:latin typeface="Malgun Gothic"/>
                <a:ea typeface="Malgun Gothic"/>
                <a:cs typeface="Malgun Gothic"/>
              </a:rPr>
              <a:t>에는 펌프 누수와 씰 교체 예정이 있습니다. 상세 </a:t>
            </a:r>
            <a:r>
              <a:rPr sz="1200" b="0">
                <a:solidFill>
                  <a:srgbClr val="142238"/>
                </a:solidFill>
                <a:latin typeface="Times New Roman"/>
                <a:ea typeface="Times New Roman"/>
                <a:cs typeface="Times New Roman"/>
              </a:rPr>
              <a:t>B</a:t>
            </a:r>
            <a:r>
              <a:rPr sz="1200" b="0">
                <a:solidFill>
                  <a:srgbClr val="142238"/>
                </a:solidFill>
                <a:latin typeface="Malgun Gothic"/>
                <a:ea typeface="Malgun Gothic"/>
                <a:cs typeface="Malgun Gothic"/>
              </a:rPr>
              <a:t>에는 밸브 응답 지연과 커넥터 재체결 후 동작 확인이 있습니다. 여기에서 펌프 질문에 밸브의 조치를 가져오면 안 됩니다. 또 교체 예정이라는 기록을 교체 완료로 바꾸면 안 됩니다. 이를 위해 접수번호 아래의 상세를 나누고, 답변에 사용한 조치가 어느 상세의 어느 셀에서 왔는지 확인합니다. 정리문이나 번역문이 바뀌어도 원문은 남습니다. 다만 숫자와 인용이 맞아도 문장의 모든 의미가 맞는 것은 아니므로, 계획과 완료 또는 미실시 같은 상태를 현장 검증에서도 별도로 보겠습니다.</a:t>
            </a:r>
            <a:br>
              <a:rPr sz="1200" b="0">
                <a:solidFill>
                  <a:srgbClr val="142238"/>
                </a:solidFill>
                <a:latin typeface="Malgun Gothic"/>
                <a:ea typeface="Malgun Gothic"/>
                <a:cs typeface="Malgun Gothic"/>
              </a:rPr>
            </a:br>
            <a:br>
              <a:rPr sz="1200" b="0">
                <a:solidFill>
                  <a:srgbClr val="142238"/>
                </a:solidFill>
                <a:latin typeface="Malgun Gothic"/>
                <a:ea typeface="Malgun Gothic"/>
                <a:cs typeface="Malgun Gothic"/>
              </a:rPr>
            </a:br>
            <a:r>
              <a:rPr sz="1200" b="0">
                <a:solidFill>
                  <a:srgbClr val="142238"/>
                </a:solidFill>
                <a:latin typeface="Malgun Gothic"/>
                <a:ea typeface="Malgun Gothic"/>
                <a:cs typeface="Malgun Gothic"/>
              </a:rPr>
              <a:t>근거</a:t>
            </a:r>
            <a:br>
              <a:rPr sz="1200" b="0">
                <a:solidFill>
                  <a:srgbClr val="142238"/>
                </a:solidFill>
                <a:latin typeface="Malgun Gothic"/>
                <a:ea typeface="Malgun Gothic"/>
                <a:cs typeface="Malgun Gothic"/>
              </a:rPr>
            </a:br>
            <a:r>
              <a:rPr sz="1200" b="0">
                <a:solidFill>
                  <a:srgbClr val="142238"/>
                </a:solidFill>
                <a:latin typeface="Times New Roman"/>
                <a:ea typeface="Times New Roman"/>
                <a:cs typeface="Times New Roman"/>
              </a:rPr>
              <a:t>E1. </a:t>
            </a:r>
            <a:r>
              <a:rPr sz="1200" b="0">
                <a:solidFill>
                  <a:srgbClr val="142238"/>
                </a:solidFill>
                <a:latin typeface="Malgun Gothic"/>
                <a:ea typeface="Malgun Gothic"/>
                <a:cs typeface="Malgun Gothic"/>
              </a:rPr>
              <a:t>제품 구조와 원문 보존 (</a:t>
            </a:r>
            <a:r>
              <a:rPr sz="1200" b="0">
                <a:solidFill>
                  <a:srgbClr val="142238"/>
                </a:solidFill>
                <a:latin typeface="Times New Roman"/>
                <a:ea typeface="Times New Roman"/>
                <a:cs typeface="Times New Roman"/>
              </a:rPr>
              <a:t>2026-10-13)</a:t>
            </a:r>
            <a:br>
              <a:rPr sz="1200" b="0">
                <a:solidFill>
                  <a:srgbClr val="142238"/>
                </a:solidFill>
                <a:latin typeface="Malgun Gothic"/>
                <a:ea typeface="Malgun Gothic"/>
                <a:cs typeface="Malgun Gothic"/>
              </a:rPr>
            </a:br>
            <a:r>
              <a:rPr sz="1200" b="0">
                <a:solidFill>
                  <a:srgbClr val="142238"/>
                </a:solidFill>
                <a:latin typeface="Times New Roman"/>
                <a:ea typeface="Times New Roman"/>
                <a:cs typeface="Times New Roman"/>
              </a:rPr>
              <a:t>https://github.com/pmh10401/cs-excel-rag/blob/c19a2c1710ded204aceace5ba9f682436245d181/docs/</a:t>
            </a:r>
            <a:r>
              <a:rPr sz="1200" b="0">
                <a:solidFill>
                  <a:srgbClr val="142238"/>
                </a:solidFill>
                <a:latin typeface="Malgun Gothic"/>
                <a:ea typeface="Malgun Gothic"/>
                <a:cs typeface="Malgun Gothic"/>
              </a:rPr>
              <a:t>전체-프로그램-플로우.</a:t>
            </a:r>
            <a:r>
              <a:rPr sz="1200" b="0">
                <a:solidFill>
                  <a:srgbClr val="142238"/>
                </a:solidFill>
                <a:latin typeface="Times New Roman"/>
                <a:ea typeface="Times New Roman"/>
                <a:cs typeface="Times New Roman"/>
              </a:rPr>
              <a:t>md</a:t>
            </a:r>
            <a:br>
              <a:rPr sz="1200" b="0">
                <a:solidFill>
                  <a:srgbClr val="142238"/>
                </a:solidFill>
                <a:latin typeface="Malgun Gothic"/>
                <a:ea typeface="Malgun Gothic"/>
                <a:cs typeface="Malgun Gothic"/>
              </a:rPr>
            </a:br>
            <a:r>
              <a:rPr sz="1200" b="0">
                <a:solidFill>
                  <a:srgbClr val="142238"/>
                </a:solidFill>
                <a:latin typeface="Malgun Gothic"/>
                <a:ea typeface="Malgun Gothic"/>
                <a:cs typeface="Malgun Gothic"/>
              </a:rPr>
              <a:t>현 구조, 원문·상세·셀 인용, 선택적 번역·재정렬. 실제 정확도나 특허 신규성 증거가 아님.</a:t>
            </a:r>
            <a:br>
              <a:rPr sz="1200" b="0">
                <a:solidFill>
                  <a:srgbClr val="142238"/>
                </a:solidFill>
                <a:latin typeface="Malgun Gothic"/>
                <a:ea typeface="Malgun Gothic"/>
                <a:cs typeface="Malgun Gothic"/>
              </a:rPr>
            </a:br>
            <a:br>
              <a:rPr sz="1200" b="0">
                <a:solidFill>
                  <a:srgbClr val="142238"/>
                </a:solidFill>
                <a:latin typeface="Malgun Gothic"/>
                <a:ea typeface="Malgun Gothic"/>
                <a:cs typeface="Malgun Gothic"/>
              </a:rPr>
            </a:br>
            <a:r>
              <a:rPr sz="1200" b="0">
                <a:solidFill>
                  <a:srgbClr val="142238"/>
                </a:solidFill>
                <a:latin typeface="Times New Roman"/>
                <a:ea typeface="Times New Roman"/>
                <a:cs typeface="Times New Roman"/>
              </a:rPr>
              <a:t>E6. </a:t>
            </a:r>
            <a:r>
              <a:rPr sz="1200" b="0">
                <a:solidFill>
                  <a:srgbClr val="142238"/>
                </a:solidFill>
                <a:latin typeface="Malgun Gothic"/>
                <a:ea typeface="Malgun Gothic"/>
                <a:cs typeface="Malgun Gothic"/>
              </a:rPr>
              <a:t>제품화 목표와 남은 검증 (</a:t>
            </a:r>
            <a:r>
              <a:rPr sz="1200" b="0">
                <a:solidFill>
                  <a:srgbClr val="142238"/>
                </a:solidFill>
                <a:latin typeface="Times New Roman"/>
                <a:ea typeface="Times New Roman"/>
                <a:cs typeface="Times New Roman"/>
              </a:rPr>
              <a:t>2026-10-13)</a:t>
            </a:r>
            <a:br>
              <a:rPr sz="1200" b="0">
                <a:solidFill>
                  <a:srgbClr val="142238"/>
                </a:solidFill>
                <a:latin typeface="Malgun Gothic"/>
                <a:ea typeface="Malgun Gothic"/>
                <a:cs typeface="Malgun Gothic"/>
              </a:rPr>
            </a:br>
            <a:r>
              <a:rPr sz="1200" b="0">
                <a:solidFill>
                  <a:srgbClr val="142238"/>
                </a:solidFill>
                <a:latin typeface="Times New Roman"/>
                <a:ea typeface="Times New Roman"/>
                <a:cs typeface="Times New Roman"/>
              </a:rPr>
              <a:t>https://github.com/pmh10401/cs-excel-rag/blob/c19a2c1710ded204aceace5ba9f682436245d181/docs/</a:t>
            </a:r>
            <a:r>
              <a:rPr sz="1200" b="0">
                <a:solidFill>
                  <a:srgbClr val="142238"/>
                </a:solidFill>
                <a:latin typeface="Malgun Gothic"/>
                <a:ea typeface="Malgun Gothic"/>
                <a:cs typeface="Malgun Gothic"/>
              </a:rPr>
              <a:t>제품화-설계-</a:t>
            </a:r>
            <a:r>
              <a:rPr sz="1200" b="0">
                <a:solidFill>
                  <a:srgbClr val="142238"/>
                </a:solidFill>
                <a:latin typeface="Times New Roman"/>
                <a:ea typeface="Times New Roman"/>
                <a:cs typeface="Times New Roman"/>
              </a:rPr>
              <a:t>20261013.md</a:t>
            </a:r>
            <a:br>
              <a:rPr sz="1200" b="0">
                <a:solidFill>
                  <a:srgbClr val="142238"/>
                </a:solidFill>
                <a:latin typeface="Malgun Gothic"/>
                <a:ea typeface="Malgun Gothic"/>
                <a:cs typeface="Malgun Gothic"/>
              </a:rPr>
            </a:br>
            <a:r>
              <a:rPr sz="1200" b="0">
                <a:solidFill>
                  <a:srgbClr val="142238"/>
                </a:solidFill>
                <a:latin typeface="Times New Roman"/>
                <a:ea typeface="Times New Roman"/>
                <a:cs typeface="Times New Roman"/>
              </a:rPr>
              <a:t>Windows </a:t>
            </a:r>
            <a:r>
              <a:rPr sz="1200" b="0">
                <a:solidFill>
                  <a:srgbClr val="142238"/>
                </a:solidFill>
                <a:latin typeface="Malgun Gothic"/>
                <a:ea typeface="Malgun Gothic"/>
                <a:cs typeface="Malgun Gothic"/>
              </a:rPr>
              <a:t>사내서버+여러브라우저 목표. 사용자·관리자권한,운영</a:t>
            </a:r>
            <a:r>
              <a:rPr sz="1200" b="0">
                <a:solidFill>
                  <a:srgbClr val="142238"/>
                </a:solidFill>
                <a:latin typeface="Times New Roman"/>
                <a:ea typeface="Times New Roman"/>
                <a:cs typeface="Times New Roman"/>
              </a:rPr>
              <a:t>API,</a:t>
            </a:r>
            <a:r>
              <a:rPr sz="1200" b="0">
                <a:solidFill>
                  <a:srgbClr val="142238"/>
                </a:solidFill>
                <a:latin typeface="Malgun Gothic"/>
                <a:ea typeface="Malgun Gothic"/>
                <a:cs typeface="Malgun Gothic"/>
              </a:rPr>
              <a:t>현장정확도,실제부하 확인 필요. 문서 최초설계의 후속범위 중 동시질문은</a:t>
            </a:r>
            <a:r>
              <a:rPr sz="1200" b="0">
                <a:solidFill>
                  <a:srgbClr val="142238"/>
                </a:solidFill>
                <a:latin typeface="Times New Roman"/>
                <a:ea typeface="Times New Roman"/>
                <a:cs typeface="Times New Roman"/>
              </a:rPr>
              <a:t>E4</a:t>
            </a:r>
            <a:r>
              <a:rPr sz="1200" b="0">
                <a:solidFill>
                  <a:srgbClr val="142238"/>
                </a:solidFill>
                <a:latin typeface="Malgun Gothic"/>
                <a:ea typeface="Malgun Gothic"/>
                <a:cs typeface="Malgun Gothic"/>
              </a:rPr>
              <a:t>로 상태갱신.</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200" b="0">
                <a:solidFill>
                  <a:srgbClr val="142238"/>
                </a:solidFill>
                <a:latin typeface="Malgun Gothic"/>
                <a:ea typeface="Malgun Gothic"/>
                <a:cs typeface="Malgun Gothic"/>
              </a:rPr>
              <a:t>발표 배정 </a:t>
            </a:r>
            <a:r>
              <a:rPr sz="1200" b="0">
                <a:solidFill>
                  <a:srgbClr val="142238"/>
                </a:solidFill>
                <a:latin typeface="Times New Roman"/>
                <a:ea typeface="Times New Roman"/>
                <a:cs typeface="Times New Roman"/>
              </a:rPr>
              <a:t>45</a:t>
            </a:r>
            <a:r>
              <a:rPr sz="1200" b="0">
                <a:solidFill>
                  <a:srgbClr val="142238"/>
                </a:solidFill>
                <a:latin typeface="Malgun Gothic"/>
                <a:ea typeface="Malgun Gothic"/>
                <a:cs typeface="Malgun Gothic"/>
              </a:rPr>
              <a:t>초</a:t>
            </a:r>
            <a:br>
              <a:rPr sz="1200" b="0">
                <a:solidFill>
                  <a:srgbClr val="142238"/>
                </a:solidFill>
                <a:latin typeface="Malgun Gothic"/>
                <a:ea typeface="Malgun Gothic"/>
                <a:cs typeface="Malgun Gothic"/>
              </a:rPr>
            </a:br>
            <a:br>
              <a:rPr sz="1200" b="0">
                <a:solidFill>
                  <a:srgbClr val="142238"/>
                </a:solidFill>
                <a:latin typeface="Malgun Gothic"/>
                <a:ea typeface="Malgun Gothic"/>
                <a:cs typeface="Malgun Gothic"/>
              </a:rPr>
            </a:br>
            <a:r>
              <a:rPr sz="1200" b="0">
                <a:solidFill>
                  <a:srgbClr val="142238"/>
                </a:solidFill>
                <a:latin typeface="Malgun Gothic"/>
                <a:ea typeface="Malgun Gothic"/>
                <a:cs typeface="Malgun Gothic"/>
              </a:rPr>
              <a:t>실제 브라우저의 기능 확인 화면입니다. 이 화면은 가상 자료와 모의 모델로 확인한 것이므로 표시된 응답 시간을 모델 성능으로 해석하지 않습니다. 위에는 핵심 답변을 보여주고, 아래에 인용한 접수와 원문을 따로 둡니다. 사용자는 답변을 읽다가 근거가 필요할 때 실제 셀을 펼쳐볼 수 있습니다. 관계 보기에서는 검색된 상세와 설비, 부품의 연결을 확인하고, 이어서 질문할 수도 있습니다. 원문을 처음부터 길게 섞어 보여주는 대신 필요한 깊이로 확인하는 흐름입니다.</a:t>
            </a:r>
            <a:br>
              <a:rPr sz="1200" b="0">
                <a:solidFill>
                  <a:srgbClr val="142238"/>
                </a:solidFill>
                <a:latin typeface="Malgun Gothic"/>
                <a:ea typeface="Malgun Gothic"/>
                <a:cs typeface="Malgun Gothic"/>
              </a:rPr>
            </a:br>
            <a:br>
              <a:rPr sz="1200" b="0">
                <a:solidFill>
                  <a:srgbClr val="142238"/>
                </a:solidFill>
                <a:latin typeface="Malgun Gothic"/>
                <a:ea typeface="Malgun Gothic"/>
                <a:cs typeface="Malgun Gothic"/>
              </a:rPr>
            </a:br>
            <a:r>
              <a:rPr sz="1200" b="0">
                <a:solidFill>
                  <a:srgbClr val="142238"/>
                </a:solidFill>
                <a:latin typeface="Malgun Gothic"/>
                <a:ea typeface="Malgun Gothic"/>
                <a:cs typeface="Malgun Gothic"/>
              </a:rPr>
              <a:t>근거</a:t>
            </a:r>
            <a:br>
              <a:rPr sz="1200" b="0">
                <a:solidFill>
                  <a:srgbClr val="142238"/>
                </a:solidFill>
                <a:latin typeface="Malgun Gothic"/>
                <a:ea typeface="Malgun Gothic"/>
                <a:cs typeface="Malgun Gothic"/>
              </a:rPr>
            </a:br>
            <a:r>
              <a:rPr sz="1200" b="0">
                <a:solidFill>
                  <a:srgbClr val="142238"/>
                </a:solidFill>
                <a:latin typeface="Times New Roman"/>
                <a:ea typeface="Times New Roman"/>
                <a:cs typeface="Times New Roman"/>
              </a:rPr>
              <a:t>E4. </a:t>
            </a:r>
            <a:r>
              <a:rPr sz="1200" b="0">
                <a:solidFill>
                  <a:srgbClr val="142238"/>
                </a:solidFill>
                <a:latin typeface="Malgun Gothic"/>
                <a:ea typeface="Malgun Gothic"/>
                <a:cs typeface="Malgun Gothic"/>
              </a:rPr>
              <a:t>작업 복구와 동시 질문 (</a:t>
            </a:r>
            <a:r>
              <a:rPr sz="1200" b="0">
                <a:solidFill>
                  <a:srgbClr val="142238"/>
                </a:solidFill>
                <a:latin typeface="Times New Roman"/>
                <a:ea typeface="Times New Roman"/>
                <a:cs typeface="Times New Roman"/>
              </a:rPr>
              <a:t>2026-10-13)</a:t>
            </a:r>
            <a:br>
              <a:rPr sz="1200" b="0">
                <a:solidFill>
                  <a:srgbClr val="142238"/>
                </a:solidFill>
                <a:latin typeface="Malgun Gothic"/>
                <a:ea typeface="Malgun Gothic"/>
                <a:cs typeface="Malgun Gothic"/>
              </a:rPr>
            </a:br>
            <a:r>
              <a:rPr sz="1200" b="0">
                <a:solidFill>
                  <a:srgbClr val="142238"/>
                </a:solidFill>
                <a:latin typeface="Times New Roman"/>
                <a:ea typeface="Times New Roman"/>
                <a:cs typeface="Times New Roman"/>
              </a:rPr>
              <a:t>https://github.com/pmh10401/cs-excel-rag/blob/c19a2c1710ded204aceace5ba9f682436245d181/docs/</a:t>
            </a:r>
            <a:r>
              <a:rPr sz="1200" b="0">
                <a:solidFill>
                  <a:srgbClr val="142238"/>
                </a:solidFill>
                <a:latin typeface="Malgun Gothic"/>
                <a:ea typeface="Malgun Gothic"/>
                <a:cs typeface="Malgun Gothic"/>
              </a:rPr>
              <a:t>임원보고서.</a:t>
            </a:r>
            <a:r>
              <a:rPr sz="1200" b="0">
                <a:solidFill>
                  <a:srgbClr val="142238"/>
                </a:solidFill>
                <a:latin typeface="Times New Roman"/>
                <a:ea typeface="Times New Roman"/>
                <a:cs typeface="Times New Roman"/>
              </a:rPr>
              <a:t>md</a:t>
            </a:r>
            <a:br>
              <a:rPr sz="1200" b="0">
                <a:solidFill>
                  <a:srgbClr val="142238"/>
                </a:solidFill>
                <a:latin typeface="Malgun Gothic"/>
                <a:ea typeface="Malgun Gothic"/>
                <a:cs typeface="Malgun Gothic"/>
              </a:rPr>
            </a:br>
            <a:r>
              <a:rPr sz="1200" b="0">
                <a:solidFill>
                  <a:srgbClr val="142238"/>
                </a:solidFill>
                <a:latin typeface="Times New Roman"/>
                <a:ea typeface="Times New Roman"/>
                <a:cs typeface="Times New Roman"/>
              </a:rPr>
              <a:t>Mac</a:t>
            </a:r>
            <a:r>
              <a:rPr sz="1200" b="0">
                <a:solidFill>
                  <a:srgbClr val="142238"/>
                </a:solidFill>
                <a:latin typeface="Malgun Gothic"/>
                <a:ea typeface="Malgun Gothic"/>
                <a:cs typeface="Malgun Gothic"/>
              </a:rPr>
              <a:t>·모의 모델. 작업 복구</a:t>
            </a:r>
            <a:r>
              <a:rPr sz="1200" b="0">
                <a:solidFill>
                  <a:srgbClr val="142238"/>
                </a:solidFill>
                <a:latin typeface="Times New Roman"/>
                <a:ea typeface="Times New Roman"/>
                <a:cs typeface="Times New Roman"/>
              </a:rPr>
              <a:t>14</a:t>
            </a:r>
            <a:r>
              <a:rPr sz="1200" b="0">
                <a:solidFill>
                  <a:srgbClr val="142238"/>
                </a:solidFill>
                <a:latin typeface="Malgun Gothic"/>
                <a:ea typeface="Malgun Gothic"/>
                <a:cs typeface="Malgun Gothic"/>
              </a:rPr>
              <a:t>건과 동시 처리</a:t>
            </a:r>
            <a:r>
              <a:rPr sz="1200" b="0">
                <a:solidFill>
                  <a:srgbClr val="142238"/>
                </a:solidFill>
                <a:latin typeface="Times New Roman"/>
                <a:ea typeface="Times New Roman"/>
                <a:cs typeface="Times New Roman"/>
              </a:rPr>
              <a:t>7</a:t>
            </a:r>
            <a:r>
              <a:rPr sz="1200" b="0">
                <a:solidFill>
                  <a:srgbClr val="142238"/>
                </a:solidFill>
                <a:latin typeface="Malgun Gothic"/>
                <a:ea typeface="Malgun Gothic"/>
                <a:cs typeface="Malgun Gothic"/>
              </a:rPr>
              <a:t>건 통과. </a:t>
            </a:r>
            <a:r>
              <a:rPr sz="1200" b="0">
                <a:solidFill>
                  <a:srgbClr val="142238"/>
                </a:solidFill>
                <a:latin typeface="Times New Roman"/>
                <a:ea typeface="Times New Roman"/>
                <a:cs typeface="Times New Roman"/>
              </a:rPr>
              <a:t>Windows</a:t>
            </a:r>
            <a:r>
              <a:rPr sz="1200" b="0">
                <a:solidFill>
                  <a:srgbClr val="142238"/>
                </a:solidFill>
                <a:latin typeface="Malgun Gothic"/>
                <a:ea typeface="Malgun Gothic"/>
                <a:cs typeface="Malgun Gothic"/>
              </a:rPr>
              <a:t>실기기/</a:t>
            </a:r>
            <a:r>
              <a:rPr sz="1200" b="0">
                <a:solidFill>
                  <a:srgbClr val="142238"/>
                </a:solidFill>
                <a:latin typeface="Times New Roman"/>
                <a:ea typeface="Times New Roman"/>
                <a:cs typeface="Times New Roman"/>
              </a:rPr>
              <a:t>DRM </a:t>
            </a:r>
            <a:r>
              <a:rPr sz="1200" b="0">
                <a:solidFill>
                  <a:srgbClr val="142238"/>
                </a:solidFill>
                <a:latin typeface="Malgun Gothic"/>
                <a:ea typeface="Malgun Gothic"/>
                <a:cs typeface="Malgun Gothic"/>
              </a:rPr>
              <a:t>및 실제</a:t>
            </a:r>
            <a:r>
              <a:rPr sz="1200" b="0">
                <a:solidFill>
                  <a:srgbClr val="142238"/>
                </a:solidFill>
                <a:latin typeface="Times New Roman"/>
                <a:ea typeface="Times New Roman"/>
                <a:cs typeface="Times New Roman"/>
              </a:rPr>
              <a:t>120B</a:t>
            </a:r>
            <a:r>
              <a:rPr sz="1200" b="0">
                <a:solidFill>
                  <a:srgbClr val="142238"/>
                </a:solidFill>
                <a:latin typeface="Malgun Gothic"/>
                <a:ea typeface="Malgun Gothic"/>
                <a:cs typeface="Malgun Gothic"/>
              </a:rPr>
              <a:t>부하 미확인.</a:t>
            </a:r>
            <a:br>
              <a:rPr sz="1200" b="0">
                <a:solidFill>
                  <a:srgbClr val="142238"/>
                </a:solidFill>
                <a:latin typeface="Malgun Gothic"/>
                <a:ea typeface="Malgun Gothic"/>
                <a:cs typeface="Malgun Gothic"/>
              </a:rPr>
            </a:br>
            <a:br>
              <a:rPr sz="1200" b="0">
                <a:solidFill>
                  <a:srgbClr val="142238"/>
                </a:solidFill>
                <a:latin typeface="Malgun Gothic"/>
                <a:ea typeface="Malgun Gothic"/>
                <a:cs typeface="Malgun Gothic"/>
              </a:rPr>
            </a:br>
            <a:r>
              <a:rPr sz="1200" b="0">
                <a:solidFill>
                  <a:srgbClr val="142238"/>
                </a:solidFill>
                <a:latin typeface="Times New Roman"/>
                <a:ea typeface="Times New Roman"/>
                <a:cs typeface="Times New Roman"/>
              </a:rPr>
              <a:t>E1. </a:t>
            </a:r>
            <a:r>
              <a:rPr sz="1200" b="0">
                <a:solidFill>
                  <a:srgbClr val="142238"/>
                </a:solidFill>
                <a:latin typeface="Malgun Gothic"/>
                <a:ea typeface="Malgun Gothic"/>
                <a:cs typeface="Malgun Gothic"/>
              </a:rPr>
              <a:t>제품 구조와 원문 보존 (</a:t>
            </a:r>
            <a:r>
              <a:rPr sz="1200" b="0">
                <a:solidFill>
                  <a:srgbClr val="142238"/>
                </a:solidFill>
                <a:latin typeface="Times New Roman"/>
                <a:ea typeface="Times New Roman"/>
                <a:cs typeface="Times New Roman"/>
              </a:rPr>
              <a:t>2026-10-13)</a:t>
            </a:r>
            <a:br>
              <a:rPr sz="1200" b="0">
                <a:solidFill>
                  <a:srgbClr val="142238"/>
                </a:solidFill>
                <a:latin typeface="Malgun Gothic"/>
                <a:ea typeface="Malgun Gothic"/>
                <a:cs typeface="Malgun Gothic"/>
              </a:rPr>
            </a:br>
            <a:r>
              <a:rPr sz="1200" b="0">
                <a:solidFill>
                  <a:srgbClr val="142238"/>
                </a:solidFill>
                <a:latin typeface="Times New Roman"/>
                <a:ea typeface="Times New Roman"/>
                <a:cs typeface="Times New Roman"/>
              </a:rPr>
              <a:t>https://github.com/pmh10401/cs-excel-rag/blob/c19a2c1710ded204aceace5ba9f682436245d181/docs/</a:t>
            </a:r>
            <a:r>
              <a:rPr sz="1200" b="0">
                <a:solidFill>
                  <a:srgbClr val="142238"/>
                </a:solidFill>
                <a:latin typeface="Malgun Gothic"/>
                <a:ea typeface="Malgun Gothic"/>
                <a:cs typeface="Malgun Gothic"/>
              </a:rPr>
              <a:t>전체-프로그램-플로우.</a:t>
            </a:r>
            <a:r>
              <a:rPr sz="1200" b="0">
                <a:solidFill>
                  <a:srgbClr val="142238"/>
                </a:solidFill>
                <a:latin typeface="Times New Roman"/>
                <a:ea typeface="Times New Roman"/>
                <a:cs typeface="Times New Roman"/>
              </a:rPr>
              <a:t>md</a:t>
            </a:r>
            <a:br>
              <a:rPr sz="1200" b="0">
                <a:solidFill>
                  <a:srgbClr val="142238"/>
                </a:solidFill>
                <a:latin typeface="Malgun Gothic"/>
                <a:ea typeface="Malgun Gothic"/>
                <a:cs typeface="Malgun Gothic"/>
              </a:rPr>
            </a:br>
            <a:r>
              <a:rPr sz="1200" b="0">
                <a:solidFill>
                  <a:srgbClr val="142238"/>
                </a:solidFill>
                <a:latin typeface="Malgun Gothic"/>
                <a:ea typeface="Malgun Gothic"/>
                <a:cs typeface="Malgun Gothic"/>
              </a:rPr>
              <a:t>현 구조, 원문·상세·셀 인용, 선택적 번역·재정렬. 실제 정확도나 특허 신규성 증거가 아님.</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200" b="0">
                <a:solidFill>
                  <a:srgbClr val="142238"/>
                </a:solidFill>
                <a:latin typeface="Malgun Gothic"/>
                <a:ea typeface="Malgun Gothic"/>
                <a:cs typeface="Malgun Gothic"/>
              </a:rPr>
              <a:t>발표 배정 </a:t>
            </a:r>
            <a:r>
              <a:rPr sz="1200" b="0">
                <a:solidFill>
                  <a:srgbClr val="142238"/>
                </a:solidFill>
                <a:latin typeface="Times New Roman"/>
                <a:ea typeface="Times New Roman"/>
                <a:cs typeface="Times New Roman"/>
              </a:rPr>
              <a:t>75</a:t>
            </a:r>
            <a:r>
              <a:rPr sz="1200" b="0">
                <a:solidFill>
                  <a:srgbClr val="142238"/>
                </a:solidFill>
                <a:latin typeface="Malgun Gothic"/>
                <a:ea typeface="Malgun Gothic"/>
                <a:cs typeface="Malgun Gothic"/>
              </a:rPr>
              <a:t>초</a:t>
            </a:r>
            <a:br>
              <a:rPr sz="1200" b="0">
                <a:solidFill>
                  <a:srgbClr val="142238"/>
                </a:solidFill>
                <a:latin typeface="Malgun Gothic"/>
                <a:ea typeface="Malgun Gothic"/>
                <a:cs typeface="Malgun Gothic"/>
              </a:rPr>
            </a:br>
            <a:br>
              <a:rPr sz="1200" b="0">
                <a:solidFill>
                  <a:srgbClr val="142238"/>
                </a:solidFill>
                <a:latin typeface="Malgun Gothic"/>
                <a:ea typeface="Malgun Gothic"/>
                <a:cs typeface="Malgun Gothic"/>
              </a:rPr>
            </a:br>
            <a:r>
              <a:rPr sz="1200" b="0">
                <a:solidFill>
                  <a:srgbClr val="142238"/>
                </a:solidFill>
                <a:latin typeface="Malgun Gothic"/>
                <a:ea typeface="Malgun Gothic"/>
                <a:cs typeface="Malgun Gothic"/>
              </a:rPr>
              <a:t>검색 성능의 근거입니다. </a:t>
            </a:r>
            <a:r>
              <a:rPr sz="1200" b="0">
                <a:solidFill>
                  <a:srgbClr val="142238"/>
                </a:solidFill>
                <a:latin typeface="Times New Roman"/>
                <a:ea typeface="Times New Roman"/>
                <a:cs typeface="Times New Roman"/>
              </a:rPr>
              <a:t>10</a:t>
            </a:r>
            <a:r>
              <a:rPr sz="1200" b="0">
                <a:solidFill>
                  <a:srgbClr val="142238"/>
                </a:solidFill>
                <a:latin typeface="Malgun Gothic"/>
                <a:ea typeface="Malgun Gothic"/>
                <a:cs typeface="Malgun Gothic"/>
              </a:rPr>
              <a:t>만 건은 합성 자료의 규모이며, </a:t>
            </a:r>
            <a:r>
              <a:rPr sz="1200" b="0">
                <a:solidFill>
                  <a:srgbClr val="142238"/>
                </a:solidFill>
                <a:latin typeface="Times New Roman"/>
                <a:ea typeface="Times New Roman"/>
                <a:cs typeface="Times New Roman"/>
              </a:rPr>
              <a:t>10</a:t>
            </a:r>
            <a:r>
              <a:rPr sz="1200" b="0">
                <a:solidFill>
                  <a:srgbClr val="142238"/>
                </a:solidFill>
                <a:latin typeface="Malgun Gothic"/>
                <a:ea typeface="Malgun Gothic"/>
                <a:cs typeface="Malgun Gothic"/>
              </a:rPr>
              <a:t>만 개의 질문을 평가했다는 뜻은 아닙니다. 미리 정한 </a:t>
            </a:r>
            <a:r>
              <a:rPr sz="1200" b="0">
                <a:solidFill>
                  <a:srgbClr val="142238"/>
                </a:solidFill>
                <a:latin typeface="Times New Roman"/>
                <a:ea typeface="Times New Roman"/>
                <a:cs typeface="Times New Roman"/>
              </a:rPr>
              <a:t>50</a:t>
            </a:r>
            <a:r>
              <a:rPr sz="1200" b="0">
                <a:solidFill>
                  <a:srgbClr val="142238"/>
                </a:solidFill>
                <a:latin typeface="Malgun Gothic"/>
                <a:ea typeface="Malgun Gothic"/>
                <a:cs typeface="Malgun Gothic"/>
              </a:rPr>
              <a:t>문항 중 정답이 있는 </a:t>
            </a:r>
            <a:r>
              <a:rPr sz="1200" b="0">
                <a:solidFill>
                  <a:srgbClr val="142238"/>
                </a:solidFill>
                <a:latin typeface="Times New Roman"/>
                <a:ea typeface="Times New Roman"/>
                <a:cs typeface="Times New Roman"/>
              </a:rPr>
              <a:t>44</a:t>
            </a:r>
            <a:r>
              <a:rPr sz="1200" b="0">
                <a:solidFill>
                  <a:srgbClr val="142238"/>
                </a:solidFill>
                <a:latin typeface="Malgun Gothic"/>
                <a:ea typeface="Malgun Gothic"/>
                <a:cs typeface="Malgun Gothic"/>
              </a:rPr>
              <a:t>문항을 보겠습니다. 첫 번째 결과가 정답인 경우는 키워드만 사용할 때 </a:t>
            </a:r>
            <a:r>
              <a:rPr sz="1200" b="0">
                <a:solidFill>
                  <a:srgbClr val="142238"/>
                </a:solidFill>
                <a:latin typeface="Times New Roman"/>
                <a:ea typeface="Times New Roman"/>
                <a:cs typeface="Times New Roman"/>
              </a:rPr>
              <a:t>28</a:t>
            </a:r>
            <a:r>
              <a:rPr sz="1200" b="0">
                <a:solidFill>
                  <a:srgbClr val="142238"/>
                </a:solidFill>
                <a:latin typeface="Malgun Gothic"/>
                <a:ea typeface="Malgun Gothic"/>
                <a:cs typeface="Malgun Gothic"/>
              </a:rPr>
              <a:t>건, 기존 </a:t>
            </a:r>
            <a:r>
              <a:rPr sz="1200" b="0">
                <a:solidFill>
                  <a:srgbClr val="142238"/>
                </a:solidFill>
                <a:latin typeface="Times New Roman"/>
                <a:ea typeface="Times New Roman"/>
                <a:cs typeface="Times New Roman"/>
              </a:rPr>
              <a:t>Qwen </a:t>
            </a:r>
            <a:r>
              <a:rPr sz="1200" b="0">
                <a:solidFill>
                  <a:srgbClr val="142238"/>
                </a:solidFill>
                <a:latin typeface="Malgun Gothic"/>
                <a:ea typeface="Malgun Gothic"/>
                <a:cs typeface="Malgun Gothic"/>
              </a:rPr>
              <a:t>결합 검색은 </a:t>
            </a:r>
            <a:r>
              <a:rPr sz="1200" b="0">
                <a:solidFill>
                  <a:srgbClr val="142238"/>
                </a:solidFill>
                <a:latin typeface="Times New Roman"/>
                <a:ea typeface="Times New Roman"/>
                <a:cs typeface="Times New Roman"/>
              </a:rPr>
              <a:t>39</a:t>
            </a:r>
            <a:r>
              <a:rPr sz="1200" b="0">
                <a:solidFill>
                  <a:srgbClr val="142238"/>
                </a:solidFill>
                <a:latin typeface="Malgun Gothic"/>
                <a:ea typeface="Malgun Gothic"/>
                <a:cs typeface="Malgun Gothic"/>
              </a:rPr>
              <a:t>건, 현재 </a:t>
            </a:r>
            <a:r>
              <a:rPr sz="1200" b="0">
                <a:solidFill>
                  <a:srgbClr val="142238"/>
                </a:solidFill>
                <a:latin typeface="Times New Roman"/>
                <a:ea typeface="Times New Roman"/>
                <a:cs typeface="Times New Roman"/>
              </a:rPr>
              <a:t>EmbeddingGemma 2 </a:t>
            </a:r>
            <a:r>
              <a:rPr sz="1200" b="0">
                <a:solidFill>
                  <a:srgbClr val="142238"/>
                </a:solidFill>
                <a:latin typeface="Malgun Gothic"/>
                <a:ea typeface="Malgun Gothic"/>
                <a:cs typeface="Malgun Gothic"/>
              </a:rPr>
              <a:t>결합 검색은 </a:t>
            </a:r>
            <a:r>
              <a:rPr sz="1200" b="0">
                <a:solidFill>
                  <a:srgbClr val="142238"/>
                </a:solidFill>
                <a:latin typeface="Times New Roman"/>
                <a:ea typeface="Times New Roman"/>
                <a:cs typeface="Times New Roman"/>
              </a:rPr>
              <a:t>35</a:t>
            </a:r>
            <a:r>
              <a:rPr sz="1200" b="0">
                <a:solidFill>
                  <a:srgbClr val="142238"/>
                </a:solidFill>
                <a:latin typeface="Malgun Gothic"/>
                <a:ea typeface="Malgun Gothic"/>
                <a:cs typeface="Malgun Gothic"/>
              </a:rPr>
              <a:t>건입니다. 현재 구성은 키워드 단독보다 </a:t>
            </a:r>
            <a:r>
              <a:rPr sz="1200" b="0">
                <a:solidFill>
                  <a:srgbClr val="142238"/>
                </a:solidFill>
                <a:latin typeface="Times New Roman"/>
                <a:ea typeface="Times New Roman"/>
                <a:cs typeface="Times New Roman"/>
              </a:rPr>
              <a:t>7</a:t>
            </a:r>
            <a:r>
              <a:rPr sz="1200" b="0">
                <a:solidFill>
                  <a:srgbClr val="142238"/>
                </a:solidFill>
                <a:latin typeface="Malgun Gothic"/>
                <a:ea typeface="Malgun Gothic"/>
                <a:cs typeface="Malgun Gothic"/>
              </a:rPr>
              <a:t>문항을 더 찾았습니다. 동시에 기존 모델이 이번 질문에서는 더 좋았다는 점도 확인했습니다. 따라서 최신 모델 교체 자체를 성과로 보지 않고, 업무 질문에 맞는 선택이 필요합니다. 이 결과는 반복 사용한 개발 질문의 검색 시험입니다. 답변 정확도나 경쟁사 대비 우위로 확대 해석하지 않습니다. 별첨에는 상위 다섯 개 포함 여부, 근거 없는 질문과 오류 사례도 함께 제시했습니다.</a:t>
            </a:r>
            <a:br>
              <a:rPr sz="1200" b="0">
                <a:solidFill>
                  <a:srgbClr val="142238"/>
                </a:solidFill>
                <a:latin typeface="Malgun Gothic"/>
                <a:ea typeface="Malgun Gothic"/>
                <a:cs typeface="Malgun Gothic"/>
              </a:rPr>
            </a:br>
            <a:br>
              <a:rPr sz="1200" b="0">
                <a:solidFill>
                  <a:srgbClr val="142238"/>
                </a:solidFill>
                <a:latin typeface="Malgun Gothic"/>
                <a:ea typeface="Malgun Gothic"/>
                <a:cs typeface="Malgun Gothic"/>
              </a:rPr>
            </a:br>
            <a:r>
              <a:rPr sz="1200" b="0">
                <a:solidFill>
                  <a:srgbClr val="142238"/>
                </a:solidFill>
                <a:latin typeface="Malgun Gothic"/>
                <a:ea typeface="Malgun Gothic"/>
                <a:cs typeface="Malgun Gothic"/>
              </a:rPr>
              <a:t>근거</a:t>
            </a:r>
            <a:br>
              <a:rPr sz="1200" b="0">
                <a:solidFill>
                  <a:srgbClr val="142238"/>
                </a:solidFill>
                <a:latin typeface="Malgun Gothic"/>
                <a:ea typeface="Malgun Gothic"/>
                <a:cs typeface="Malgun Gothic"/>
              </a:rPr>
            </a:br>
            <a:r>
              <a:rPr sz="1200" b="0">
                <a:solidFill>
                  <a:srgbClr val="142238"/>
                </a:solidFill>
                <a:latin typeface="Times New Roman"/>
                <a:ea typeface="Times New Roman"/>
                <a:cs typeface="Times New Roman"/>
              </a:rPr>
              <a:t>E2. 10</a:t>
            </a:r>
            <a:r>
              <a:rPr sz="1200" b="0">
                <a:solidFill>
                  <a:srgbClr val="142238"/>
                </a:solidFill>
                <a:latin typeface="Malgun Gothic"/>
                <a:ea typeface="Malgun Gothic"/>
                <a:cs typeface="Malgun Gothic"/>
              </a:rPr>
              <a:t>만 합성 자료 검색 비교 (</a:t>
            </a:r>
            <a:r>
              <a:rPr sz="1200" b="0">
                <a:solidFill>
                  <a:srgbClr val="142238"/>
                </a:solidFill>
                <a:latin typeface="Times New Roman"/>
                <a:ea typeface="Times New Roman"/>
                <a:cs typeface="Times New Roman"/>
              </a:rPr>
              <a:t>2026-10-07)</a:t>
            </a:r>
            <a:br>
              <a:rPr sz="1200" b="0">
                <a:solidFill>
                  <a:srgbClr val="142238"/>
                </a:solidFill>
                <a:latin typeface="Malgun Gothic"/>
                <a:ea typeface="Malgun Gothic"/>
                <a:cs typeface="Malgun Gothic"/>
              </a:rPr>
            </a:br>
            <a:r>
              <a:rPr sz="1200" b="0">
                <a:solidFill>
                  <a:srgbClr val="142238"/>
                </a:solidFill>
                <a:latin typeface="Times New Roman"/>
                <a:ea typeface="Times New Roman"/>
                <a:cs typeface="Times New Roman"/>
              </a:rPr>
              <a:t>https://github.com/pmh10401/cs-excel-rag/blob/c19a2c1710ded204aceace5ba9f682436245d181/docs/</a:t>
            </a:r>
            <a:r>
              <a:rPr sz="1200" b="0">
                <a:solidFill>
                  <a:srgbClr val="142238"/>
                </a:solidFill>
                <a:latin typeface="Malgun Gothic"/>
                <a:ea typeface="Malgun Gothic"/>
                <a:cs typeface="Malgun Gothic"/>
              </a:rPr>
              <a:t>임베딩-품질비교-</a:t>
            </a:r>
            <a:r>
              <a:rPr sz="1200" b="0">
                <a:solidFill>
                  <a:srgbClr val="142238"/>
                </a:solidFill>
                <a:latin typeface="Times New Roman"/>
                <a:ea typeface="Times New Roman"/>
                <a:cs typeface="Times New Roman"/>
              </a:rPr>
              <a:t>20261007.md</a:t>
            </a:r>
            <a:br>
              <a:rPr sz="1200" b="0">
                <a:solidFill>
                  <a:srgbClr val="142238"/>
                </a:solidFill>
                <a:latin typeface="Malgun Gothic"/>
                <a:ea typeface="Malgun Gothic"/>
                <a:cs typeface="Malgun Gothic"/>
              </a:rPr>
            </a:br>
            <a:r>
              <a:rPr sz="1200" b="0">
                <a:solidFill>
                  <a:srgbClr val="142238"/>
                </a:solidFill>
                <a:latin typeface="Times New Roman"/>
                <a:ea typeface="Times New Roman"/>
                <a:cs typeface="Times New Roman"/>
              </a:rPr>
              <a:t>50</a:t>
            </a:r>
            <a:r>
              <a:rPr sz="1200" b="0">
                <a:solidFill>
                  <a:srgbClr val="142238"/>
                </a:solidFill>
                <a:latin typeface="Malgun Gothic"/>
                <a:ea typeface="Malgun Gothic"/>
                <a:cs typeface="Malgun Gothic"/>
              </a:rPr>
              <a:t>개 고정 개발 질문 중 정답 있는 </a:t>
            </a:r>
            <a:r>
              <a:rPr sz="1200" b="0">
                <a:solidFill>
                  <a:srgbClr val="142238"/>
                </a:solidFill>
                <a:latin typeface="Times New Roman"/>
                <a:ea typeface="Times New Roman"/>
                <a:cs typeface="Times New Roman"/>
              </a:rPr>
              <a:t>44</a:t>
            </a:r>
            <a:r>
              <a:rPr sz="1200" b="0">
                <a:solidFill>
                  <a:srgbClr val="142238"/>
                </a:solidFill>
                <a:latin typeface="Malgun Gothic"/>
                <a:ea typeface="Malgun Gothic"/>
                <a:cs typeface="Malgun Gothic"/>
              </a:rPr>
              <a:t>개. 키워드 첫 정답</a:t>
            </a:r>
            <a:r>
              <a:rPr sz="1200" b="0">
                <a:solidFill>
                  <a:srgbClr val="142238"/>
                </a:solidFill>
                <a:latin typeface="Times New Roman"/>
                <a:ea typeface="Times New Roman"/>
                <a:cs typeface="Times New Roman"/>
              </a:rPr>
              <a:t>28/44, Qwen</a:t>
            </a:r>
            <a:r>
              <a:rPr sz="1200" b="0">
                <a:solidFill>
                  <a:srgbClr val="142238"/>
                </a:solidFill>
                <a:latin typeface="Malgun Gothic"/>
                <a:ea typeface="Malgun Gothic"/>
                <a:cs typeface="Malgun Gothic"/>
              </a:rPr>
              <a:t>결합</a:t>
            </a:r>
            <a:r>
              <a:rPr sz="1200" b="0">
                <a:solidFill>
                  <a:srgbClr val="142238"/>
                </a:solidFill>
                <a:latin typeface="Times New Roman"/>
                <a:ea typeface="Times New Roman"/>
                <a:cs typeface="Times New Roman"/>
              </a:rPr>
              <a:t>39/44, EmbeddingGemma 2</a:t>
            </a:r>
            <a:r>
              <a:rPr sz="1200" b="0">
                <a:solidFill>
                  <a:srgbClr val="142238"/>
                </a:solidFill>
                <a:latin typeface="Malgun Gothic"/>
                <a:ea typeface="Malgun Gothic"/>
                <a:cs typeface="Malgun Gothic"/>
              </a:rPr>
              <a:t>결합</a:t>
            </a:r>
            <a:r>
              <a:rPr sz="1200" b="0">
                <a:solidFill>
                  <a:srgbClr val="142238"/>
                </a:solidFill>
                <a:latin typeface="Times New Roman"/>
                <a:ea typeface="Times New Roman"/>
                <a:cs typeface="Times New Roman"/>
              </a:rPr>
              <a:t>35/44. </a:t>
            </a:r>
            <a:r>
              <a:rPr sz="1200" b="0">
                <a:solidFill>
                  <a:srgbClr val="142238"/>
                </a:solidFill>
                <a:latin typeface="Malgun Gothic"/>
                <a:ea typeface="Malgun Gothic"/>
                <a:cs typeface="Malgun Gothic"/>
              </a:rPr>
              <a:t>최종 답변은 평가하지 않음.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200" b="0">
                <a:solidFill>
                  <a:srgbClr val="142238"/>
                </a:solidFill>
                <a:latin typeface="Malgun Gothic"/>
                <a:ea typeface="Malgun Gothic"/>
                <a:cs typeface="Malgun Gothic"/>
              </a:rPr>
              <a:t>발표 배정 </a:t>
            </a:r>
            <a:r>
              <a:rPr sz="1200" b="0">
                <a:solidFill>
                  <a:srgbClr val="142238"/>
                </a:solidFill>
                <a:latin typeface="Times New Roman"/>
                <a:ea typeface="Times New Roman"/>
                <a:cs typeface="Times New Roman"/>
              </a:rPr>
              <a:t>55</a:t>
            </a:r>
            <a:r>
              <a:rPr sz="1200" b="0">
                <a:solidFill>
                  <a:srgbClr val="142238"/>
                </a:solidFill>
                <a:latin typeface="Malgun Gothic"/>
                <a:ea typeface="Malgun Gothic"/>
                <a:cs typeface="Malgun Gothic"/>
              </a:rPr>
              <a:t>초</a:t>
            </a:r>
            <a:br>
              <a:rPr sz="1200" b="0">
                <a:solidFill>
                  <a:srgbClr val="142238"/>
                </a:solidFill>
                <a:latin typeface="Malgun Gothic"/>
                <a:ea typeface="Malgun Gothic"/>
                <a:cs typeface="Malgun Gothic"/>
              </a:rPr>
            </a:br>
            <a:br>
              <a:rPr sz="1200" b="0">
                <a:solidFill>
                  <a:srgbClr val="142238"/>
                </a:solidFill>
                <a:latin typeface="Malgun Gothic"/>
                <a:ea typeface="Malgun Gothic"/>
                <a:cs typeface="Malgun Gothic"/>
              </a:rPr>
            </a:br>
            <a:r>
              <a:rPr sz="1200" b="0">
                <a:solidFill>
                  <a:srgbClr val="142238"/>
                </a:solidFill>
                <a:latin typeface="Malgun Gothic"/>
                <a:ea typeface="Malgun Gothic"/>
                <a:cs typeface="Malgun Gothic"/>
              </a:rPr>
              <a:t>운영을 위해서는 답변 품질뿐 아니라 중단과 동시 사용에 대한 처리가 필요합니다. 여러 파일 등록과 야간 준비는 성공 상태를 저장하고, 서버를 다시 실행하면 남은 부분부터 이어갑니다. 관련 복구 검사 </a:t>
            </a:r>
            <a:r>
              <a:rPr sz="1200" b="0">
                <a:solidFill>
                  <a:srgbClr val="142238"/>
                </a:solidFill>
                <a:latin typeface="Times New Roman"/>
                <a:ea typeface="Times New Roman"/>
                <a:cs typeface="Times New Roman"/>
              </a:rPr>
              <a:t>14</a:t>
            </a:r>
            <a:r>
              <a:rPr sz="1200" b="0">
                <a:solidFill>
                  <a:srgbClr val="142238"/>
                </a:solidFill>
                <a:latin typeface="Malgun Gothic"/>
                <a:ea typeface="Malgun Gothic"/>
                <a:cs typeface="Malgun Gothic"/>
              </a:rPr>
              <a:t>건을 통과했습니다. 자료를 정리하는 동안에도 질문을 접수하고, 검색할 때 읽은 원문을 답변이 끝날 때까지 유지하는 동시 처리 검사 </a:t>
            </a:r>
            <a:r>
              <a:rPr sz="1200" b="0">
                <a:solidFill>
                  <a:srgbClr val="142238"/>
                </a:solidFill>
                <a:latin typeface="Times New Roman"/>
                <a:ea typeface="Times New Roman"/>
                <a:cs typeface="Times New Roman"/>
              </a:rPr>
              <a:t>7</a:t>
            </a:r>
            <a:r>
              <a:rPr sz="1200" b="0">
                <a:solidFill>
                  <a:srgbClr val="142238"/>
                </a:solidFill>
                <a:latin typeface="Malgun Gothic"/>
                <a:ea typeface="Malgun Gothic"/>
                <a:cs typeface="Malgun Gothic"/>
              </a:rPr>
              <a:t>건도 통과했습니다. 이 숫자는 </a:t>
            </a:r>
            <a:r>
              <a:rPr sz="1200" b="0">
                <a:solidFill>
                  <a:srgbClr val="142238"/>
                </a:solidFill>
                <a:latin typeface="Times New Roman"/>
                <a:ea typeface="Times New Roman"/>
                <a:cs typeface="Times New Roman"/>
              </a:rPr>
              <a:t>Mac</a:t>
            </a:r>
            <a:r>
              <a:rPr sz="1200" b="0">
                <a:solidFill>
                  <a:srgbClr val="142238"/>
                </a:solidFill>
                <a:latin typeface="Malgun Gothic"/>
                <a:ea typeface="Malgun Gothic"/>
                <a:cs typeface="Malgun Gothic"/>
              </a:rPr>
              <a:t>의 모의 모델 기능 검사 건수입니다. 동시 사용자 수나 처리 속도의 실측치가 아닙니다. 실제 </a:t>
            </a:r>
            <a:r>
              <a:rPr sz="1200" b="0">
                <a:solidFill>
                  <a:srgbClr val="142238"/>
                </a:solidFill>
                <a:latin typeface="Times New Roman"/>
                <a:ea typeface="Times New Roman"/>
                <a:cs typeface="Times New Roman"/>
              </a:rPr>
              <a:t>Windows</a:t>
            </a:r>
            <a:r>
              <a:rPr sz="1200" b="0">
                <a:solidFill>
                  <a:srgbClr val="142238"/>
                </a:solidFill>
                <a:latin typeface="Malgun Gothic"/>
                <a:ea typeface="Malgun Gothic"/>
                <a:cs typeface="Malgun Gothic"/>
              </a:rPr>
              <a:t>의 </a:t>
            </a:r>
            <a:r>
              <a:rPr sz="1200" b="0">
                <a:solidFill>
                  <a:srgbClr val="142238"/>
                </a:solidFill>
                <a:latin typeface="Times New Roman"/>
                <a:ea typeface="Times New Roman"/>
                <a:cs typeface="Times New Roman"/>
              </a:rPr>
              <a:t>DRM </a:t>
            </a:r>
            <a:r>
              <a:rPr sz="1200" b="0">
                <a:solidFill>
                  <a:srgbClr val="142238"/>
                </a:solidFill>
                <a:latin typeface="Malgun Gothic"/>
                <a:ea typeface="Malgun Gothic"/>
                <a:cs typeface="Malgun Gothic"/>
              </a:rPr>
              <a:t>입력, </a:t>
            </a:r>
            <a:r>
              <a:rPr sz="1200" b="0">
                <a:solidFill>
                  <a:srgbClr val="142238"/>
                </a:solidFill>
                <a:latin typeface="Times New Roman"/>
                <a:ea typeface="Times New Roman"/>
                <a:cs typeface="Times New Roman"/>
              </a:rPr>
              <a:t>120B </a:t>
            </a:r>
            <a:r>
              <a:rPr sz="1200" b="0">
                <a:solidFill>
                  <a:srgbClr val="142238"/>
                </a:solidFill>
                <a:latin typeface="Malgun Gothic"/>
                <a:ea typeface="Malgun Gothic"/>
                <a:cs typeface="Malgun Gothic"/>
              </a:rPr>
              <a:t>모델 대기 시간, 사용자와 관리자 권한 분리는 현장 적용 전에 확인해야 합니다.</a:t>
            </a:r>
            <a:br>
              <a:rPr sz="1200" b="0">
                <a:solidFill>
                  <a:srgbClr val="142238"/>
                </a:solidFill>
                <a:latin typeface="Malgun Gothic"/>
                <a:ea typeface="Malgun Gothic"/>
                <a:cs typeface="Malgun Gothic"/>
              </a:rPr>
            </a:br>
            <a:br>
              <a:rPr sz="1200" b="0">
                <a:solidFill>
                  <a:srgbClr val="142238"/>
                </a:solidFill>
                <a:latin typeface="Malgun Gothic"/>
                <a:ea typeface="Malgun Gothic"/>
                <a:cs typeface="Malgun Gothic"/>
              </a:rPr>
            </a:br>
            <a:r>
              <a:rPr sz="1200" b="0">
                <a:solidFill>
                  <a:srgbClr val="142238"/>
                </a:solidFill>
                <a:latin typeface="Malgun Gothic"/>
                <a:ea typeface="Malgun Gothic"/>
                <a:cs typeface="Malgun Gothic"/>
              </a:rPr>
              <a:t>근거</a:t>
            </a:r>
            <a:br>
              <a:rPr sz="1200" b="0">
                <a:solidFill>
                  <a:srgbClr val="142238"/>
                </a:solidFill>
                <a:latin typeface="Malgun Gothic"/>
                <a:ea typeface="Malgun Gothic"/>
                <a:cs typeface="Malgun Gothic"/>
              </a:rPr>
            </a:br>
            <a:r>
              <a:rPr sz="1200" b="0">
                <a:solidFill>
                  <a:srgbClr val="142238"/>
                </a:solidFill>
                <a:latin typeface="Times New Roman"/>
                <a:ea typeface="Times New Roman"/>
                <a:cs typeface="Times New Roman"/>
              </a:rPr>
              <a:t>E4. </a:t>
            </a:r>
            <a:r>
              <a:rPr sz="1200" b="0">
                <a:solidFill>
                  <a:srgbClr val="142238"/>
                </a:solidFill>
                <a:latin typeface="Malgun Gothic"/>
                <a:ea typeface="Malgun Gothic"/>
                <a:cs typeface="Malgun Gothic"/>
              </a:rPr>
              <a:t>작업 복구와 동시 질문 (</a:t>
            </a:r>
            <a:r>
              <a:rPr sz="1200" b="0">
                <a:solidFill>
                  <a:srgbClr val="142238"/>
                </a:solidFill>
                <a:latin typeface="Times New Roman"/>
                <a:ea typeface="Times New Roman"/>
                <a:cs typeface="Times New Roman"/>
              </a:rPr>
              <a:t>2026-10-13)</a:t>
            </a:r>
            <a:br>
              <a:rPr sz="1200" b="0">
                <a:solidFill>
                  <a:srgbClr val="142238"/>
                </a:solidFill>
                <a:latin typeface="Malgun Gothic"/>
                <a:ea typeface="Malgun Gothic"/>
                <a:cs typeface="Malgun Gothic"/>
              </a:rPr>
            </a:br>
            <a:r>
              <a:rPr sz="1200" b="0">
                <a:solidFill>
                  <a:srgbClr val="142238"/>
                </a:solidFill>
                <a:latin typeface="Times New Roman"/>
                <a:ea typeface="Times New Roman"/>
                <a:cs typeface="Times New Roman"/>
              </a:rPr>
              <a:t>https://github.com/pmh10401/cs-excel-rag/blob/c19a2c1710ded204aceace5ba9f682436245d181/docs/</a:t>
            </a:r>
            <a:r>
              <a:rPr sz="1200" b="0">
                <a:solidFill>
                  <a:srgbClr val="142238"/>
                </a:solidFill>
                <a:latin typeface="Malgun Gothic"/>
                <a:ea typeface="Malgun Gothic"/>
                <a:cs typeface="Malgun Gothic"/>
              </a:rPr>
              <a:t>임원보고서.</a:t>
            </a:r>
            <a:r>
              <a:rPr sz="1200" b="0">
                <a:solidFill>
                  <a:srgbClr val="142238"/>
                </a:solidFill>
                <a:latin typeface="Times New Roman"/>
                <a:ea typeface="Times New Roman"/>
                <a:cs typeface="Times New Roman"/>
              </a:rPr>
              <a:t>md</a:t>
            </a:r>
            <a:br>
              <a:rPr sz="1200" b="0">
                <a:solidFill>
                  <a:srgbClr val="142238"/>
                </a:solidFill>
                <a:latin typeface="Malgun Gothic"/>
                <a:ea typeface="Malgun Gothic"/>
                <a:cs typeface="Malgun Gothic"/>
              </a:rPr>
            </a:br>
            <a:r>
              <a:rPr sz="1200" b="0">
                <a:solidFill>
                  <a:srgbClr val="142238"/>
                </a:solidFill>
                <a:latin typeface="Times New Roman"/>
                <a:ea typeface="Times New Roman"/>
                <a:cs typeface="Times New Roman"/>
              </a:rPr>
              <a:t>Mac</a:t>
            </a:r>
            <a:r>
              <a:rPr sz="1200" b="0">
                <a:solidFill>
                  <a:srgbClr val="142238"/>
                </a:solidFill>
                <a:latin typeface="Malgun Gothic"/>
                <a:ea typeface="Malgun Gothic"/>
                <a:cs typeface="Malgun Gothic"/>
              </a:rPr>
              <a:t>·모의 모델. 작업 복구</a:t>
            </a:r>
            <a:r>
              <a:rPr sz="1200" b="0">
                <a:solidFill>
                  <a:srgbClr val="142238"/>
                </a:solidFill>
                <a:latin typeface="Times New Roman"/>
                <a:ea typeface="Times New Roman"/>
                <a:cs typeface="Times New Roman"/>
              </a:rPr>
              <a:t>14</a:t>
            </a:r>
            <a:r>
              <a:rPr sz="1200" b="0">
                <a:solidFill>
                  <a:srgbClr val="142238"/>
                </a:solidFill>
                <a:latin typeface="Malgun Gothic"/>
                <a:ea typeface="Malgun Gothic"/>
                <a:cs typeface="Malgun Gothic"/>
              </a:rPr>
              <a:t>건과 동시 처리</a:t>
            </a:r>
            <a:r>
              <a:rPr sz="1200" b="0">
                <a:solidFill>
                  <a:srgbClr val="142238"/>
                </a:solidFill>
                <a:latin typeface="Times New Roman"/>
                <a:ea typeface="Times New Roman"/>
                <a:cs typeface="Times New Roman"/>
              </a:rPr>
              <a:t>7</a:t>
            </a:r>
            <a:r>
              <a:rPr sz="1200" b="0">
                <a:solidFill>
                  <a:srgbClr val="142238"/>
                </a:solidFill>
                <a:latin typeface="Malgun Gothic"/>
                <a:ea typeface="Malgun Gothic"/>
                <a:cs typeface="Malgun Gothic"/>
              </a:rPr>
              <a:t>건 통과. </a:t>
            </a:r>
            <a:r>
              <a:rPr sz="1200" b="0">
                <a:solidFill>
                  <a:srgbClr val="142238"/>
                </a:solidFill>
                <a:latin typeface="Times New Roman"/>
                <a:ea typeface="Times New Roman"/>
                <a:cs typeface="Times New Roman"/>
              </a:rPr>
              <a:t>Windows</a:t>
            </a:r>
            <a:r>
              <a:rPr sz="1200" b="0">
                <a:solidFill>
                  <a:srgbClr val="142238"/>
                </a:solidFill>
                <a:latin typeface="Malgun Gothic"/>
                <a:ea typeface="Malgun Gothic"/>
                <a:cs typeface="Malgun Gothic"/>
              </a:rPr>
              <a:t>실기기/</a:t>
            </a:r>
            <a:r>
              <a:rPr sz="1200" b="0">
                <a:solidFill>
                  <a:srgbClr val="142238"/>
                </a:solidFill>
                <a:latin typeface="Times New Roman"/>
                <a:ea typeface="Times New Roman"/>
                <a:cs typeface="Times New Roman"/>
              </a:rPr>
              <a:t>DRM </a:t>
            </a:r>
            <a:r>
              <a:rPr sz="1200" b="0">
                <a:solidFill>
                  <a:srgbClr val="142238"/>
                </a:solidFill>
                <a:latin typeface="Malgun Gothic"/>
                <a:ea typeface="Malgun Gothic"/>
                <a:cs typeface="Malgun Gothic"/>
              </a:rPr>
              <a:t>및 실제</a:t>
            </a:r>
            <a:r>
              <a:rPr sz="1200" b="0">
                <a:solidFill>
                  <a:srgbClr val="142238"/>
                </a:solidFill>
                <a:latin typeface="Times New Roman"/>
                <a:ea typeface="Times New Roman"/>
                <a:cs typeface="Times New Roman"/>
              </a:rPr>
              <a:t>120B</a:t>
            </a:r>
            <a:r>
              <a:rPr sz="1200" b="0">
                <a:solidFill>
                  <a:srgbClr val="142238"/>
                </a:solidFill>
                <a:latin typeface="Malgun Gothic"/>
                <a:ea typeface="Malgun Gothic"/>
                <a:cs typeface="Malgun Gothic"/>
              </a:rPr>
              <a:t>부하 미확인.</a:t>
            </a:r>
            <a:br>
              <a:rPr sz="1200" b="0">
                <a:solidFill>
                  <a:srgbClr val="142238"/>
                </a:solidFill>
                <a:latin typeface="Malgun Gothic"/>
                <a:ea typeface="Malgun Gothic"/>
                <a:cs typeface="Malgun Gothic"/>
              </a:rPr>
            </a:br>
            <a:br>
              <a:rPr sz="1200" b="0">
                <a:solidFill>
                  <a:srgbClr val="142238"/>
                </a:solidFill>
                <a:latin typeface="Malgun Gothic"/>
                <a:ea typeface="Malgun Gothic"/>
                <a:cs typeface="Malgun Gothic"/>
              </a:rPr>
            </a:br>
            <a:r>
              <a:rPr sz="1200" b="0">
                <a:solidFill>
                  <a:srgbClr val="142238"/>
                </a:solidFill>
                <a:latin typeface="Times New Roman"/>
                <a:ea typeface="Times New Roman"/>
                <a:cs typeface="Times New Roman"/>
              </a:rPr>
              <a:t>E6. </a:t>
            </a:r>
            <a:r>
              <a:rPr sz="1200" b="0">
                <a:solidFill>
                  <a:srgbClr val="142238"/>
                </a:solidFill>
                <a:latin typeface="Malgun Gothic"/>
                <a:ea typeface="Malgun Gothic"/>
                <a:cs typeface="Malgun Gothic"/>
              </a:rPr>
              <a:t>제품화 목표와 남은 검증 (</a:t>
            </a:r>
            <a:r>
              <a:rPr sz="1200" b="0">
                <a:solidFill>
                  <a:srgbClr val="142238"/>
                </a:solidFill>
                <a:latin typeface="Times New Roman"/>
                <a:ea typeface="Times New Roman"/>
                <a:cs typeface="Times New Roman"/>
              </a:rPr>
              <a:t>2026-10-13)</a:t>
            </a:r>
            <a:br>
              <a:rPr sz="1200" b="0">
                <a:solidFill>
                  <a:srgbClr val="142238"/>
                </a:solidFill>
                <a:latin typeface="Malgun Gothic"/>
                <a:ea typeface="Malgun Gothic"/>
                <a:cs typeface="Malgun Gothic"/>
              </a:rPr>
            </a:br>
            <a:r>
              <a:rPr sz="1200" b="0">
                <a:solidFill>
                  <a:srgbClr val="142238"/>
                </a:solidFill>
                <a:latin typeface="Times New Roman"/>
                <a:ea typeface="Times New Roman"/>
                <a:cs typeface="Times New Roman"/>
              </a:rPr>
              <a:t>https://github.com/pmh10401/cs-excel-rag/blob/c19a2c1710ded204aceace5ba9f682436245d181/docs/</a:t>
            </a:r>
            <a:r>
              <a:rPr sz="1200" b="0">
                <a:solidFill>
                  <a:srgbClr val="142238"/>
                </a:solidFill>
                <a:latin typeface="Malgun Gothic"/>
                <a:ea typeface="Malgun Gothic"/>
                <a:cs typeface="Malgun Gothic"/>
              </a:rPr>
              <a:t>제품화-설계-</a:t>
            </a:r>
            <a:r>
              <a:rPr sz="1200" b="0">
                <a:solidFill>
                  <a:srgbClr val="142238"/>
                </a:solidFill>
                <a:latin typeface="Times New Roman"/>
                <a:ea typeface="Times New Roman"/>
                <a:cs typeface="Times New Roman"/>
              </a:rPr>
              <a:t>20261013.md</a:t>
            </a:r>
            <a:br>
              <a:rPr sz="1200" b="0">
                <a:solidFill>
                  <a:srgbClr val="142238"/>
                </a:solidFill>
                <a:latin typeface="Malgun Gothic"/>
                <a:ea typeface="Malgun Gothic"/>
                <a:cs typeface="Malgun Gothic"/>
              </a:rPr>
            </a:br>
            <a:r>
              <a:rPr sz="1200" b="0">
                <a:solidFill>
                  <a:srgbClr val="142238"/>
                </a:solidFill>
                <a:latin typeface="Times New Roman"/>
                <a:ea typeface="Times New Roman"/>
                <a:cs typeface="Times New Roman"/>
              </a:rPr>
              <a:t>Windows </a:t>
            </a:r>
            <a:r>
              <a:rPr sz="1200" b="0">
                <a:solidFill>
                  <a:srgbClr val="142238"/>
                </a:solidFill>
                <a:latin typeface="Malgun Gothic"/>
                <a:ea typeface="Malgun Gothic"/>
                <a:cs typeface="Malgun Gothic"/>
              </a:rPr>
              <a:t>사내서버+여러브라우저 목표. 사용자·관리자권한,운영</a:t>
            </a:r>
            <a:r>
              <a:rPr sz="1200" b="0">
                <a:solidFill>
                  <a:srgbClr val="142238"/>
                </a:solidFill>
                <a:latin typeface="Times New Roman"/>
                <a:ea typeface="Times New Roman"/>
                <a:cs typeface="Times New Roman"/>
              </a:rPr>
              <a:t>API,</a:t>
            </a:r>
            <a:r>
              <a:rPr sz="1200" b="0">
                <a:solidFill>
                  <a:srgbClr val="142238"/>
                </a:solidFill>
                <a:latin typeface="Malgun Gothic"/>
                <a:ea typeface="Malgun Gothic"/>
                <a:cs typeface="Malgun Gothic"/>
              </a:rPr>
              <a:t>현장정확도,실제부하 확인 필요. 문서 최초설계의 후속범위 중 동시질문은</a:t>
            </a:r>
            <a:r>
              <a:rPr sz="1200" b="0">
                <a:solidFill>
                  <a:srgbClr val="142238"/>
                </a:solidFill>
                <a:latin typeface="Times New Roman"/>
                <a:ea typeface="Times New Roman"/>
                <a:cs typeface="Times New Roman"/>
              </a:rPr>
              <a:t>E4</a:t>
            </a:r>
            <a:r>
              <a:rPr sz="1200" b="0">
                <a:solidFill>
                  <a:srgbClr val="142238"/>
                </a:solidFill>
                <a:latin typeface="Malgun Gothic"/>
                <a:ea typeface="Malgun Gothic"/>
                <a:cs typeface="Malgun Gothic"/>
              </a:rPr>
              <a:t>로 상태갱신.</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200" b="0">
                <a:solidFill>
                  <a:srgbClr val="142238"/>
                </a:solidFill>
                <a:latin typeface="Malgun Gothic"/>
                <a:ea typeface="Malgun Gothic"/>
                <a:cs typeface="Malgun Gothic"/>
              </a:rPr>
              <a:t>발표 배정 </a:t>
            </a:r>
            <a:r>
              <a:rPr sz="1200" b="0">
                <a:solidFill>
                  <a:srgbClr val="142238"/>
                </a:solidFill>
                <a:latin typeface="Times New Roman"/>
                <a:ea typeface="Times New Roman"/>
                <a:cs typeface="Times New Roman"/>
              </a:rPr>
              <a:t>60</a:t>
            </a:r>
            <a:r>
              <a:rPr sz="1200" b="0">
                <a:solidFill>
                  <a:srgbClr val="142238"/>
                </a:solidFill>
                <a:latin typeface="Malgun Gothic"/>
                <a:ea typeface="Malgun Gothic"/>
                <a:cs typeface="Malgun Gothic"/>
              </a:rPr>
              <a:t>초</a:t>
            </a:r>
            <a:br>
              <a:rPr sz="1200" b="0">
                <a:solidFill>
                  <a:srgbClr val="142238"/>
                </a:solidFill>
                <a:latin typeface="Malgun Gothic"/>
                <a:ea typeface="Malgun Gothic"/>
                <a:cs typeface="Malgun Gothic"/>
              </a:rPr>
            </a:br>
            <a:br>
              <a:rPr sz="1200" b="0">
                <a:solidFill>
                  <a:srgbClr val="142238"/>
                </a:solidFill>
                <a:latin typeface="Malgun Gothic"/>
                <a:ea typeface="Malgun Gothic"/>
                <a:cs typeface="Malgun Gothic"/>
              </a:rPr>
            </a:br>
            <a:r>
              <a:rPr sz="1200" b="0">
                <a:solidFill>
                  <a:srgbClr val="142238"/>
                </a:solidFill>
                <a:latin typeface="Malgun Gothic"/>
                <a:ea typeface="Malgun Gothic"/>
                <a:cs typeface="Malgun Gothic"/>
              </a:rPr>
              <a:t>경영 기여는 기대효과와 측정 결과를 구분하겠습니다. 우선 한 설비군에서 개발에 쓰지 않은 질문 </a:t>
            </a:r>
            <a:r>
              <a:rPr sz="1200" b="0">
                <a:solidFill>
                  <a:srgbClr val="142238"/>
                </a:solidFill>
                <a:latin typeface="Times New Roman"/>
                <a:ea typeface="Times New Roman"/>
                <a:cs typeface="Times New Roman"/>
              </a:rPr>
              <a:t>50</a:t>
            </a:r>
            <a:r>
              <a:rPr sz="1200" b="0">
                <a:solidFill>
                  <a:srgbClr val="142238"/>
                </a:solidFill>
                <a:latin typeface="Malgun Gothic"/>
                <a:ea typeface="Malgun Gothic"/>
                <a:cs typeface="Malgun Gothic"/>
              </a:rPr>
              <a:t>건을 담당자가 판정하는 시범 적용을 제안합니다. 같은 과제에서 기존 </a:t>
            </a:r>
            <a:r>
              <a:rPr sz="1200" b="0">
                <a:solidFill>
                  <a:srgbClr val="142238"/>
                </a:solidFill>
                <a:latin typeface="Times New Roman"/>
                <a:ea typeface="Times New Roman"/>
                <a:cs typeface="Times New Roman"/>
              </a:rPr>
              <a:t>Excel </a:t>
            </a:r>
            <a:r>
              <a:rPr sz="1200" b="0">
                <a:solidFill>
                  <a:srgbClr val="142238"/>
                </a:solidFill>
                <a:latin typeface="Malgun Gothic"/>
                <a:ea typeface="Malgun Gothic"/>
                <a:cs typeface="Malgun Gothic"/>
              </a:rPr>
              <a:t>검색과 서비스 사용 시간을 비교하고, 상위 다섯 개 안에 정답이 있는지와 잘못된 조치를 안내했는지를 함께 보겠습니다. 원인이나 결과가 없는 질문에서 무리하게 답하는지도 확인합니다. 이후 다른 설비군으로 나누어 성능이 유지되는지 확인해야 확산을 판단할 수 있습니다. 절감 효과는 실제 조회 횟수와 측정한 건당 절감 시간으로 산출하겠습니다. 아직 측정하지 않은 비용 절감률이나 고장 감소율을 성과로 제시하지 않겠습니다.</a:t>
            </a:r>
            <a:br>
              <a:rPr sz="1200" b="0">
                <a:solidFill>
                  <a:srgbClr val="142238"/>
                </a:solidFill>
                <a:latin typeface="Malgun Gothic"/>
                <a:ea typeface="Malgun Gothic"/>
                <a:cs typeface="Malgun Gothic"/>
              </a:rPr>
            </a:br>
            <a:br>
              <a:rPr sz="1200" b="0">
                <a:solidFill>
                  <a:srgbClr val="142238"/>
                </a:solidFill>
                <a:latin typeface="Malgun Gothic"/>
                <a:ea typeface="Malgun Gothic"/>
                <a:cs typeface="Malgun Gothic"/>
              </a:rPr>
            </a:br>
            <a:r>
              <a:rPr sz="1200" b="0">
                <a:solidFill>
                  <a:srgbClr val="142238"/>
                </a:solidFill>
                <a:latin typeface="Malgun Gothic"/>
                <a:ea typeface="Malgun Gothic"/>
                <a:cs typeface="Malgun Gothic"/>
              </a:rPr>
              <a:t>근거</a:t>
            </a:r>
            <a:br>
              <a:rPr sz="1200" b="0">
                <a:solidFill>
                  <a:srgbClr val="142238"/>
                </a:solidFill>
                <a:latin typeface="Malgun Gothic"/>
                <a:ea typeface="Malgun Gothic"/>
                <a:cs typeface="Malgun Gothic"/>
              </a:rPr>
            </a:br>
            <a:r>
              <a:rPr sz="1200" b="0">
                <a:solidFill>
                  <a:srgbClr val="142238"/>
                </a:solidFill>
                <a:latin typeface="Times New Roman"/>
                <a:ea typeface="Times New Roman"/>
                <a:cs typeface="Times New Roman"/>
              </a:rPr>
              <a:t>E6. </a:t>
            </a:r>
            <a:r>
              <a:rPr sz="1200" b="0">
                <a:solidFill>
                  <a:srgbClr val="142238"/>
                </a:solidFill>
                <a:latin typeface="Malgun Gothic"/>
                <a:ea typeface="Malgun Gothic"/>
                <a:cs typeface="Malgun Gothic"/>
              </a:rPr>
              <a:t>제품화 목표와 남은 검증 (</a:t>
            </a:r>
            <a:r>
              <a:rPr sz="1200" b="0">
                <a:solidFill>
                  <a:srgbClr val="142238"/>
                </a:solidFill>
                <a:latin typeface="Times New Roman"/>
                <a:ea typeface="Times New Roman"/>
                <a:cs typeface="Times New Roman"/>
              </a:rPr>
              <a:t>2026-10-13)</a:t>
            </a:r>
            <a:br>
              <a:rPr sz="1200" b="0">
                <a:solidFill>
                  <a:srgbClr val="142238"/>
                </a:solidFill>
                <a:latin typeface="Malgun Gothic"/>
                <a:ea typeface="Malgun Gothic"/>
                <a:cs typeface="Malgun Gothic"/>
              </a:rPr>
            </a:br>
            <a:r>
              <a:rPr sz="1200" b="0">
                <a:solidFill>
                  <a:srgbClr val="142238"/>
                </a:solidFill>
                <a:latin typeface="Times New Roman"/>
                <a:ea typeface="Times New Roman"/>
                <a:cs typeface="Times New Roman"/>
              </a:rPr>
              <a:t>https://github.com/pmh10401/cs-excel-rag/blob/c19a2c1710ded204aceace5ba9f682436245d181/docs/</a:t>
            </a:r>
            <a:r>
              <a:rPr sz="1200" b="0">
                <a:solidFill>
                  <a:srgbClr val="142238"/>
                </a:solidFill>
                <a:latin typeface="Malgun Gothic"/>
                <a:ea typeface="Malgun Gothic"/>
                <a:cs typeface="Malgun Gothic"/>
              </a:rPr>
              <a:t>제품화-설계-</a:t>
            </a:r>
            <a:r>
              <a:rPr sz="1200" b="0">
                <a:solidFill>
                  <a:srgbClr val="142238"/>
                </a:solidFill>
                <a:latin typeface="Times New Roman"/>
                <a:ea typeface="Times New Roman"/>
                <a:cs typeface="Times New Roman"/>
              </a:rPr>
              <a:t>20261013.md</a:t>
            </a:r>
            <a:br>
              <a:rPr sz="1200" b="0">
                <a:solidFill>
                  <a:srgbClr val="142238"/>
                </a:solidFill>
                <a:latin typeface="Malgun Gothic"/>
                <a:ea typeface="Malgun Gothic"/>
                <a:cs typeface="Malgun Gothic"/>
              </a:rPr>
            </a:br>
            <a:r>
              <a:rPr sz="1200" b="0">
                <a:solidFill>
                  <a:srgbClr val="142238"/>
                </a:solidFill>
                <a:latin typeface="Times New Roman"/>
                <a:ea typeface="Times New Roman"/>
                <a:cs typeface="Times New Roman"/>
              </a:rPr>
              <a:t>Windows </a:t>
            </a:r>
            <a:r>
              <a:rPr sz="1200" b="0">
                <a:solidFill>
                  <a:srgbClr val="142238"/>
                </a:solidFill>
                <a:latin typeface="Malgun Gothic"/>
                <a:ea typeface="Malgun Gothic"/>
                <a:cs typeface="Malgun Gothic"/>
              </a:rPr>
              <a:t>사내서버+여러브라우저 목표. 사용자·관리자권한,운영</a:t>
            </a:r>
            <a:r>
              <a:rPr sz="1200" b="0">
                <a:solidFill>
                  <a:srgbClr val="142238"/>
                </a:solidFill>
                <a:latin typeface="Times New Roman"/>
                <a:ea typeface="Times New Roman"/>
                <a:cs typeface="Times New Roman"/>
              </a:rPr>
              <a:t>API,</a:t>
            </a:r>
            <a:r>
              <a:rPr sz="1200" b="0">
                <a:solidFill>
                  <a:srgbClr val="142238"/>
                </a:solidFill>
                <a:latin typeface="Malgun Gothic"/>
                <a:ea typeface="Malgun Gothic"/>
                <a:cs typeface="Malgun Gothic"/>
              </a:rPr>
              <a:t>현장정확도,실제부하 확인 필요. 문서 최초설계의 후속범위 중 동시질문은</a:t>
            </a:r>
            <a:r>
              <a:rPr sz="1200" b="0">
                <a:solidFill>
                  <a:srgbClr val="142238"/>
                </a:solidFill>
                <a:latin typeface="Times New Roman"/>
                <a:ea typeface="Times New Roman"/>
                <a:cs typeface="Times New Roman"/>
              </a:rPr>
              <a:t>E4</a:t>
            </a:r>
            <a:r>
              <a:rPr sz="1200" b="0">
                <a:solidFill>
                  <a:srgbClr val="142238"/>
                </a:solidFill>
                <a:latin typeface="Malgun Gothic"/>
                <a:ea typeface="Malgun Gothic"/>
                <a:cs typeface="Malgun Gothic"/>
              </a:rPr>
              <a:t>로 상태갱신.</a:t>
            </a:r>
            <a:br>
              <a:rPr sz="1200" b="0">
                <a:solidFill>
                  <a:srgbClr val="142238"/>
                </a:solidFill>
                <a:latin typeface="Malgun Gothic"/>
                <a:ea typeface="Malgun Gothic"/>
                <a:cs typeface="Malgun Gothic"/>
              </a:rPr>
            </a:br>
            <a:br>
              <a:rPr sz="1200" b="0">
                <a:solidFill>
                  <a:srgbClr val="142238"/>
                </a:solidFill>
                <a:latin typeface="Malgun Gothic"/>
                <a:ea typeface="Malgun Gothic"/>
                <a:cs typeface="Malgun Gothic"/>
              </a:rPr>
            </a:br>
            <a:r>
              <a:rPr sz="1200" b="0">
                <a:solidFill>
                  <a:srgbClr val="142238"/>
                </a:solidFill>
                <a:latin typeface="Times New Roman"/>
                <a:ea typeface="Times New Roman"/>
                <a:cs typeface="Times New Roman"/>
              </a:rPr>
              <a:t>E2. 10</a:t>
            </a:r>
            <a:r>
              <a:rPr sz="1200" b="0">
                <a:solidFill>
                  <a:srgbClr val="142238"/>
                </a:solidFill>
                <a:latin typeface="Malgun Gothic"/>
                <a:ea typeface="Malgun Gothic"/>
                <a:cs typeface="Malgun Gothic"/>
              </a:rPr>
              <a:t>만 합성 자료 검색 비교 (</a:t>
            </a:r>
            <a:r>
              <a:rPr sz="1200" b="0">
                <a:solidFill>
                  <a:srgbClr val="142238"/>
                </a:solidFill>
                <a:latin typeface="Times New Roman"/>
                <a:ea typeface="Times New Roman"/>
                <a:cs typeface="Times New Roman"/>
              </a:rPr>
              <a:t>2026-10-07)</a:t>
            </a:r>
            <a:br>
              <a:rPr sz="1200" b="0">
                <a:solidFill>
                  <a:srgbClr val="142238"/>
                </a:solidFill>
                <a:latin typeface="Malgun Gothic"/>
                <a:ea typeface="Malgun Gothic"/>
                <a:cs typeface="Malgun Gothic"/>
              </a:rPr>
            </a:br>
            <a:r>
              <a:rPr sz="1200" b="0">
                <a:solidFill>
                  <a:srgbClr val="142238"/>
                </a:solidFill>
                <a:latin typeface="Times New Roman"/>
                <a:ea typeface="Times New Roman"/>
                <a:cs typeface="Times New Roman"/>
              </a:rPr>
              <a:t>https://github.com/pmh10401/cs-excel-rag/blob/c19a2c1710ded204aceace5ba9f682436245d181/docs/</a:t>
            </a:r>
            <a:r>
              <a:rPr sz="1200" b="0">
                <a:solidFill>
                  <a:srgbClr val="142238"/>
                </a:solidFill>
                <a:latin typeface="Malgun Gothic"/>
                <a:ea typeface="Malgun Gothic"/>
                <a:cs typeface="Malgun Gothic"/>
              </a:rPr>
              <a:t>임베딩-품질비교-</a:t>
            </a:r>
            <a:r>
              <a:rPr sz="1200" b="0">
                <a:solidFill>
                  <a:srgbClr val="142238"/>
                </a:solidFill>
                <a:latin typeface="Times New Roman"/>
                <a:ea typeface="Times New Roman"/>
                <a:cs typeface="Times New Roman"/>
              </a:rPr>
              <a:t>20261007.md</a:t>
            </a:r>
            <a:br>
              <a:rPr sz="1200" b="0">
                <a:solidFill>
                  <a:srgbClr val="142238"/>
                </a:solidFill>
                <a:latin typeface="Malgun Gothic"/>
                <a:ea typeface="Malgun Gothic"/>
                <a:cs typeface="Malgun Gothic"/>
              </a:rPr>
            </a:br>
            <a:r>
              <a:rPr sz="1200" b="0">
                <a:solidFill>
                  <a:srgbClr val="142238"/>
                </a:solidFill>
                <a:latin typeface="Times New Roman"/>
                <a:ea typeface="Times New Roman"/>
                <a:cs typeface="Times New Roman"/>
              </a:rPr>
              <a:t>50</a:t>
            </a:r>
            <a:r>
              <a:rPr sz="1200" b="0">
                <a:solidFill>
                  <a:srgbClr val="142238"/>
                </a:solidFill>
                <a:latin typeface="Malgun Gothic"/>
                <a:ea typeface="Malgun Gothic"/>
                <a:cs typeface="Malgun Gothic"/>
              </a:rPr>
              <a:t>개 고정 개발 질문 중 정답 있는 </a:t>
            </a:r>
            <a:r>
              <a:rPr sz="1200" b="0">
                <a:solidFill>
                  <a:srgbClr val="142238"/>
                </a:solidFill>
                <a:latin typeface="Times New Roman"/>
                <a:ea typeface="Times New Roman"/>
                <a:cs typeface="Times New Roman"/>
              </a:rPr>
              <a:t>44</a:t>
            </a:r>
            <a:r>
              <a:rPr sz="1200" b="0">
                <a:solidFill>
                  <a:srgbClr val="142238"/>
                </a:solidFill>
                <a:latin typeface="Malgun Gothic"/>
                <a:ea typeface="Malgun Gothic"/>
                <a:cs typeface="Malgun Gothic"/>
              </a:rPr>
              <a:t>개. 키워드 첫 정답</a:t>
            </a:r>
            <a:r>
              <a:rPr sz="1200" b="0">
                <a:solidFill>
                  <a:srgbClr val="142238"/>
                </a:solidFill>
                <a:latin typeface="Times New Roman"/>
                <a:ea typeface="Times New Roman"/>
                <a:cs typeface="Times New Roman"/>
              </a:rPr>
              <a:t>28/44, Qwen</a:t>
            </a:r>
            <a:r>
              <a:rPr sz="1200" b="0">
                <a:solidFill>
                  <a:srgbClr val="142238"/>
                </a:solidFill>
                <a:latin typeface="Malgun Gothic"/>
                <a:ea typeface="Malgun Gothic"/>
                <a:cs typeface="Malgun Gothic"/>
              </a:rPr>
              <a:t>결합</a:t>
            </a:r>
            <a:r>
              <a:rPr sz="1200" b="0">
                <a:solidFill>
                  <a:srgbClr val="142238"/>
                </a:solidFill>
                <a:latin typeface="Times New Roman"/>
                <a:ea typeface="Times New Roman"/>
                <a:cs typeface="Times New Roman"/>
              </a:rPr>
              <a:t>39/44, EmbeddingGemma 2</a:t>
            </a:r>
            <a:r>
              <a:rPr sz="1200" b="0">
                <a:solidFill>
                  <a:srgbClr val="142238"/>
                </a:solidFill>
                <a:latin typeface="Malgun Gothic"/>
                <a:ea typeface="Malgun Gothic"/>
                <a:cs typeface="Malgun Gothic"/>
              </a:rPr>
              <a:t>결합</a:t>
            </a:r>
            <a:r>
              <a:rPr sz="1200" b="0">
                <a:solidFill>
                  <a:srgbClr val="142238"/>
                </a:solidFill>
                <a:latin typeface="Times New Roman"/>
                <a:ea typeface="Times New Roman"/>
                <a:cs typeface="Times New Roman"/>
              </a:rPr>
              <a:t>35/44. </a:t>
            </a:r>
            <a:r>
              <a:rPr sz="1200" b="0">
                <a:solidFill>
                  <a:srgbClr val="142238"/>
                </a:solidFill>
                <a:latin typeface="Malgun Gothic"/>
                <a:ea typeface="Malgun Gothic"/>
                <a:cs typeface="Malgun Gothic"/>
              </a:rPr>
              <a:t>최종 답변은 평가하지 않음.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200" b="0">
                <a:solidFill>
                  <a:srgbClr val="142238"/>
                </a:solidFill>
                <a:latin typeface="Malgun Gothic"/>
                <a:ea typeface="Malgun Gothic"/>
                <a:cs typeface="Malgun Gothic"/>
              </a:rPr>
              <a:t>발표 배정 </a:t>
            </a:r>
            <a:r>
              <a:rPr sz="1200" b="0">
                <a:solidFill>
                  <a:srgbClr val="142238"/>
                </a:solidFill>
                <a:latin typeface="Times New Roman"/>
                <a:ea typeface="Times New Roman"/>
                <a:cs typeface="Times New Roman"/>
              </a:rPr>
              <a:t>45</a:t>
            </a:r>
            <a:r>
              <a:rPr sz="1200" b="0">
                <a:solidFill>
                  <a:srgbClr val="142238"/>
                </a:solidFill>
                <a:latin typeface="Malgun Gothic"/>
                <a:ea typeface="Malgun Gothic"/>
                <a:cs typeface="Malgun Gothic"/>
              </a:rPr>
              <a:t>초</a:t>
            </a:r>
            <a:br>
              <a:rPr sz="1200" b="0">
                <a:solidFill>
                  <a:srgbClr val="142238"/>
                </a:solidFill>
                <a:latin typeface="Malgun Gothic"/>
                <a:ea typeface="Malgun Gothic"/>
                <a:cs typeface="Malgun Gothic"/>
              </a:rPr>
            </a:br>
            <a:br>
              <a:rPr sz="1200" b="0">
                <a:solidFill>
                  <a:srgbClr val="142238"/>
                </a:solidFill>
                <a:latin typeface="Malgun Gothic"/>
                <a:ea typeface="Malgun Gothic"/>
                <a:cs typeface="Malgun Gothic"/>
              </a:rPr>
            </a:br>
            <a:r>
              <a:rPr sz="1200" b="0">
                <a:solidFill>
                  <a:srgbClr val="142238"/>
                </a:solidFill>
                <a:latin typeface="Malgun Gothic"/>
                <a:ea typeface="Malgun Gothic"/>
                <a:cs typeface="Malgun Gothic"/>
              </a:rPr>
              <a:t>정리하겠습니다. 이 서비스는 한국어 문제 현상으로 과거 사례를 찾고, 실제 원문 셀을 확인하며 조치 이력을 재사용하도록 돕습니다. 합성 자료에서는 키워드 단독보다 관련 사례를 더 찾는 결과를 확인했고, 작업 복구와 동시 질문 기능을 검증했습니다. 남은 판단은 현장에 대한 것입니다. 시범 설비군과 평가 담당자를 정해 실제 조치 정확성과 탐색 시간을 측정하고, </a:t>
            </a:r>
            <a:r>
              <a:rPr sz="1200" b="0">
                <a:solidFill>
                  <a:srgbClr val="142238"/>
                </a:solidFill>
                <a:latin typeface="Times New Roman"/>
                <a:ea typeface="Times New Roman"/>
                <a:cs typeface="Times New Roman"/>
              </a:rPr>
              <a:t>Windows </a:t>
            </a:r>
            <a:r>
              <a:rPr sz="1200" b="0">
                <a:solidFill>
                  <a:srgbClr val="142238"/>
                </a:solidFill>
                <a:latin typeface="Malgun Gothic"/>
                <a:ea typeface="Malgun Gothic"/>
                <a:cs typeface="Malgun Gothic"/>
              </a:rPr>
              <a:t>다중 사용자 운영을 확인하겠습니다. 그 근거로 양산 적용과 타 설비 확산 여부를 판단하겠습니다. 감사합니다.</a:t>
            </a:r>
            <a:br>
              <a:rPr sz="1200" b="0">
                <a:solidFill>
                  <a:srgbClr val="142238"/>
                </a:solidFill>
                <a:latin typeface="Malgun Gothic"/>
                <a:ea typeface="Malgun Gothic"/>
                <a:cs typeface="Malgun Gothic"/>
              </a:rPr>
            </a:br>
            <a:br>
              <a:rPr sz="1200" b="0">
                <a:solidFill>
                  <a:srgbClr val="142238"/>
                </a:solidFill>
                <a:latin typeface="Malgun Gothic"/>
                <a:ea typeface="Malgun Gothic"/>
                <a:cs typeface="Malgun Gothic"/>
              </a:rPr>
            </a:br>
            <a:r>
              <a:rPr sz="1200" b="0">
                <a:solidFill>
                  <a:srgbClr val="142238"/>
                </a:solidFill>
                <a:latin typeface="Malgun Gothic"/>
                <a:ea typeface="Malgun Gothic"/>
                <a:cs typeface="Malgun Gothic"/>
              </a:rPr>
              <a:t>근거</a:t>
            </a:r>
            <a:br>
              <a:rPr sz="1200" b="0">
                <a:solidFill>
                  <a:srgbClr val="142238"/>
                </a:solidFill>
                <a:latin typeface="Malgun Gothic"/>
                <a:ea typeface="Malgun Gothic"/>
                <a:cs typeface="Malgun Gothic"/>
              </a:rPr>
            </a:br>
            <a:r>
              <a:rPr sz="1200" b="0">
                <a:solidFill>
                  <a:srgbClr val="142238"/>
                </a:solidFill>
                <a:latin typeface="Times New Roman"/>
                <a:ea typeface="Times New Roman"/>
                <a:cs typeface="Times New Roman"/>
              </a:rPr>
              <a:t>E1. </a:t>
            </a:r>
            <a:r>
              <a:rPr sz="1200" b="0">
                <a:solidFill>
                  <a:srgbClr val="142238"/>
                </a:solidFill>
                <a:latin typeface="Malgun Gothic"/>
                <a:ea typeface="Malgun Gothic"/>
                <a:cs typeface="Malgun Gothic"/>
              </a:rPr>
              <a:t>제품 구조와 원문 보존 (</a:t>
            </a:r>
            <a:r>
              <a:rPr sz="1200" b="0">
                <a:solidFill>
                  <a:srgbClr val="142238"/>
                </a:solidFill>
                <a:latin typeface="Times New Roman"/>
                <a:ea typeface="Times New Roman"/>
                <a:cs typeface="Times New Roman"/>
              </a:rPr>
              <a:t>2026-10-13)</a:t>
            </a:r>
            <a:br>
              <a:rPr sz="1200" b="0">
                <a:solidFill>
                  <a:srgbClr val="142238"/>
                </a:solidFill>
                <a:latin typeface="Malgun Gothic"/>
                <a:ea typeface="Malgun Gothic"/>
                <a:cs typeface="Malgun Gothic"/>
              </a:rPr>
            </a:br>
            <a:r>
              <a:rPr sz="1200" b="0">
                <a:solidFill>
                  <a:srgbClr val="142238"/>
                </a:solidFill>
                <a:latin typeface="Times New Roman"/>
                <a:ea typeface="Times New Roman"/>
                <a:cs typeface="Times New Roman"/>
              </a:rPr>
              <a:t>https://github.com/pmh10401/cs-excel-rag/blob/c19a2c1710ded204aceace5ba9f682436245d181/docs/</a:t>
            </a:r>
            <a:r>
              <a:rPr sz="1200" b="0">
                <a:solidFill>
                  <a:srgbClr val="142238"/>
                </a:solidFill>
                <a:latin typeface="Malgun Gothic"/>
                <a:ea typeface="Malgun Gothic"/>
                <a:cs typeface="Malgun Gothic"/>
              </a:rPr>
              <a:t>전체-프로그램-플로우.</a:t>
            </a:r>
            <a:r>
              <a:rPr sz="1200" b="0">
                <a:solidFill>
                  <a:srgbClr val="142238"/>
                </a:solidFill>
                <a:latin typeface="Times New Roman"/>
                <a:ea typeface="Times New Roman"/>
                <a:cs typeface="Times New Roman"/>
              </a:rPr>
              <a:t>md</a:t>
            </a:r>
            <a:br>
              <a:rPr sz="1200" b="0">
                <a:solidFill>
                  <a:srgbClr val="142238"/>
                </a:solidFill>
                <a:latin typeface="Malgun Gothic"/>
                <a:ea typeface="Malgun Gothic"/>
                <a:cs typeface="Malgun Gothic"/>
              </a:rPr>
            </a:br>
            <a:r>
              <a:rPr sz="1200" b="0">
                <a:solidFill>
                  <a:srgbClr val="142238"/>
                </a:solidFill>
                <a:latin typeface="Malgun Gothic"/>
                <a:ea typeface="Malgun Gothic"/>
                <a:cs typeface="Malgun Gothic"/>
              </a:rPr>
              <a:t>현 구조, 원문·상세·셀 인용, 선택적 번역·재정렬. 실제 정확도나 특허 신규성 증거가 아님.</a:t>
            </a:r>
            <a:br>
              <a:rPr sz="1200" b="0">
                <a:solidFill>
                  <a:srgbClr val="142238"/>
                </a:solidFill>
                <a:latin typeface="Malgun Gothic"/>
                <a:ea typeface="Malgun Gothic"/>
                <a:cs typeface="Malgun Gothic"/>
              </a:rPr>
            </a:br>
            <a:br>
              <a:rPr sz="1200" b="0">
                <a:solidFill>
                  <a:srgbClr val="142238"/>
                </a:solidFill>
                <a:latin typeface="Malgun Gothic"/>
                <a:ea typeface="Malgun Gothic"/>
                <a:cs typeface="Malgun Gothic"/>
              </a:rPr>
            </a:br>
            <a:r>
              <a:rPr sz="1200" b="0">
                <a:solidFill>
                  <a:srgbClr val="142238"/>
                </a:solidFill>
                <a:latin typeface="Times New Roman"/>
                <a:ea typeface="Times New Roman"/>
                <a:cs typeface="Times New Roman"/>
              </a:rPr>
              <a:t>E2. 10</a:t>
            </a:r>
            <a:r>
              <a:rPr sz="1200" b="0">
                <a:solidFill>
                  <a:srgbClr val="142238"/>
                </a:solidFill>
                <a:latin typeface="Malgun Gothic"/>
                <a:ea typeface="Malgun Gothic"/>
                <a:cs typeface="Malgun Gothic"/>
              </a:rPr>
              <a:t>만 합성 자료 검색 비교 (</a:t>
            </a:r>
            <a:r>
              <a:rPr sz="1200" b="0">
                <a:solidFill>
                  <a:srgbClr val="142238"/>
                </a:solidFill>
                <a:latin typeface="Times New Roman"/>
                <a:ea typeface="Times New Roman"/>
                <a:cs typeface="Times New Roman"/>
              </a:rPr>
              <a:t>2026-10-07)</a:t>
            </a:r>
            <a:br>
              <a:rPr sz="1200" b="0">
                <a:solidFill>
                  <a:srgbClr val="142238"/>
                </a:solidFill>
                <a:latin typeface="Malgun Gothic"/>
                <a:ea typeface="Malgun Gothic"/>
                <a:cs typeface="Malgun Gothic"/>
              </a:rPr>
            </a:br>
            <a:r>
              <a:rPr sz="1200" b="0">
                <a:solidFill>
                  <a:srgbClr val="142238"/>
                </a:solidFill>
                <a:latin typeface="Times New Roman"/>
                <a:ea typeface="Times New Roman"/>
                <a:cs typeface="Times New Roman"/>
              </a:rPr>
              <a:t>https://github.com/pmh10401/cs-excel-rag/blob/c19a2c1710ded204aceace5ba9f682436245d181/docs/</a:t>
            </a:r>
            <a:r>
              <a:rPr sz="1200" b="0">
                <a:solidFill>
                  <a:srgbClr val="142238"/>
                </a:solidFill>
                <a:latin typeface="Malgun Gothic"/>
                <a:ea typeface="Malgun Gothic"/>
                <a:cs typeface="Malgun Gothic"/>
              </a:rPr>
              <a:t>임베딩-품질비교-</a:t>
            </a:r>
            <a:r>
              <a:rPr sz="1200" b="0">
                <a:solidFill>
                  <a:srgbClr val="142238"/>
                </a:solidFill>
                <a:latin typeface="Times New Roman"/>
                <a:ea typeface="Times New Roman"/>
                <a:cs typeface="Times New Roman"/>
              </a:rPr>
              <a:t>20261007.md</a:t>
            </a:r>
            <a:br>
              <a:rPr sz="1200" b="0">
                <a:solidFill>
                  <a:srgbClr val="142238"/>
                </a:solidFill>
                <a:latin typeface="Malgun Gothic"/>
                <a:ea typeface="Malgun Gothic"/>
                <a:cs typeface="Malgun Gothic"/>
              </a:rPr>
            </a:br>
            <a:r>
              <a:rPr sz="1200" b="0">
                <a:solidFill>
                  <a:srgbClr val="142238"/>
                </a:solidFill>
                <a:latin typeface="Times New Roman"/>
                <a:ea typeface="Times New Roman"/>
                <a:cs typeface="Times New Roman"/>
              </a:rPr>
              <a:t>50</a:t>
            </a:r>
            <a:r>
              <a:rPr sz="1200" b="0">
                <a:solidFill>
                  <a:srgbClr val="142238"/>
                </a:solidFill>
                <a:latin typeface="Malgun Gothic"/>
                <a:ea typeface="Malgun Gothic"/>
                <a:cs typeface="Malgun Gothic"/>
              </a:rPr>
              <a:t>개 고정 개발 질문 중 정답 있는 </a:t>
            </a:r>
            <a:r>
              <a:rPr sz="1200" b="0">
                <a:solidFill>
                  <a:srgbClr val="142238"/>
                </a:solidFill>
                <a:latin typeface="Times New Roman"/>
                <a:ea typeface="Times New Roman"/>
                <a:cs typeface="Times New Roman"/>
              </a:rPr>
              <a:t>44</a:t>
            </a:r>
            <a:r>
              <a:rPr sz="1200" b="0">
                <a:solidFill>
                  <a:srgbClr val="142238"/>
                </a:solidFill>
                <a:latin typeface="Malgun Gothic"/>
                <a:ea typeface="Malgun Gothic"/>
                <a:cs typeface="Malgun Gothic"/>
              </a:rPr>
              <a:t>개. 키워드 첫 정답</a:t>
            </a:r>
            <a:r>
              <a:rPr sz="1200" b="0">
                <a:solidFill>
                  <a:srgbClr val="142238"/>
                </a:solidFill>
                <a:latin typeface="Times New Roman"/>
                <a:ea typeface="Times New Roman"/>
                <a:cs typeface="Times New Roman"/>
              </a:rPr>
              <a:t>28/44, Qwen</a:t>
            </a:r>
            <a:r>
              <a:rPr sz="1200" b="0">
                <a:solidFill>
                  <a:srgbClr val="142238"/>
                </a:solidFill>
                <a:latin typeface="Malgun Gothic"/>
                <a:ea typeface="Malgun Gothic"/>
                <a:cs typeface="Malgun Gothic"/>
              </a:rPr>
              <a:t>결합</a:t>
            </a:r>
            <a:r>
              <a:rPr sz="1200" b="0">
                <a:solidFill>
                  <a:srgbClr val="142238"/>
                </a:solidFill>
                <a:latin typeface="Times New Roman"/>
                <a:ea typeface="Times New Roman"/>
                <a:cs typeface="Times New Roman"/>
              </a:rPr>
              <a:t>39/44, EmbeddingGemma 2</a:t>
            </a:r>
            <a:r>
              <a:rPr sz="1200" b="0">
                <a:solidFill>
                  <a:srgbClr val="142238"/>
                </a:solidFill>
                <a:latin typeface="Malgun Gothic"/>
                <a:ea typeface="Malgun Gothic"/>
                <a:cs typeface="Malgun Gothic"/>
              </a:rPr>
              <a:t>결합</a:t>
            </a:r>
            <a:r>
              <a:rPr sz="1200" b="0">
                <a:solidFill>
                  <a:srgbClr val="142238"/>
                </a:solidFill>
                <a:latin typeface="Times New Roman"/>
                <a:ea typeface="Times New Roman"/>
                <a:cs typeface="Times New Roman"/>
              </a:rPr>
              <a:t>35/44. </a:t>
            </a:r>
            <a:r>
              <a:rPr sz="1200" b="0">
                <a:solidFill>
                  <a:srgbClr val="142238"/>
                </a:solidFill>
                <a:latin typeface="Malgun Gothic"/>
                <a:ea typeface="Malgun Gothic"/>
                <a:cs typeface="Malgun Gothic"/>
              </a:rPr>
              <a:t>최종 답변은 평가하지 않음.</a:t>
            </a:r>
            <a:br>
              <a:rPr sz="1200" b="0">
                <a:solidFill>
                  <a:srgbClr val="142238"/>
                </a:solidFill>
                <a:latin typeface="Malgun Gothic"/>
                <a:ea typeface="Malgun Gothic"/>
                <a:cs typeface="Malgun Gothic"/>
              </a:rPr>
            </a:br>
            <a:br>
              <a:rPr sz="1200" b="0">
                <a:solidFill>
                  <a:srgbClr val="142238"/>
                </a:solidFill>
                <a:latin typeface="Malgun Gothic"/>
                <a:ea typeface="Malgun Gothic"/>
                <a:cs typeface="Malgun Gothic"/>
              </a:rPr>
            </a:br>
            <a:r>
              <a:rPr sz="1200" b="0">
                <a:solidFill>
                  <a:srgbClr val="142238"/>
                </a:solidFill>
                <a:latin typeface="Times New Roman"/>
                <a:ea typeface="Times New Roman"/>
                <a:cs typeface="Times New Roman"/>
              </a:rPr>
              <a:t>E4. </a:t>
            </a:r>
            <a:r>
              <a:rPr sz="1200" b="0">
                <a:solidFill>
                  <a:srgbClr val="142238"/>
                </a:solidFill>
                <a:latin typeface="Malgun Gothic"/>
                <a:ea typeface="Malgun Gothic"/>
                <a:cs typeface="Malgun Gothic"/>
              </a:rPr>
              <a:t>작업 복구와 동시 질문 (</a:t>
            </a:r>
            <a:r>
              <a:rPr sz="1200" b="0">
                <a:solidFill>
                  <a:srgbClr val="142238"/>
                </a:solidFill>
                <a:latin typeface="Times New Roman"/>
                <a:ea typeface="Times New Roman"/>
                <a:cs typeface="Times New Roman"/>
              </a:rPr>
              <a:t>2026-10-13)</a:t>
            </a:r>
            <a:br>
              <a:rPr sz="1200" b="0">
                <a:solidFill>
                  <a:srgbClr val="142238"/>
                </a:solidFill>
                <a:latin typeface="Malgun Gothic"/>
                <a:ea typeface="Malgun Gothic"/>
                <a:cs typeface="Malgun Gothic"/>
              </a:rPr>
            </a:br>
            <a:r>
              <a:rPr sz="1200" b="0">
                <a:solidFill>
                  <a:srgbClr val="142238"/>
                </a:solidFill>
                <a:latin typeface="Times New Roman"/>
                <a:ea typeface="Times New Roman"/>
                <a:cs typeface="Times New Roman"/>
              </a:rPr>
              <a:t>https://github.com/pmh10401/cs-excel-rag/blob/c19a2c1710ded204aceace5ba9f682436245d181/docs/</a:t>
            </a:r>
            <a:r>
              <a:rPr sz="1200" b="0">
                <a:solidFill>
                  <a:srgbClr val="142238"/>
                </a:solidFill>
                <a:latin typeface="Malgun Gothic"/>
                <a:ea typeface="Malgun Gothic"/>
                <a:cs typeface="Malgun Gothic"/>
              </a:rPr>
              <a:t>임원보고서.</a:t>
            </a:r>
            <a:r>
              <a:rPr sz="1200" b="0">
                <a:solidFill>
                  <a:srgbClr val="142238"/>
                </a:solidFill>
                <a:latin typeface="Times New Roman"/>
                <a:ea typeface="Times New Roman"/>
                <a:cs typeface="Times New Roman"/>
              </a:rPr>
              <a:t>md</a:t>
            </a:r>
            <a:br>
              <a:rPr sz="1200" b="0">
                <a:solidFill>
                  <a:srgbClr val="142238"/>
                </a:solidFill>
                <a:latin typeface="Malgun Gothic"/>
                <a:ea typeface="Malgun Gothic"/>
                <a:cs typeface="Malgun Gothic"/>
              </a:rPr>
            </a:br>
            <a:r>
              <a:rPr sz="1200" b="0">
                <a:solidFill>
                  <a:srgbClr val="142238"/>
                </a:solidFill>
                <a:latin typeface="Times New Roman"/>
                <a:ea typeface="Times New Roman"/>
                <a:cs typeface="Times New Roman"/>
              </a:rPr>
              <a:t>Mac</a:t>
            </a:r>
            <a:r>
              <a:rPr sz="1200" b="0">
                <a:solidFill>
                  <a:srgbClr val="142238"/>
                </a:solidFill>
                <a:latin typeface="Malgun Gothic"/>
                <a:ea typeface="Malgun Gothic"/>
                <a:cs typeface="Malgun Gothic"/>
              </a:rPr>
              <a:t>·모의 모델. 작업 복구</a:t>
            </a:r>
            <a:r>
              <a:rPr sz="1200" b="0">
                <a:solidFill>
                  <a:srgbClr val="142238"/>
                </a:solidFill>
                <a:latin typeface="Times New Roman"/>
                <a:ea typeface="Times New Roman"/>
                <a:cs typeface="Times New Roman"/>
              </a:rPr>
              <a:t>14</a:t>
            </a:r>
            <a:r>
              <a:rPr sz="1200" b="0">
                <a:solidFill>
                  <a:srgbClr val="142238"/>
                </a:solidFill>
                <a:latin typeface="Malgun Gothic"/>
                <a:ea typeface="Malgun Gothic"/>
                <a:cs typeface="Malgun Gothic"/>
              </a:rPr>
              <a:t>건과 동시 처리</a:t>
            </a:r>
            <a:r>
              <a:rPr sz="1200" b="0">
                <a:solidFill>
                  <a:srgbClr val="142238"/>
                </a:solidFill>
                <a:latin typeface="Times New Roman"/>
                <a:ea typeface="Times New Roman"/>
                <a:cs typeface="Times New Roman"/>
              </a:rPr>
              <a:t>7</a:t>
            </a:r>
            <a:r>
              <a:rPr sz="1200" b="0">
                <a:solidFill>
                  <a:srgbClr val="142238"/>
                </a:solidFill>
                <a:latin typeface="Malgun Gothic"/>
                <a:ea typeface="Malgun Gothic"/>
                <a:cs typeface="Malgun Gothic"/>
              </a:rPr>
              <a:t>건 통과. </a:t>
            </a:r>
            <a:r>
              <a:rPr sz="1200" b="0">
                <a:solidFill>
                  <a:srgbClr val="142238"/>
                </a:solidFill>
                <a:latin typeface="Times New Roman"/>
                <a:ea typeface="Times New Roman"/>
                <a:cs typeface="Times New Roman"/>
              </a:rPr>
              <a:t>Windows</a:t>
            </a:r>
            <a:r>
              <a:rPr sz="1200" b="0">
                <a:solidFill>
                  <a:srgbClr val="142238"/>
                </a:solidFill>
                <a:latin typeface="Malgun Gothic"/>
                <a:ea typeface="Malgun Gothic"/>
                <a:cs typeface="Malgun Gothic"/>
              </a:rPr>
              <a:t>실기기/</a:t>
            </a:r>
            <a:r>
              <a:rPr sz="1200" b="0">
                <a:solidFill>
                  <a:srgbClr val="142238"/>
                </a:solidFill>
                <a:latin typeface="Times New Roman"/>
                <a:ea typeface="Times New Roman"/>
                <a:cs typeface="Times New Roman"/>
              </a:rPr>
              <a:t>DRM </a:t>
            </a:r>
            <a:r>
              <a:rPr sz="1200" b="0">
                <a:solidFill>
                  <a:srgbClr val="142238"/>
                </a:solidFill>
                <a:latin typeface="Malgun Gothic"/>
                <a:ea typeface="Malgun Gothic"/>
                <a:cs typeface="Malgun Gothic"/>
              </a:rPr>
              <a:t>및 실제</a:t>
            </a:r>
            <a:r>
              <a:rPr sz="1200" b="0">
                <a:solidFill>
                  <a:srgbClr val="142238"/>
                </a:solidFill>
                <a:latin typeface="Times New Roman"/>
                <a:ea typeface="Times New Roman"/>
                <a:cs typeface="Times New Roman"/>
              </a:rPr>
              <a:t>120B</a:t>
            </a:r>
            <a:r>
              <a:rPr sz="1200" b="0">
                <a:solidFill>
                  <a:srgbClr val="142238"/>
                </a:solidFill>
                <a:latin typeface="Malgun Gothic"/>
                <a:ea typeface="Malgun Gothic"/>
                <a:cs typeface="Malgun Gothic"/>
              </a:rPr>
              <a:t>부하 미확인.</a:t>
            </a:r>
            <a:br>
              <a:rPr sz="1200" b="0">
                <a:solidFill>
                  <a:srgbClr val="142238"/>
                </a:solidFill>
                <a:latin typeface="Malgun Gothic"/>
                <a:ea typeface="Malgun Gothic"/>
                <a:cs typeface="Malgun Gothic"/>
              </a:rPr>
            </a:br>
            <a:br>
              <a:rPr sz="1200" b="0">
                <a:solidFill>
                  <a:srgbClr val="142238"/>
                </a:solidFill>
                <a:latin typeface="Malgun Gothic"/>
                <a:ea typeface="Malgun Gothic"/>
                <a:cs typeface="Malgun Gothic"/>
              </a:rPr>
            </a:br>
            <a:r>
              <a:rPr sz="1200" b="0">
                <a:solidFill>
                  <a:srgbClr val="142238"/>
                </a:solidFill>
                <a:latin typeface="Times New Roman"/>
                <a:ea typeface="Times New Roman"/>
                <a:cs typeface="Times New Roman"/>
              </a:rPr>
              <a:t>E6. </a:t>
            </a:r>
            <a:r>
              <a:rPr sz="1200" b="0">
                <a:solidFill>
                  <a:srgbClr val="142238"/>
                </a:solidFill>
                <a:latin typeface="Malgun Gothic"/>
                <a:ea typeface="Malgun Gothic"/>
                <a:cs typeface="Malgun Gothic"/>
              </a:rPr>
              <a:t>제품화 목표와 남은 검증 (</a:t>
            </a:r>
            <a:r>
              <a:rPr sz="1200" b="0">
                <a:solidFill>
                  <a:srgbClr val="142238"/>
                </a:solidFill>
                <a:latin typeface="Times New Roman"/>
                <a:ea typeface="Times New Roman"/>
                <a:cs typeface="Times New Roman"/>
              </a:rPr>
              <a:t>2026-10-13)</a:t>
            </a:r>
            <a:br>
              <a:rPr sz="1200" b="0">
                <a:solidFill>
                  <a:srgbClr val="142238"/>
                </a:solidFill>
                <a:latin typeface="Malgun Gothic"/>
                <a:ea typeface="Malgun Gothic"/>
                <a:cs typeface="Malgun Gothic"/>
              </a:rPr>
            </a:br>
            <a:r>
              <a:rPr sz="1200" b="0">
                <a:solidFill>
                  <a:srgbClr val="142238"/>
                </a:solidFill>
                <a:latin typeface="Times New Roman"/>
                <a:ea typeface="Times New Roman"/>
                <a:cs typeface="Times New Roman"/>
              </a:rPr>
              <a:t>https://github.com/pmh10401/cs-excel-rag/blob/c19a2c1710ded204aceace5ba9f682436245d181/docs/</a:t>
            </a:r>
            <a:r>
              <a:rPr sz="1200" b="0">
                <a:solidFill>
                  <a:srgbClr val="142238"/>
                </a:solidFill>
                <a:latin typeface="Malgun Gothic"/>
                <a:ea typeface="Malgun Gothic"/>
                <a:cs typeface="Malgun Gothic"/>
              </a:rPr>
              <a:t>제품화-설계-</a:t>
            </a:r>
            <a:r>
              <a:rPr sz="1200" b="0">
                <a:solidFill>
                  <a:srgbClr val="142238"/>
                </a:solidFill>
                <a:latin typeface="Times New Roman"/>
                <a:ea typeface="Times New Roman"/>
                <a:cs typeface="Times New Roman"/>
              </a:rPr>
              <a:t>20261013.md</a:t>
            </a:r>
            <a:br>
              <a:rPr sz="1200" b="0">
                <a:solidFill>
                  <a:srgbClr val="142238"/>
                </a:solidFill>
                <a:latin typeface="Malgun Gothic"/>
                <a:ea typeface="Malgun Gothic"/>
                <a:cs typeface="Malgun Gothic"/>
              </a:rPr>
            </a:br>
            <a:r>
              <a:rPr sz="1200" b="0">
                <a:solidFill>
                  <a:srgbClr val="142238"/>
                </a:solidFill>
                <a:latin typeface="Times New Roman"/>
                <a:ea typeface="Times New Roman"/>
                <a:cs typeface="Times New Roman"/>
              </a:rPr>
              <a:t>Windows </a:t>
            </a:r>
            <a:r>
              <a:rPr sz="1200" b="0">
                <a:solidFill>
                  <a:srgbClr val="142238"/>
                </a:solidFill>
                <a:latin typeface="Malgun Gothic"/>
                <a:ea typeface="Malgun Gothic"/>
                <a:cs typeface="Malgun Gothic"/>
              </a:rPr>
              <a:t>사내서버+여러브라우저 목표. 사용자·관리자권한,운영</a:t>
            </a:r>
            <a:r>
              <a:rPr sz="1200" b="0">
                <a:solidFill>
                  <a:srgbClr val="142238"/>
                </a:solidFill>
                <a:latin typeface="Times New Roman"/>
                <a:ea typeface="Times New Roman"/>
                <a:cs typeface="Times New Roman"/>
              </a:rPr>
              <a:t>API,</a:t>
            </a:r>
            <a:r>
              <a:rPr sz="1200" b="0">
                <a:solidFill>
                  <a:srgbClr val="142238"/>
                </a:solidFill>
                <a:latin typeface="Malgun Gothic"/>
                <a:ea typeface="Malgun Gothic"/>
                <a:cs typeface="Malgun Gothic"/>
              </a:rPr>
              <a:t>현장정확도,실제부하 확인 필요. 문서 최초설계의 후속범위 중 동시질문은</a:t>
            </a:r>
            <a:r>
              <a:rPr sz="1200" b="0">
                <a:solidFill>
                  <a:srgbClr val="142238"/>
                </a:solidFill>
                <a:latin typeface="Times New Roman"/>
                <a:ea typeface="Times New Roman"/>
                <a:cs typeface="Times New Roman"/>
              </a:rPr>
              <a:t>E4</a:t>
            </a:r>
            <a:r>
              <a:rPr sz="1200" b="0">
                <a:solidFill>
                  <a:srgbClr val="142238"/>
                </a:solidFill>
                <a:latin typeface="Malgun Gothic"/>
                <a:ea typeface="Malgun Gothic"/>
                <a:cs typeface="Malgun Gothic"/>
              </a:rPr>
              <a:t>로 상태갱신.</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5f8c30e96434345"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ac26c91122c74c57"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1662d05e7d574254"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8bb909cb28854ddf"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5a2578b60381487c"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f97ead5264144cf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F9A1119-BB2C-4A9A-B669-8565154C9469}"/>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533EC777-F92E-4EF5-ABEF-6A19525BCB26}"/>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E3453242-492A-40C1-A46F-0083037D6A8F}"/>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465009B-F0A9-4110-BA26-426F72DFF9A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5E0710C8-39CF-40EB-96D0-33A507E4E6B3}"/>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182F2095-4024-4001-B4F2-EC45CB3B103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8DA74AAB-3B16-4AF1-98A8-D429F1B3A61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F4359C30-E41B-41A3-BDFD-CAAD02C2BCD7}"/>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A655F73-C07F-43A8-8B72-54F17964777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120BAF2C-2F98-41FE-9FA9-7E53A940204D}"/>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9db816815c84fdc" /><Relationship Type="http://schemas.openxmlformats.org/officeDocument/2006/relationships/slideLayout" Target="/ppt/slideLayouts/slideLayout1.xml" Id="Rab0f0313767b4e86" /><Relationship Type="http://schemas.openxmlformats.org/officeDocument/2006/relationships/slideLayout" Target="/ppt/slideLayouts/slideLayout2.xml" Id="R0795f1b8f9af482e" /><Relationship Type="http://schemas.openxmlformats.org/officeDocument/2006/relationships/slideLayout" Target="/ppt/slideLayouts/slideLayout3.xml" Id="R275421f5b52c4249" /><Relationship Type="http://schemas.openxmlformats.org/officeDocument/2006/relationships/slideLayout" Target="/ppt/slideLayouts/slideLayout4.xml" Id="Rcf0a81905d3f4501" /><Relationship Type="http://schemas.openxmlformats.org/officeDocument/2006/relationships/slideLayout" Target="/ppt/slideLayouts/slideLayout5.xml" Id="Rb90fe08c538f4815" /><Relationship Type="http://schemas.openxmlformats.org/officeDocument/2006/relationships/slideLayout" Target="/ppt/slideLayouts/slideLayout6.xml" Id="R14c53c8b7cdf429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b0f0313767b4e86"/>
    <p:sldLayoutId xmlns:r="http://schemas.openxmlformats.org/officeDocument/2006/relationships" id="2147483650" r:id="R0795f1b8f9af482e"/>
    <p:sldLayoutId xmlns:r="http://schemas.openxmlformats.org/officeDocument/2006/relationships" id="2147483651" r:id="R275421f5b52c4249"/>
    <p:sldLayoutId xmlns:r="http://schemas.openxmlformats.org/officeDocument/2006/relationships" id="2147483652" r:id="Rcf0a81905d3f4501"/>
    <p:sldLayoutId xmlns:r="http://schemas.openxmlformats.org/officeDocument/2006/relationships" id="2147483653" r:id="Rb90fe08c538f4815"/>
    <p:sldLayoutId xmlns:r="http://schemas.openxmlformats.org/officeDocument/2006/relationships" id="2147483654" r:id="R14c53c8b7cdf429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Times New Roman"/>
        <a:ea typeface=""/>
        <a:cs typeface=""/>
      </a:majorFont>
      <a:minorFont>
        <a:latin typeface="Times New Roman"/>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7f8f8377c2f64cff" /><Relationship Type="http://schemas.openxmlformats.org/officeDocument/2006/relationships/notesSlide" Target="/ppt/notesSlides/notesSlide1.xml" Id="R3c5de162623d456c"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d752594819e544f8" /><Relationship Type="http://schemas.openxmlformats.org/officeDocument/2006/relationships/notesSlide" Target="/ppt/notesSlides/notesSlide2.xml" Id="R8b13f04803384529"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677f851a2d144017" /><Relationship Type="http://schemas.openxmlformats.org/officeDocument/2006/relationships/notesSlide" Target="/ppt/notesSlides/notesSlide3.xml" Id="R45a6737aac9d4924"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06f47384d1964f05" /><Relationship Type="http://schemas.openxmlformats.org/officeDocument/2006/relationships/notesSlide" Target="/ppt/notesSlides/notesSlide4.xml" Id="R6346005a21094fac"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5858a1c826764fbf" /><Relationship Type="http://schemas.openxmlformats.org/officeDocument/2006/relationships/notesSlide" Target="/ppt/notesSlides/notesSlide5.xml" Id="R9d69eb1859024120"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9383c75baaf845d1" /><Relationship Type="http://schemas.openxmlformats.org/officeDocument/2006/relationships/image" Target="/ppt/media/image.png" Id="R5092c9e2385d46e4" /><Relationship Type="http://schemas.openxmlformats.org/officeDocument/2006/relationships/notesSlide" Target="/ppt/notesSlides/notesSlide6.xml" Id="R1361afd5378c4913"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ab9913f81f2d4cf8" /><Relationship Type="http://schemas.openxmlformats.org/officeDocument/2006/relationships/chart" Target="/ppt/slides/charts/chart1.xml" Id="R08c26882f3f44c22" /><Relationship Type="http://schemas.openxmlformats.org/officeDocument/2006/relationships/notesSlide" Target="/ppt/notesSlides/notesSlide7.xml" Id="Rd3b78f7933a04e2a"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4274d4ed8cf24013" /><Relationship Type="http://schemas.openxmlformats.org/officeDocument/2006/relationships/notesSlide" Target="/ppt/notesSlides/notesSlide8.xml" Id="R57d3949851974707"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b7291467ff5e4ee9" /><Relationship Type="http://schemas.openxmlformats.org/officeDocument/2006/relationships/notesSlide" Target="/ppt/notesSlides/notesSlide9.xml" Id="R1c3a770b35fb4bf0"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30ca86f2bbba46d7" /><Relationship Type="http://schemas.openxmlformats.org/officeDocument/2006/relationships/notesSlide" Target="/ppt/notesSlides/notesSlide10.xml" Id="R26ceed02c59e4be1" /></Relationships>
</file>

<file path=ppt/slides/charts/chart1.xml><?xml version="1.0" encoding="utf-8"?>
<c:chartSpace xmlns:c="http://schemas.openxmlformats.org/drawingml/2006/chart">
  <c:lang val="en-US"/>
  <c:chart>
    <c:plotArea>
      <c:barChart>
        <c:barDir val="col"/>
        <c:grouping val="clustered"/>
        <c:varyColors val="0"/>
        <c:ser>
          <c:idx val="0"/>
          <c:order val="0"/>
          <c:tx>
            <c:v>정답 문항 수</c:v>
          </c:tx>
          <c:spPr>
            <a:solidFill xmlns:a="http://schemas.openxmlformats.org/drawingml/2006/main">
              <a:srgbClr val="1459C7"/>
            </a:solidFill>
          </c:spPr>
          <c:invertIfNegative val="0"/>
          <c:dPt>
            <c:idx val="0"/>
            <c:invertIfNegative val="0"/>
            <c:spPr>
              <a:solidFill xmlns:a="http://schemas.openxmlformats.org/drawingml/2006/main">
                <a:srgbClr val="A3ADBA"/>
              </a:solidFill>
            </c:spPr>
          </c:dPt>
          <c:dPt>
            <c:idx val="1"/>
            <c:invertIfNegative val="0"/>
            <c:spPr>
              <a:solidFill xmlns:a="http://schemas.openxmlformats.org/drawingml/2006/main">
                <a:srgbClr val="7295C9"/>
              </a:solidFill>
            </c:spPr>
          </c:dPt>
          <c:dPt>
            <c:idx val="2"/>
            <c:invertIfNegative val="0"/>
            <c:spPr>
              <a:solidFill xmlns:a="http://schemas.openxmlformats.org/drawingml/2006/main">
                <a:srgbClr val="1459C7"/>
              </a:solidFill>
            </c:spPr>
          </c:dPt>
          <c:dLbls>
            <c:dLbl>
              <c:idx val="0"/>
              <c:tx>
                <c:rich>
                  <a:bodyPr xmlns:a="http://schemas.openxmlformats.org/drawingml/2006/main"/>
                  <a:lstStyle xmlns:a="http://schemas.openxmlformats.org/drawingml/2006/main"/>
                  <a:p xmlns:a="http://schemas.openxmlformats.org/drawingml/2006/main">
                    <a:r>
                      <a:rPr sz="2025">
                        <a:latin typeface="Times New Roman"/>
                        <a:ea typeface="Times New Roman"/>
                        <a:cs typeface="Times New Roman"/>
                      </a:rPr>
                      <a:t>28 / 44</a:t>
                    </a:r>
                  </a:p>
                </c:rich>
              </c:tx>
              <c:txPr>
                <a:bodyPr xmlns:a="http://schemas.openxmlformats.org/drawingml/2006/main" anchorCtr="1"/>
                <a:lstStyle xmlns:a="http://schemas.openxmlformats.org/drawingml/2006/main"/>
                <a:p xmlns:a="http://schemas.openxmlformats.org/drawingml/2006/main">
                  <a:pPr>
                    <a:defRPr sz="2025">
                      <a:latin typeface="Times New Roman"/>
                      <a:ea typeface="Times New Roman"/>
                      <a:cs typeface="Times New Roman"/>
                    </a:defRPr>
                  </a:pPr>
                </a:p>
              </c:txPr>
            </c:dLbl>
            <c:dLbl>
              <c:idx val="1"/>
              <c:tx>
                <c:rich>
                  <a:bodyPr xmlns:a="http://schemas.openxmlformats.org/drawingml/2006/main"/>
                  <a:lstStyle xmlns:a="http://schemas.openxmlformats.org/drawingml/2006/main"/>
                  <a:p xmlns:a="http://schemas.openxmlformats.org/drawingml/2006/main">
                    <a:r>
                      <a:rPr sz="2025">
                        <a:latin typeface="Times New Roman"/>
                        <a:ea typeface="Times New Roman"/>
                        <a:cs typeface="Times New Roman"/>
                      </a:rPr>
                      <a:t>39 / 44</a:t>
                    </a:r>
                  </a:p>
                </c:rich>
              </c:tx>
              <c:txPr>
                <a:bodyPr xmlns:a="http://schemas.openxmlformats.org/drawingml/2006/main" anchorCtr="1"/>
                <a:lstStyle xmlns:a="http://schemas.openxmlformats.org/drawingml/2006/main"/>
                <a:p xmlns:a="http://schemas.openxmlformats.org/drawingml/2006/main">
                  <a:pPr>
                    <a:defRPr sz="2025">
                      <a:latin typeface="Times New Roman"/>
                      <a:ea typeface="Times New Roman"/>
                      <a:cs typeface="Times New Roman"/>
                    </a:defRPr>
                  </a:pPr>
                </a:p>
              </c:txPr>
            </c:dLbl>
            <c:dLbl>
              <c:idx val="2"/>
              <c:tx>
                <c:rich>
                  <a:bodyPr xmlns:a="http://schemas.openxmlformats.org/drawingml/2006/main"/>
                  <a:lstStyle xmlns:a="http://schemas.openxmlformats.org/drawingml/2006/main"/>
                  <a:p xmlns:a="http://schemas.openxmlformats.org/drawingml/2006/main">
                    <a:r>
                      <a:rPr sz="2025">
                        <a:latin typeface="Times New Roman"/>
                        <a:ea typeface="Times New Roman"/>
                        <a:cs typeface="Times New Roman"/>
                      </a:rPr>
                      <a:t>35 / 44</a:t>
                    </a:r>
                  </a:p>
                </c:rich>
              </c:tx>
              <c:txPr>
                <a:bodyPr xmlns:a="http://schemas.openxmlformats.org/drawingml/2006/main" anchorCtr="1"/>
                <a:lstStyle xmlns:a="http://schemas.openxmlformats.org/drawingml/2006/main"/>
                <a:p xmlns:a="http://schemas.openxmlformats.org/drawingml/2006/main">
                  <a:pPr>
                    <a:defRPr sz="2025">
                      <a:latin typeface="Times New Roman"/>
                      <a:ea typeface="Times New Roman"/>
                      <a:cs typeface="Times New Roman"/>
                    </a:defRPr>
                  </a:pPr>
                </a:p>
              </c:txPr>
            </c:dLbl>
          </c:dLbls>
          <c:cat>
            <c:strLit>
              <c:ptCount val="3"/>
              <c:pt idx="0">
                <c:v>키워드</c:v>
              </c:pt>
              <c:pt idx="1">
                <c:v>기존 모델 결합</c:v>
              </c:pt>
              <c:pt idx="2">
                <c:v>현재 모델 결합</c:v>
              </c:pt>
            </c:strLit>
          </c:cat>
          <c:val>
            <c:numLit>
              <c:formatCode>0</c:formatCode>
              <c:ptCount val="3"/>
              <c:pt idx="0">
                <c:v>28</c:v>
              </c:pt>
              <c:pt idx="1">
                <c:v>39</c:v>
              </c:pt>
              <c:pt idx="2">
                <c:v>35</c:v>
              </c:pt>
            </c:numLit>
          </c:val>
        </c:ser>
        <c:dLbls>
          <c:txPr>
            <a:bodyPr xmlns:a="http://schemas.openxmlformats.org/drawingml/2006/main" anchorCtr="1"/>
            <a:lstStyle xmlns:a="http://schemas.openxmlformats.org/drawingml/2006/main"/>
            <a:p xmlns:a="http://schemas.openxmlformats.org/drawingml/2006/main">
              <a:pPr>
                <a:defRPr sz="2025" b="1">
                  <a:solidFill>
                    <a:srgbClr val="142238"/>
                  </a:solidFill>
                  <a:latin typeface="Times New Roman"/>
                  <a:ea typeface="Times New Roman"/>
                  <a:cs typeface="Times New Roman"/>
                </a:defRPr>
              </a:pPr>
            </a:p>
          </c:txPr>
          <c:dLblPos val="outEnd"/>
          <c:showLegendKey val="0"/>
          <c:showVal val="1"/>
          <c:showCatName val="0"/>
          <c:showSerName val="0"/>
          <c:showPercent val="0"/>
          <c:showBubbleSize val="0"/>
          <c:showLeaderLines val="0"/>
        </c:dLbls>
        <c:gapWidth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8DFE8"/>
            </a:solidFill>
          </a:ln>
        </c:spPr>
        <c:txPr>
          <a:bodyPr xmlns:a="http://schemas.openxmlformats.org/drawingml/2006/main" anchorCtr="1"/>
          <a:lstStyle xmlns:a="http://schemas.openxmlformats.org/drawingml/2006/main"/>
          <a:p xmlns:a="http://schemas.openxmlformats.org/drawingml/2006/main">
            <a:pPr>
              <a:defRPr sz="1800">
                <a:solidFill>
                  <a:srgbClr val="142238"/>
                </a:solidFill>
                <a:latin typeface="Malgun Gothic"/>
                <a:ea typeface="Malgun Gothic"/>
                <a:cs typeface="Malgun Gothic"/>
              </a:defRPr>
            </a:pPr>
          </a:p>
        </c:txPr>
        <c:crossAx val="48672768"/>
      </c:catAx>
      <c:valAx>
        <c:axId val="48672768"/>
        <c:scaling>
          <c:orientation val="minMax"/>
          <c:max val="44"/>
          <c:min val="0"/>
        </c:scaling>
        <c:delete val="0"/>
        <c:axPos val="l"/>
        <c:majorGridlines>
          <c:spPr>
            <a:ln xmlns:a="http://schemas.openxmlformats.org/drawingml/2006/main" w="9525">
              <a:solidFill>
                <a:srgbClr val="D8DFE8"/>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5B6676"/>
                </a:solidFill>
                <a:latin typeface="Times New Roman"/>
                <a:ea typeface="Times New Roman"/>
                <a:cs typeface="Times New Roman"/>
              </a:defRPr>
            </a:pPr>
          </a:p>
        </c:txPr>
        <c:crossAx val="48650112"/>
        <c:crossBetween val="between"/>
        <c:majorUnit val="11"/>
      </c:valAx>
      <c:spPr>
        <a:solidFill xmlns:a="http://schemas.openxmlformats.org/drawingml/2006/main">
          <a:srgbClr val="FFFFFF"/>
        </a:solidFill>
      </c:spPr>
    </c:plotArea>
    <c:plotVisOnly val="1"/>
  </c:chart>
  <c:spPr>
    <a:solidFill xmlns:a="http://schemas.openxmlformats.org/drawingml/2006/main">
      <a:srgbClr val="FFFFFF"/>
    </a:solidFill>
    <a:ln xmlns:a="http://schemas.openxmlformats.org/drawingml/2006/main" w="0">
      <a:noFill/>
    </a:ln>
  </c:spPr>
</c:chartSpace>
</file>

<file path=ppt/slides/slide1.xml><?xml version="1.0" encoding="utf-8"?>
<p:sld xmlns:p="http://schemas.openxmlformats.org/presentationml/2006/main">
  <p:cSld>
    <p:bg>
      <p:bgPr>
        <a:solidFill xmlns:a="http://schemas.openxmlformats.org/drawingml/2006/main">
          <a:srgbClr val="142238"/>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DA4DE620-2986-49CC-B0E9-21964EF38114}"/>
              </a:ext>
            </a:extLst>
          </p:cNvPr>
          <p:cNvSpPr>
            <a:spLocks xmlns:a="http://schemas.openxmlformats.org/drawingml/2006/main" noGrp="1"/>
          </p:cNvSpPr>
          <p:nvPr/>
        </p:nvSpPr>
        <p:spPr>
          <a:xfrm xmlns:a="http://schemas.openxmlformats.org/drawingml/2006/main">
            <a:off x="647700" y="647700"/>
            <a:ext cx="8572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0">
                <a:solidFill>
                  <a:srgbClr val="BFD3F3"/>
                </a:solidFill>
                <a:latin typeface="Malgun Gothic"/>
                <a:ea typeface="Malgun Gothic"/>
                <a:cs typeface="Malgun Gothic"/>
              </a:defRPr>
            </a:defPPr>
          </a:lstStyle>
          <a:p xmlns:a="http://schemas.openxmlformats.org/drawingml/2006/main">
            <a:pPr algn="l">
              <a:defRPr sz="2700" b="0">
                <a:solidFill>
                  <a:srgbClr val="BFD3F3"/>
                </a:solidFill>
                <a:latin typeface="Malgun Gothic"/>
                <a:ea typeface="Malgun Gothic"/>
                <a:cs typeface="Malgun Gothic"/>
              </a:defRPr>
            </a:pPr>
            <a:r>
              <a:rPr sz="2700" b="0">
                <a:solidFill>
                  <a:srgbClr val="BFD3F3"/>
                </a:solidFill>
                <a:latin typeface="Times New Roman"/>
                <a:ea typeface="Times New Roman"/>
                <a:cs typeface="Times New Roman"/>
              </a:rPr>
              <a:t>SEMES Tech Fair</a:t>
            </a:r>
          </a:p>
        </p:txBody>
      </p:sp>
      <p:sp>
        <p:nvSpPr>
          <p:cNvPr id="2" name="">
            <a:extLst xmlns:a="http://schemas.openxmlformats.org/drawingml/2006/main">
              <a:ext uri="{FF2B5EF4-FFF2-40B4-BE49-F238E27FC236}">
                <a16:creationId xmlns:a16="http://schemas.microsoft.com/office/drawing/2014/main" id="{9E6708ED-33F8-4ABB-A02D-4BD4784631C9}"/>
              </a:ext>
            </a:extLst>
          </p:cNvPr>
          <p:cNvSpPr>
            <a:spLocks xmlns:a="http://schemas.openxmlformats.org/drawingml/2006/main" noGrp="1"/>
          </p:cNvSpPr>
          <p:nvPr/>
        </p:nvSpPr>
        <p:spPr>
          <a:xfrm xmlns:a="http://schemas.openxmlformats.org/drawingml/2006/main">
            <a:off x="628650" y="2057400"/>
            <a:ext cx="10953750" cy="190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875" b="1">
                <a:solidFill>
                  <a:srgbClr val="FFFFFF"/>
                </a:solidFill>
                <a:latin typeface="Malgun Gothic"/>
                <a:ea typeface="Malgun Gothic"/>
                <a:cs typeface="Malgun Gothic"/>
              </a:defRPr>
            </a:defPPr>
          </a:lstStyle>
          <a:p xmlns:a="http://schemas.openxmlformats.org/drawingml/2006/main">
            <a:pPr algn="l">
              <a:defRPr sz="4875" b="1">
                <a:solidFill>
                  <a:srgbClr val="FFFFFF"/>
                </a:solidFill>
                <a:latin typeface="Malgun Gothic"/>
                <a:ea typeface="Malgun Gothic"/>
                <a:cs typeface="Malgun Gothic"/>
              </a:defRPr>
            </a:pPr>
            <a:r>
              <a:rPr sz="4875" b="1">
                <a:solidFill>
                  <a:srgbClr val="FFFFFF"/>
                </a:solidFill>
                <a:latin typeface="Times New Roman"/>
                <a:ea typeface="Times New Roman"/>
                <a:cs typeface="Times New Roman"/>
              </a:rPr>
              <a:t>RAG </a:t>
            </a:r>
            <a:r>
              <a:rPr sz="4875" b="1">
                <a:solidFill>
                  <a:srgbClr val="FFFFFF"/>
                </a:solidFill>
                <a:latin typeface="Malgun Gothic"/>
                <a:ea typeface="Malgun Gothic"/>
                <a:cs typeface="Malgun Gothic"/>
              </a:rPr>
              <a:t>기반</a:t>
            </a:r>
          </a:p>
          <a:p xmlns:a="http://schemas.openxmlformats.org/drawingml/2006/main">
            <a:pPr algn="l">
              <a:defRPr sz="4875" b="1">
                <a:solidFill>
                  <a:srgbClr val="FFFFFF"/>
                </a:solidFill>
                <a:latin typeface="Malgun Gothic"/>
                <a:ea typeface="Malgun Gothic"/>
                <a:cs typeface="Malgun Gothic"/>
              </a:defRPr>
            </a:pPr>
            <a:r>
              <a:rPr sz="4875" b="1">
                <a:solidFill>
                  <a:srgbClr val="FFFFFF"/>
                </a:solidFill>
                <a:latin typeface="Times New Roman"/>
                <a:ea typeface="Times New Roman"/>
                <a:cs typeface="Times New Roman"/>
              </a:rPr>
              <a:t>CS </a:t>
            </a:r>
            <a:r>
              <a:rPr sz="4875" b="1">
                <a:solidFill>
                  <a:srgbClr val="FFFFFF"/>
                </a:solidFill>
                <a:latin typeface="Malgun Gothic"/>
                <a:ea typeface="Malgun Gothic"/>
                <a:cs typeface="Malgun Gothic"/>
              </a:rPr>
              <a:t>리포트 검색 서비스</a:t>
            </a:r>
          </a:p>
        </p:txBody>
      </p:sp>
      <p:sp>
        <p:nvSpPr>
          <p:cNvPr id="3" name="">
            <a:extLst xmlns:a="http://schemas.openxmlformats.org/drawingml/2006/main">
              <a:ext uri="{FF2B5EF4-FFF2-40B4-BE49-F238E27FC236}">
                <a16:creationId xmlns:a16="http://schemas.microsoft.com/office/drawing/2014/main" id="{0DA46D9F-1FC0-4985-A671-2AA0857C24C1}"/>
              </a:ext>
            </a:extLst>
          </p:cNvPr>
          <p:cNvSpPr>
            <a:spLocks xmlns:a="http://schemas.openxmlformats.org/drawingml/2006/main" noGrp="1"/>
          </p:cNvSpPr>
          <p:nvPr/>
        </p:nvSpPr>
        <p:spPr>
          <a:xfrm xmlns:a="http://schemas.openxmlformats.org/drawingml/2006/main">
            <a:off x="666750" y="4295775"/>
            <a:ext cx="10668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D3DEED"/>
                </a:solidFill>
                <a:latin typeface="Malgun Gothic"/>
                <a:ea typeface="Malgun Gothic"/>
                <a:cs typeface="Malgun Gothic"/>
              </a:defRPr>
            </a:defPPr>
          </a:lstStyle>
          <a:p xmlns:a="http://schemas.openxmlformats.org/drawingml/2006/main">
            <a:pPr algn="l">
              <a:defRPr sz="2250" b="0">
                <a:solidFill>
                  <a:srgbClr val="D3DEED"/>
                </a:solidFill>
                <a:latin typeface="Malgun Gothic"/>
                <a:ea typeface="Malgun Gothic"/>
                <a:cs typeface="Malgun Gothic"/>
              </a:defRPr>
            </a:pPr>
            <a:r>
              <a:rPr sz="2250" b="0">
                <a:solidFill>
                  <a:srgbClr val="D3DEED"/>
                </a:solidFill>
                <a:latin typeface="Malgun Gothic"/>
                <a:ea typeface="Malgun Gothic"/>
                <a:cs typeface="Malgun Gothic"/>
              </a:rPr>
              <a:t>문제 현상으로 과거 사례를 찾고, 실제 조치를 원문에서 확인합니다.</a:t>
            </a:r>
          </a:p>
        </p:txBody>
      </p:sp>
      <p:sp>
        <p:nvSpPr>
          <p:cNvPr id="4" name="">
            <a:extLst xmlns:a="http://schemas.openxmlformats.org/drawingml/2006/main">
              <a:ext uri="{FF2B5EF4-FFF2-40B4-BE49-F238E27FC236}">
                <a16:creationId xmlns:a16="http://schemas.microsoft.com/office/drawing/2014/main" id="{798B08FB-36B5-492F-9C07-D035AD927713}"/>
              </a:ext>
            </a:extLst>
          </p:cNvPr>
          <p:cNvSpPr>
            <a:spLocks xmlns:a="http://schemas.openxmlformats.org/drawingml/2006/main" noGrp="1"/>
          </p:cNvSpPr>
          <p:nvPr/>
        </p:nvSpPr>
        <p:spPr>
          <a:xfrm xmlns:a="http://schemas.openxmlformats.org/drawingml/2006/main">
            <a:off x="666750" y="5648325"/>
            <a:ext cx="7905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FFFFFF"/>
                </a:solidFill>
                <a:latin typeface="Malgun Gothic"/>
                <a:ea typeface="Malgun Gothic"/>
                <a:cs typeface="Malgun Gothic"/>
              </a:defRPr>
            </a:defPPr>
          </a:lstStyle>
          <a:p xmlns:a="http://schemas.openxmlformats.org/drawingml/2006/main">
            <a:pPr algn="l">
              <a:defRPr sz="2100" b="0">
                <a:solidFill>
                  <a:srgbClr val="FFFFFF"/>
                </a:solidFill>
                <a:latin typeface="Malgun Gothic"/>
                <a:ea typeface="Malgun Gothic"/>
                <a:cs typeface="Malgun Gothic"/>
              </a:defRPr>
            </a:pPr>
            <a:r>
              <a:rPr sz="2100" b="0">
                <a:solidFill>
                  <a:srgbClr val="FFFFFF"/>
                </a:solidFill>
                <a:latin typeface="Times New Roman"/>
                <a:ea typeface="Times New Roman"/>
                <a:cs typeface="Times New Roman"/>
              </a:rPr>
              <a:t>photo sw </a:t>
            </a:r>
            <a:r>
              <a:rPr sz="2100" b="0">
                <a:solidFill>
                  <a:srgbClr val="FFFFFF"/>
                </a:solidFill>
                <a:latin typeface="Malgun Gothic"/>
                <a:ea typeface="Malgun Gothic"/>
                <a:cs typeface="Malgun Gothic"/>
              </a:rPr>
              <a:t>그룹  박민호</a:t>
            </a:r>
          </a:p>
        </p:txBody>
      </p:sp>
      <p:sp>
        <p:nvSpPr>
          <p:cNvPr id="5" name="">
            <a:extLst xmlns:a="http://schemas.openxmlformats.org/drawingml/2006/main">
              <a:ext uri="{FF2B5EF4-FFF2-40B4-BE49-F238E27FC236}">
                <a16:creationId xmlns:a16="http://schemas.microsoft.com/office/drawing/2014/main" id="{EA290917-CB97-4A2F-A23C-C560348619B7}"/>
              </a:ext>
            </a:extLst>
          </p:cNvPr>
          <p:cNvSpPr>
            <a:spLocks xmlns:a="http://schemas.openxmlformats.org/drawingml/2006/main" noGrp="1"/>
          </p:cNvSpPr>
          <p:nvPr/>
        </p:nvSpPr>
        <p:spPr>
          <a:xfrm xmlns:a="http://schemas.openxmlformats.org/drawingml/2006/main">
            <a:off x="9382125" y="5753100"/>
            <a:ext cx="2133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725" b="0">
                <a:solidFill>
                  <a:srgbClr val="BACAE0"/>
                </a:solidFill>
                <a:latin typeface="Malgun Gothic"/>
                <a:ea typeface="Malgun Gothic"/>
                <a:cs typeface="Malgun Gothic"/>
              </a:defRPr>
            </a:defPPr>
          </a:lstStyle>
          <a:p xmlns:a="http://schemas.openxmlformats.org/drawingml/2006/main">
            <a:pPr algn="r">
              <a:defRPr sz="1725" b="0">
                <a:solidFill>
                  <a:srgbClr val="BACAE0"/>
                </a:solidFill>
                <a:latin typeface="Malgun Gothic"/>
                <a:ea typeface="Malgun Gothic"/>
                <a:cs typeface="Malgun Gothic"/>
              </a:defRPr>
            </a:pPr>
            <a:r>
              <a:rPr sz="1725" b="0">
                <a:solidFill>
                  <a:srgbClr val="BACAE0"/>
                </a:solidFill>
                <a:latin typeface="Times New Roman"/>
                <a:ea typeface="Times New Roman"/>
                <a:cs typeface="Times New Roman"/>
              </a:rPr>
              <a:t>2026.10.13</a:t>
            </a:r>
          </a:p>
        </p:txBody>
      </p:sp>
    </p:spTree>
    <p:extLst>
      <p:ext uri="{BB962C8B-B14F-4D97-AF65-F5344CB8AC3E}">
        <p14:creationId xmlns:p14="http://schemas.microsoft.com/office/powerpoint/2010/main" val="1684420786"/>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CFD44350-892F-4BDA-8B22-FDFF46D5381C}"/>
              </a:ext>
            </a:extLst>
          </p:cNvPr>
          <p:cNvSpPr>
            <a:spLocks xmlns:a="http://schemas.openxmlformats.org/drawingml/2006/main" noGrp="1"/>
          </p:cNvSpPr>
          <p:nvPr/>
        </p:nvSpPr>
        <p:spPr>
          <a:xfrm xmlns:a="http://schemas.openxmlformats.org/drawingml/2006/main">
            <a:off x="609600" y="428625"/>
            <a:ext cx="1095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142238"/>
                </a:solidFill>
                <a:latin typeface="Malgun Gothic"/>
                <a:ea typeface="Malgun Gothic"/>
                <a:cs typeface="Malgun Gothic"/>
              </a:defRPr>
            </a:defPPr>
          </a:lstStyle>
          <a:p xmlns:a="http://schemas.openxmlformats.org/drawingml/2006/main">
            <a:pPr algn="l">
              <a:defRPr sz="3225" b="1">
                <a:solidFill>
                  <a:srgbClr val="142238"/>
                </a:solidFill>
                <a:latin typeface="Malgun Gothic"/>
                <a:ea typeface="Malgun Gothic"/>
                <a:cs typeface="Malgun Gothic"/>
              </a:defRPr>
            </a:pPr>
            <a:r>
              <a:rPr sz="3225" b="1">
                <a:solidFill>
                  <a:srgbClr val="142238"/>
                </a:solidFill>
                <a:latin typeface="Malgun Gothic"/>
                <a:ea typeface="Malgun Gothic"/>
                <a:cs typeface="Malgun Gothic"/>
              </a:rPr>
              <a:t>평가 질문에 대한 답변</a:t>
            </a:r>
          </a:p>
        </p:txBody>
      </p:sp>
      <p:sp>
        <p:nvSpPr>
          <p:cNvPr id="2" name="">
            <a:extLst xmlns:a="http://schemas.openxmlformats.org/drawingml/2006/main">
              <a:ext uri="{FF2B5EF4-FFF2-40B4-BE49-F238E27FC236}">
                <a16:creationId xmlns:a16="http://schemas.microsoft.com/office/drawing/2014/main" id="{85ED7675-14D3-42AF-B7E5-C45E1C4728F6}"/>
              </a:ext>
            </a:extLst>
          </p:cNvPr>
          <p:cNvSpPr>
            <a:spLocks xmlns:a="http://schemas.openxmlformats.org/drawingml/2006/main" noGrp="1"/>
          </p:cNvSpPr>
          <p:nvPr/>
        </p:nvSpPr>
        <p:spPr>
          <a:xfrm xmlns:a="http://schemas.openxmlformats.org/drawingml/2006/main">
            <a:off x="628650" y="1066800"/>
            <a:ext cx="10896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B6676"/>
                </a:solidFill>
                <a:latin typeface="Malgun Gothic"/>
                <a:ea typeface="Malgun Gothic"/>
                <a:cs typeface="Malgun Gothic"/>
              </a:defRPr>
            </a:defPPr>
          </a:lstStyle>
          <a:p xmlns:a="http://schemas.openxmlformats.org/drawingml/2006/main">
            <a:pPr algn="l">
              <a:defRPr sz="1725" b="0">
                <a:solidFill>
                  <a:srgbClr val="5B6676"/>
                </a:solidFill>
                <a:latin typeface="Malgun Gothic"/>
                <a:ea typeface="Malgun Gothic"/>
                <a:cs typeface="Malgun Gothic"/>
              </a:defRPr>
            </a:pPr>
            <a:r>
              <a:rPr sz="1725" b="0">
                <a:solidFill>
                  <a:srgbClr val="5B6676"/>
                </a:solidFill>
                <a:latin typeface="Times New Roman"/>
                <a:ea typeface="Times New Roman"/>
                <a:cs typeface="Times New Roman"/>
              </a:rPr>
              <a:t>AI </a:t>
            </a:r>
            <a:r>
              <a:rPr sz="1725" b="0">
                <a:solidFill>
                  <a:srgbClr val="5B6676"/>
                </a:solidFill>
                <a:latin typeface="Malgun Gothic"/>
                <a:ea typeface="Malgun Gothic"/>
                <a:cs typeface="Malgun Gothic"/>
              </a:rPr>
              <a:t>분과의 별도 기준 공지 전, 안내받은 네 항목으로 개발 결과를 설명합니다.</a:t>
            </a:r>
          </a:p>
        </p:txBody>
      </p:sp>
      <p:sp>
        <p:nvSpPr>
          <p:cNvPr id="3" name="">
            <a:extLst xmlns:a="http://schemas.openxmlformats.org/drawingml/2006/main">
              <a:ext uri="{FF2B5EF4-FFF2-40B4-BE49-F238E27FC236}">
                <a16:creationId xmlns:a16="http://schemas.microsoft.com/office/drawing/2014/main" id="{9B9051EB-EA2A-4C4E-A6DF-51EC076BBCBF}"/>
              </a:ext>
            </a:extLst>
          </p:cNvPr>
          <p:cNvSpPr>
            <a:spLocks xmlns:a="http://schemas.openxmlformats.org/drawingml/2006/main" noGrp="1"/>
          </p:cNvSpPr>
          <p:nvPr/>
        </p:nvSpPr>
        <p:spPr>
          <a:xfrm xmlns:a="http://schemas.openxmlformats.org/drawingml/2006/main">
            <a:off x="628650" y="6429375"/>
            <a:ext cx="10382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5B6676"/>
                </a:solidFill>
                <a:latin typeface="Malgun Gothic"/>
                <a:ea typeface="Malgun Gothic"/>
                <a:cs typeface="Malgun Gothic"/>
              </a:defRPr>
            </a:defPPr>
          </a:lstStyle>
          <a:p xmlns:a="http://schemas.openxmlformats.org/drawingml/2006/main">
            <a:pPr algn="l">
              <a:defRPr sz="1200" b="0">
                <a:solidFill>
                  <a:srgbClr val="5B6676"/>
                </a:solidFill>
                <a:latin typeface="Malgun Gothic"/>
                <a:ea typeface="Malgun Gothic"/>
                <a:cs typeface="Malgun Gothic"/>
              </a:defRPr>
            </a:pPr>
            <a:r>
              <a:rPr sz="1200" b="0">
                <a:solidFill>
                  <a:srgbClr val="5B6676"/>
                </a:solidFill>
                <a:latin typeface="Malgun Gothic"/>
                <a:ea typeface="Malgun Gothic"/>
                <a:cs typeface="Malgun Gothic"/>
              </a:rPr>
              <a:t>근거 </a:t>
            </a:r>
            <a:r>
              <a:rPr sz="1200" b="0">
                <a:solidFill>
                  <a:srgbClr val="5B6676"/>
                </a:solidFill>
                <a:latin typeface="Times New Roman"/>
                <a:ea typeface="Times New Roman"/>
                <a:cs typeface="Times New Roman"/>
              </a:rPr>
              <a:t>E1</a:t>
            </a:r>
            <a:r>
              <a:rPr sz="1200" b="0">
                <a:solidFill>
                  <a:srgbClr val="5B6676"/>
                </a:solidFill>
                <a:latin typeface="Malgun Gothic"/>
                <a:ea typeface="Malgun Gothic"/>
                <a:cs typeface="Malgun Gothic"/>
              </a:rPr>
              <a:t>~</a:t>
            </a:r>
            <a:r>
              <a:rPr sz="1200" b="0">
                <a:solidFill>
                  <a:srgbClr val="5B6676"/>
                </a:solidFill>
                <a:latin typeface="Times New Roman"/>
                <a:ea typeface="Times New Roman"/>
                <a:cs typeface="Times New Roman"/>
              </a:rPr>
              <a:t>E4 </a:t>
            </a:r>
            <a:r>
              <a:rPr sz="1200" b="0">
                <a:solidFill>
                  <a:srgbClr val="5B6676"/>
                </a:solidFill>
                <a:latin typeface="Malgun Gothic"/>
                <a:ea typeface="Malgun Gothic"/>
                <a:cs typeface="Malgun Gothic"/>
              </a:rPr>
              <a:t>· 상세 증빙은 별첨 </a:t>
            </a:r>
            <a:r>
              <a:rPr sz="1200" b="0">
                <a:solidFill>
                  <a:srgbClr val="5B6676"/>
                </a:solidFill>
                <a:latin typeface="Times New Roman"/>
                <a:ea typeface="Times New Roman"/>
                <a:cs typeface="Times New Roman"/>
              </a:rPr>
              <a:t>A1</a:t>
            </a:r>
            <a:r>
              <a:rPr sz="1200" b="0">
                <a:solidFill>
                  <a:srgbClr val="5B6676"/>
                </a:solidFill>
                <a:latin typeface="Malgun Gothic"/>
                <a:ea typeface="Malgun Gothic"/>
                <a:cs typeface="Malgun Gothic"/>
              </a:rPr>
              <a:t>~</a:t>
            </a:r>
            <a:r>
              <a:rPr sz="1200" b="0">
                <a:solidFill>
                  <a:srgbClr val="5B6676"/>
                </a:solidFill>
                <a:latin typeface="Times New Roman"/>
                <a:ea typeface="Times New Roman"/>
                <a:cs typeface="Times New Roman"/>
              </a:rPr>
              <a:t>A4</a:t>
            </a:r>
          </a:p>
        </p:txBody>
      </p:sp>
      <p:sp>
        <p:nvSpPr>
          <p:cNvPr id="4" name="">
            <a:extLst xmlns:a="http://schemas.openxmlformats.org/drawingml/2006/main">
              <a:ext uri="{FF2B5EF4-FFF2-40B4-BE49-F238E27FC236}">
                <a16:creationId xmlns:a16="http://schemas.microsoft.com/office/drawing/2014/main" id="{F9E68BE0-467C-4484-A2BA-C878BDB159B7}"/>
              </a:ext>
            </a:extLst>
          </p:cNvPr>
          <p:cNvSpPr>
            <a:spLocks xmlns:a="http://schemas.openxmlformats.org/drawingml/2006/main" noGrp="1"/>
          </p:cNvSpPr>
          <p:nvPr/>
        </p:nvSpPr>
        <p:spPr>
          <a:xfrm xmlns:a="http://schemas.openxmlformats.org/drawingml/2006/main">
            <a:off x="11096625" y="6391275"/>
            <a:ext cx="4572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650" b="0">
                <a:solidFill>
                  <a:srgbClr val="5B6676"/>
                </a:solidFill>
                <a:latin typeface="Malgun Gothic"/>
                <a:ea typeface="Malgun Gothic"/>
                <a:cs typeface="Malgun Gothic"/>
              </a:defRPr>
            </a:defPPr>
          </a:lstStyle>
          <a:p xmlns:a="http://schemas.openxmlformats.org/drawingml/2006/main">
            <a:pPr algn="r">
              <a:defRPr sz="1650" b="0">
                <a:solidFill>
                  <a:srgbClr val="5B6676"/>
                </a:solidFill>
                <a:latin typeface="Malgun Gothic"/>
                <a:ea typeface="Malgun Gothic"/>
                <a:cs typeface="Malgun Gothic"/>
              </a:defRPr>
            </a:pPr>
            <a:r>
              <a:rPr sz="1650" b="0">
                <a:solidFill>
                  <a:srgbClr val="5B6676"/>
                </a:solidFill>
                <a:latin typeface="Times New Roman"/>
                <a:ea typeface="Times New Roman"/>
                <a:cs typeface="Times New Roman"/>
              </a:rPr>
              <a:t>02</a:t>
            </a:r>
          </a:p>
        </p:txBody>
      </p:sp>
      <p:graphicFrame>
        <p:nvGraphicFramePr>
          <p:cNvPr id="5" name="">
            <a:extLst xmlns:a="http://schemas.openxmlformats.org/drawingml/2006/main">
              <a:ext uri="{FF2B5EF4-FFF2-40B4-BE49-F238E27FC236}">
                <a16:creationId xmlns:a16="http://schemas.microsoft.com/office/drawing/2014/main" id="{2B26E29F-A9C7-4F2A-837F-88250AFFF61A}"/>
              </a:ext>
            </a:extLst>
          </p:cNvPr>
          <p:cNvGraphicFramePr/>
          <p:nvPr/>
        </p:nvGraphicFramePr>
        <p:xfrm>
          <a:off xmlns:a="http://schemas.openxmlformats.org/drawingml/2006/main" x="628650" y="1704975"/>
          <a:ext xmlns:a="http://schemas.openxmlformats.org/drawingml/2006/main" cx="10934700" cy="4438650"/>
        </p:xfrm>
        <a:graphic xmlns:a="http://schemas.openxmlformats.org/drawingml/2006/main">
          <a:graphicData uri="http://schemas.openxmlformats.org/drawingml/2006/table">
            <a:tbl>
              <a:tblPr/>
              <a:tblGrid>
                <a:gridCol w="1866900"/>
                <a:gridCol w="4533900"/>
                <a:gridCol w="4533900"/>
              </a:tblGrid>
              <a:tr h="476250">
                <a:tc>
                  <a:txBody>
                    <a:bodyPr lIns="133350" tIns="133350" rIns="133350" bIns="133350">
                      <a:noAutofit/>
                    </a:bodyPr>
                    <a:lstStyle/>
                    <a:p>
                      <a:r>
                        <a:rPr sz="1800" b="1">
                          <a:solidFill>
                            <a:srgbClr val="FFFFFF"/>
                          </a:solidFill>
                          <a:latin typeface="Malgun Gothic"/>
                          <a:ea typeface="Malgun Gothic"/>
                          <a:cs typeface="Malgun Gothic"/>
                        </a:rPr>
                        <a:t>평가 관점</a:t>
                      </a:r>
                    </a:p>
                  </a:txBody>
                  <a:tcPr marL="91440" marR="91440" marT="45720" marB="45720" anchor="ctr">
                    <a:lnL w="9525">
                      <a:solidFill>
                        <a:srgbClr val="D8DFE8"/>
                      </a:solidFill>
                    </a:lnL>
                    <a:lnR w="9525">
                      <a:solidFill>
                        <a:srgbClr val="D8DFE8"/>
                      </a:solidFill>
                    </a:lnR>
                    <a:lnT w="9525">
                      <a:solidFill>
                        <a:srgbClr val="D8DFE8"/>
                      </a:solidFill>
                    </a:lnT>
                    <a:lnB w="9525">
                      <a:solidFill>
                        <a:srgbClr val="D8DFE8"/>
                      </a:solidFill>
                    </a:lnB>
                    <a:solidFill>
                      <a:srgbClr val="142238"/>
                    </a:solidFill>
                  </a:tcPr>
                </a:tc>
                <a:tc>
                  <a:txBody>
                    <a:bodyPr lIns="133350" tIns="133350" rIns="133350" bIns="133350">
                      <a:noAutofit/>
                    </a:bodyPr>
                    <a:lstStyle/>
                    <a:p>
                      <a:r>
                        <a:rPr sz="1800" b="1">
                          <a:solidFill>
                            <a:srgbClr val="FFFFFF"/>
                          </a:solidFill>
                          <a:latin typeface="Malgun Gothic"/>
                          <a:ea typeface="Malgun Gothic"/>
                          <a:cs typeface="Malgun Gothic"/>
                        </a:rPr>
                        <a:t>확인한 내용</a:t>
                      </a:r>
                    </a:p>
                  </a:txBody>
                  <a:tcPr marL="91440" marR="91440" marT="45720" marB="45720" anchor="ctr">
                    <a:lnR w="9525">
                      <a:solidFill>
                        <a:srgbClr val="D8DFE8"/>
                      </a:solidFill>
                    </a:lnR>
                    <a:lnT w="9525">
                      <a:solidFill>
                        <a:srgbClr val="D8DFE8"/>
                      </a:solidFill>
                    </a:lnT>
                    <a:lnB w="9525">
                      <a:solidFill>
                        <a:srgbClr val="D8DFE8"/>
                      </a:solidFill>
                    </a:lnB>
                    <a:solidFill>
                      <a:srgbClr val="142238"/>
                    </a:solidFill>
                  </a:tcPr>
                </a:tc>
                <a:tc>
                  <a:txBody>
                    <a:bodyPr lIns="133350" tIns="133350" rIns="133350" bIns="133350">
                      <a:noAutofit/>
                    </a:bodyPr>
                    <a:lstStyle/>
                    <a:p>
                      <a:r>
                        <a:rPr sz="1800" b="1">
                          <a:solidFill>
                            <a:srgbClr val="FFFFFF"/>
                          </a:solidFill>
                          <a:latin typeface="Malgun Gothic"/>
                          <a:ea typeface="Malgun Gothic"/>
                          <a:cs typeface="Malgun Gothic"/>
                        </a:rPr>
                        <a:t>근거와 판단 범위</a:t>
                      </a:r>
                    </a:p>
                  </a:txBody>
                  <a:tcPr marL="91440" marR="91440" marT="45720" marB="45720" anchor="ctr">
                    <a:lnR w="9525">
                      <a:solidFill>
                        <a:srgbClr val="D8DFE8"/>
                      </a:solidFill>
                    </a:lnR>
                    <a:lnT w="9525">
                      <a:solidFill>
                        <a:srgbClr val="D8DFE8"/>
                      </a:solidFill>
                    </a:lnT>
                    <a:lnB w="9525">
                      <a:solidFill>
                        <a:srgbClr val="D8DFE8"/>
                      </a:solidFill>
                    </a:lnB>
                    <a:solidFill>
                      <a:srgbClr val="142238"/>
                    </a:solidFill>
                  </a:tcPr>
                </a:tc>
              </a:tr>
              <a:tr h="990600">
                <a:tc>
                  <a:txBody>
                    <a:bodyPr lIns="133350" tIns="133350" rIns="133350" bIns="133350">
                      <a:noAutofit/>
                    </a:bodyPr>
                    <a:lstStyle/>
                    <a:p>
                      <a:r>
                        <a:rPr sz="1800" b="0">
                          <a:solidFill>
                            <a:srgbClr val="142238"/>
                          </a:solidFill>
                          <a:latin typeface="Malgun Gothic"/>
                          <a:ea typeface="Malgun Gothic"/>
                          <a:cs typeface="Malgun Gothic"/>
                        </a:rPr>
                        <a:t>기술 우수성</a:t>
                      </a:r>
                    </a:p>
                  </a:txBody>
                  <a:tcPr marL="91440" marR="91440" marT="45720" marB="45720" anchor="ctr">
                    <a:lnL w="9525">
                      <a:solidFill>
                        <a:srgbClr val="D8DFE8"/>
                      </a:solidFill>
                    </a:lnL>
                    <a:lnR w="9525">
                      <a:solidFill>
                        <a:srgbClr val="D8DFE8"/>
                      </a:solidFill>
                    </a:lnR>
                    <a:lnB w="9525">
                      <a:solidFill>
                        <a:srgbClr val="D8DFE8"/>
                      </a:solidFill>
                    </a:lnB>
                    <a:solidFill>
                      <a:srgbClr val="FFFFFF"/>
                    </a:solidFill>
                  </a:tcPr>
                </a:tc>
                <a:tc>
                  <a:txBody>
                    <a:bodyPr lIns="133350" tIns="133350" rIns="133350" bIns="133350">
                      <a:noAutofit/>
                    </a:bodyPr>
                    <a:lstStyle/>
                    <a:p>
                      <a:r>
                        <a:rPr sz="1800" b="0">
                          <a:solidFill>
                            <a:srgbClr val="142238"/>
                          </a:solidFill>
                          <a:latin typeface="Malgun Gothic"/>
                          <a:ea typeface="Malgun Gothic"/>
                          <a:cs typeface="Malgun Gothic"/>
                        </a:rPr>
                        <a:t>키워드 단독보다 정답 후보를 더 찾음</a:t>
                      </a:r>
                    </a:p>
                    <a:p>
                      <a:r>
                        <a:rPr sz="1800" b="0">
                          <a:solidFill>
                            <a:srgbClr val="142238"/>
                          </a:solidFill>
                          <a:latin typeface="Malgun Gothic"/>
                          <a:ea typeface="Malgun Gothic"/>
                          <a:cs typeface="Malgun Gothic"/>
                        </a:rPr>
                        <a:t>현재 모델의 결합 검색에서 확인</a:t>
                      </a:r>
                    </a:p>
                  </a:txBody>
                  <a:tcPr marL="91440" marR="91440" marT="45720" marB="45720" anchor="ctr">
                    <a:lnR w="9525">
                      <a:solidFill>
                        <a:srgbClr val="D8DFE8"/>
                      </a:solidFill>
                    </a:lnR>
                    <a:lnB w="9525">
                      <a:solidFill>
                        <a:srgbClr val="D8DFE8"/>
                      </a:solidFill>
                    </a:lnB>
                    <a:solidFill>
                      <a:srgbClr val="FFFFFF"/>
                    </a:solidFill>
                  </a:tcPr>
                </a:tc>
                <a:tc>
                  <a:txBody>
                    <a:bodyPr lIns="133350" tIns="133350" rIns="133350" bIns="133350">
                      <a:noAutofit/>
                    </a:bodyPr>
                    <a:lstStyle/>
                    <a:p>
                      <a:r>
                        <a:rPr sz="1800" b="0">
                          <a:solidFill>
                            <a:srgbClr val="142238"/>
                          </a:solidFill>
                          <a:latin typeface="Malgun Gothic"/>
                          <a:ea typeface="Malgun Gothic"/>
                          <a:cs typeface="Malgun Gothic"/>
                        </a:rPr>
                        <a:t>첫 정답 </a:t>
                      </a:r>
                      <a:r>
                        <a:rPr sz="1800" b="0">
                          <a:solidFill>
                            <a:srgbClr val="142238"/>
                          </a:solidFill>
                          <a:latin typeface="Times New Roman"/>
                          <a:ea typeface="Times New Roman"/>
                          <a:cs typeface="Times New Roman"/>
                        </a:rPr>
                        <a:t>28/44</a:t>
                      </a:r>
                      <a:r>
                        <a:rPr sz="1800" b="0">
                          <a:solidFill>
                            <a:srgbClr val="142238"/>
                          </a:solidFill>
                          <a:latin typeface="Malgun Gothic"/>
                          <a:ea typeface="Malgun Gothic"/>
                          <a:cs typeface="Malgun Gothic"/>
                        </a:rPr>
                        <a:t>에서 </a:t>
                      </a:r>
                      <a:r>
                        <a:rPr sz="1800" b="0">
                          <a:solidFill>
                            <a:srgbClr val="142238"/>
                          </a:solidFill>
                          <a:latin typeface="Times New Roman"/>
                          <a:ea typeface="Times New Roman"/>
                          <a:cs typeface="Times New Roman"/>
                        </a:rPr>
                        <a:t>35/44</a:t>
                      </a:r>
                    </a:p>
                    <a:p>
                      <a:r>
                        <a:rPr sz="1800" b="0">
                          <a:solidFill>
                            <a:srgbClr val="142238"/>
                          </a:solidFill>
                          <a:latin typeface="Malgun Gothic"/>
                          <a:ea typeface="Malgun Gothic"/>
                          <a:cs typeface="Malgun Gothic"/>
                        </a:rPr>
                        <a:t>선진사 대비 우위는 미검증</a:t>
                      </a:r>
                    </a:p>
                  </a:txBody>
                  <a:tcPr marL="91440" marR="91440" marT="45720" marB="45720" anchor="ctr">
                    <a:lnR w="9525">
                      <a:solidFill>
                        <a:srgbClr val="D8DFE8"/>
                      </a:solidFill>
                    </a:lnR>
                    <a:lnB w="9525">
                      <a:solidFill>
                        <a:srgbClr val="D8DFE8"/>
                      </a:solidFill>
                    </a:lnB>
                    <a:solidFill>
                      <a:srgbClr val="FFFFFF"/>
                    </a:solidFill>
                  </a:tcPr>
                </a:tc>
              </a:tr>
              <a:tr h="990600">
                <a:tc>
                  <a:txBody>
                    <a:bodyPr lIns="133350" tIns="133350" rIns="133350" bIns="133350">
                      <a:noAutofit/>
                    </a:bodyPr>
                    <a:lstStyle/>
                    <a:p>
                      <a:r>
                        <a:rPr sz="1800" b="0">
                          <a:solidFill>
                            <a:srgbClr val="142238"/>
                          </a:solidFill>
                          <a:latin typeface="Malgun Gothic"/>
                          <a:ea typeface="Malgun Gothic"/>
                          <a:cs typeface="Malgun Gothic"/>
                        </a:rPr>
                        <a:t>파급효과</a:t>
                      </a:r>
                    </a:p>
                  </a:txBody>
                  <a:tcPr marL="91440" marR="91440" marT="45720" marB="45720" anchor="ctr">
                    <a:lnL w="9525">
                      <a:solidFill>
                        <a:srgbClr val="D8DFE8"/>
                      </a:solidFill>
                    </a:lnL>
                    <a:lnR w="9525">
                      <a:solidFill>
                        <a:srgbClr val="D8DFE8"/>
                      </a:solidFill>
                    </a:lnR>
                    <a:lnB w="9525">
                      <a:solidFill>
                        <a:srgbClr val="D8DFE8"/>
                      </a:solidFill>
                    </a:lnB>
                    <a:solidFill>
                      <a:srgbClr val="F6F8FB"/>
                    </a:solidFill>
                  </a:tcPr>
                </a:tc>
                <a:tc>
                  <a:txBody>
                    <a:bodyPr lIns="133350" tIns="133350" rIns="133350" bIns="133350">
                      <a:noAutofit/>
                    </a:bodyPr>
                    <a:lstStyle/>
                    <a:p>
                      <a:r>
                        <a:rPr sz="1800" b="0">
                          <a:solidFill>
                            <a:srgbClr val="142238"/>
                          </a:solidFill>
                          <a:latin typeface="Malgun Gothic"/>
                          <a:ea typeface="Malgun Gothic"/>
                          <a:cs typeface="Malgun Gothic"/>
                        </a:rPr>
                        <a:t>과거 조치 탐색과 인수인계에 활용</a:t>
                      </a:r>
                    </a:p>
                    <a:p>
                      <a:r>
                        <a:rPr sz="1800" b="0">
                          <a:solidFill>
                            <a:srgbClr val="142238"/>
                          </a:solidFill>
                          <a:latin typeface="Malgun Gothic"/>
                          <a:ea typeface="Malgun Gothic"/>
                          <a:cs typeface="Malgun Gothic"/>
                        </a:rPr>
                        <a:t>여러 브라우저에서 같은 자료 조회</a:t>
                      </a:r>
                    </a:p>
                  </a:txBody>
                  <a:tcPr marL="91440" marR="91440" marT="45720" marB="45720" anchor="ctr">
                    <a:lnR w="9525">
                      <a:solidFill>
                        <a:srgbClr val="D8DFE8"/>
                      </a:solidFill>
                    </a:lnR>
                    <a:lnB w="9525">
                      <a:solidFill>
                        <a:srgbClr val="D8DFE8"/>
                      </a:solidFill>
                    </a:lnB>
                    <a:solidFill>
                      <a:srgbClr val="F6F8FB"/>
                    </a:solidFill>
                  </a:tcPr>
                </a:tc>
                <a:tc>
                  <a:txBody>
                    <a:bodyPr lIns="133350" tIns="133350" rIns="133350" bIns="133350">
                      <a:noAutofit/>
                    </a:bodyPr>
                    <a:lstStyle/>
                    <a:p>
                      <a:r>
                        <a:rPr sz="1800" b="0">
                          <a:solidFill>
                            <a:srgbClr val="142238"/>
                          </a:solidFill>
                          <a:latin typeface="Malgun Gothic"/>
                          <a:ea typeface="Malgun Gothic"/>
                          <a:cs typeface="Malgun Gothic"/>
                        </a:rPr>
                        <a:t>업무 적용을 위한 기능 구현</a:t>
                      </a:r>
                    </a:p>
                    <a:p>
                      <a:r>
                        <a:rPr sz="1800" b="0">
                          <a:solidFill>
                            <a:srgbClr val="142238"/>
                          </a:solidFill>
                          <a:latin typeface="Malgun Gothic"/>
                          <a:ea typeface="Malgun Gothic"/>
                          <a:cs typeface="Malgun Gothic"/>
                        </a:rPr>
                        <a:t>양산 효과와 절감 시간은 측정 전</a:t>
                      </a:r>
                    </a:p>
                  </a:txBody>
                  <a:tcPr marL="91440" marR="91440" marT="45720" marB="45720" anchor="ctr">
                    <a:lnR w="9525">
                      <a:solidFill>
                        <a:srgbClr val="D8DFE8"/>
                      </a:solidFill>
                    </a:lnR>
                    <a:lnB w="9525">
                      <a:solidFill>
                        <a:srgbClr val="D8DFE8"/>
                      </a:solidFill>
                    </a:lnB>
                    <a:solidFill>
                      <a:srgbClr val="F6F8FB"/>
                    </a:solidFill>
                  </a:tcPr>
                </a:tc>
              </a:tr>
              <a:tr h="990600">
                <a:tc>
                  <a:txBody>
                    <a:bodyPr lIns="133350" tIns="133350" rIns="133350" bIns="133350">
                      <a:noAutofit/>
                    </a:bodyPr>
                    <a:lstStyle/>
                    <a:p>
                      <a:r>
                        <a:rPr sz="1800" b="0">
                          <a:solidFill>
                            <a:srgbClr val="142238"/>
                          </a:solidFill>
                          <a:latin typeface="Malgun Gothic"/>
                          <a:ea typeface="Malgun Gothic"/>
                          <a:cs typeface="Malgun Gothic"/>
                        </a:rPr>
                        <a:t>독창성</a:t>
                      </a:r>
                    </a:p>
                  </a:txBody>
                  <a:tcPr marL="91440" marR="91440" marT="45720" marB="45720" anchor="ctr">
                    <a:lnL w="9525">
                      <a:solidFill>
                        <a:srgbClr val="D8DFE8"/>
                      </a:solidFill>
                    </a:lnL>
                    <a:lnR w="9525">
                      <a:solidFill>
                        <a:srgbClr val="D8DFE8"/>
                      </a:solidFill>
                    </a:lnR>
                    <a:lnB w="9525">
                      <a:solidFill>
                        <a:srgbClr val="D8DFE8"/>
                      </a:solidFill>
                    </a:lnB>
                    <a:solidFill>
                      <a:srgbClr val="FFFFFF"/>
                    </a:solidFill>
                  </a:tcPr>
                </a:tc>
                <a:tc>
                  <a:txBody>
                    <a:bodyPr lIns="133350" tIns="133350" rIns="133350" bIns="133350">
                      <a:noAutofit/>
                    </a:bodyPr>
                    <a:lstStyle/>
                    <a:p>
                      <a:r>
                        <a:rPr sz="1800" b="0">
                          <a:solidFill>
                            <a:srgbClr val="142238"/>
                          </a:solidFill>
                          <a:latin typeface="Malgun Gothic"/>
                          <a:ea typeface="Malgun Gothic"/>
                          <a:cs typeface="Malgun Gothic"/>
                        </a:rPr>
                        <a:t>같은 </a:t>
                      </a:r>
                      <a:r>
                        <a:rPr sz="1800" b="0">
                          <a:solidFill>
                            <a:srgbClr val="142238"/>
                          </a:solidFill>
                          <a:latin typeface="Times New Roman"/>
                          <a:ea typeface="Times New Roman"/>
                          <a:cs typeface="Times New Roman"/>
                        </a:rPr>
                        <a:t>CS</a:t>
                      </a:r>
                      <a:r>
                        <a:rPr sz="1800" b="0">
                          <a:solidFill>
                            <a:srgbClr val="142238"/>
                          </a:solidFill>
                          <a:latin typeface="Malgun Gothic"/>
                          <a:ea typeface="Malgun Gothic"/>
                          <a:cs typeface="Malgun Gothic"/>
                        </a:rPr>
                        <a:t>의 복수 상세를 구분</a:t>
                      </a:r>
                    </a:p>
                    <a:p>
                      <a:r>
                        <a:rPr sz="1800" b="0">
                          <a:solidFill>
                            <a:srgbClr val="142238"/>
                          </a:solidFill>
                          <a:latin typeface="Malgun Gothic"/>
                          <a:ea typeface="Malgun Gothic"/>
                          <a:cs typeface="Malgun Gothic"/>
                        </a:rPr>
                        <a:t>답변을 실제 원문 셀과 연결</a:t>
                      </a:r>
                    </a:p>
                  </a:txBody>
                  <a:tcPr marL="91440" marR="91440" marT="45720" marB="45720" anchor="ctr">
                    <a:lnR w="9525">
                      <a:solidFill>
                        <a:srgbClr val="D8DFE8"/>
                      </a:solidFill>
                    </a:lnR>
                    <a:lnB w="9525">
                      <a:solidFill>
                        <a:srgbClr val="D8DFE8"/>
                      </a:solidFill>
                    </a:lnB>
                    <a:solidFill>
                      <a:srgbClr val="FFFFFF"/>
                    </a:solidFill>
                  </a:tcPr>
                </a:tc>
                <a:tc>
                  <a:txBody>
                    <a:bodyPr lIns="133350" tIns="133350" rIns="133350" bIns="133350">
                      <a:noAutofit/>
                    </a:bodyPr>
                    <a:lstStyle/>
                    <a:p>
                      <a:r>
                        <a:rPr sz="1800" b="0">
                          <a:solidFill>
                            <a:srgbClr val="142238"/>
                          </a:solidFill>
                          <a:latin typeface="Malgun Gothic"/>
                          <a:ea typeface="Malgun Gothic"/>
                          <a:cs typeface="Malgun Gothic"/>
                        </a:rPr>
                        <a:t>업무 특화 구조를 제시</a:t>
                      </a:r>
                    </a:p>
                    <a:p>
                      <a:r>
                        <a:rPr sz="1800" b="0">
                          <a:solidFill>
                            <a:srgbClr val="142238"/>
                          </a:solidFill>
                          <a:latin typeface="Malgun Gothic"/>
                          <a:ea typeface="Malgun Gothic"/>
                          <a:cs typeface="Malgun Gothic"/>
                        </a:rPr>
                        <a:t>특허 출원·등록 자료는 미확인</a:t>
                      </a:r>
                    </a:p>
                  </a:txBody>
                  <a:tcPr marL="91440" marR="91440" marT="45720" marB="45720" anchor="ctr">
                    <a:lnR w="9525">
                      <a:solidFill>
                        <a:srgbClr val="D8DFE8"/>
                      </a:solidFill>
                    </a:lnR>
                    <a:lnB w="9525">
                      <a:solidFill>
                        <a:srgbClr val="D8DFE8"/>
                      </a:solidFill>
                    </a:lnB>
                    <a:solidFill>
                      <a:srgbClr val="FFFFFF"/>
                    </a:solidFill>
                  </a:tcPr>
                </a:tc>
              </a:tr>
              <a:tr h="990600">
                <a:tc>
                  <a:txBody>
                    <a:bodyPr lIns="133350" tIns="133350" rIns="133350" bIns="133350">
                      <a:noAutofit/>
                    </a:bodyPr>
                    <a:lstStyle/>
                    <a:p>
                      <a:r>
                        <a:rPr sz="1800" b="0">
                          <a:solidFill>
                            <a:srgbClr val="142238"/>
                          </a:solidFill>
                          <a:latin typeface="Malgun Gothic"/>
                          <a:ea typeface="Malgun Gothic"/>
                          <a:cs typeface="Malgun Gothic"/>
                        </a:rPr>
                        <a:t>근거 타당성</a:t>
                      </a:r>
                    </a:p>
                  </a:txBody>
                  <a:tcPr marL="91440" marR="91440" marT="45720" marB="45720" anchor="ctr">
                    <a:lnL w="9525">
                      <a:solidFill>
                        <a:srgbClr val="D8DFE8"/>
                      </a:solidFill>
                    </a:lnL>
                    <a:lnR w="9525">
                      <a:solidFill>
                        <a:srgbClr val="D8DFE8"/>
                      </a:solidFill>
                    </a:lnR>
                    <a:lnB w="9525">
                      <a:solidFill>
                        <a:srgbClr val="D8DFE8"/>
                      </a:solidFill>
                    </a:lnB>
                    <a:solidFill>
                      <a:srgbClr val="F6F8FB"/>
                    </a:solidFill>
                  </a:tcPr>
                </a:tc>
                <a:tc>
                  <a:txBody>
                    <a:bodyPr lIns="133350" tIns="133350" rIns="133350" bIns="133350">
                      <a:noAutofit/>
                    </a:bodyPr>
                    <a:lstStyle/>
                    <a:p>
                      <a:r>
                        <a:rPr sz="1800" b="0">
                          <a:solidFill>
                            <a:srgbClr val="142238"/>
                          </a:solidFill>
                          <a:latin typeface="Malgun Gothic"/>
                          <a:ea typeface="Malgun Gothic"/>
                          <a:cs typeface="Malgun Gothic"/>
                        </a:rPr>
                        <a:t>같은 질문과 원문으로 비교</a:t>
                      </a:r>
                    </a:p>
                    <a:p>
                      <a:r>
                        <a:rPr sz="1800" b="0">
                          <a:solidFill>
                            <a:srgbClr val="142238"/>
                          </a:solidFill>
                          <a:latin typeface="Malgun Gothic"/>
                          <a:ea typeface="Malgun Gothic"/>
                          <a:cs typeface="Malgun Gothic"/>
                        </a:rPr>
                        <a:t>실패와 원문 보존 여부도 기록</a:t>
                      </a:r>
                    </a:p>
                  </a:txBody>
                  <a:tcPr marL="91440" marR="91440" marT="45720" marB="45720" anchor="ctr">
                    <a:lnR w="9525">
                      <a:solidFill>
                        <a:srgbClr val="D8DFE8"/>
                      </a:solidFill>
                    </a:lnR>
                    <a:lnB w="9525">
                      <a:solidFill>
                        <a:srgbClr val="D8DFE8"/>
                      </a:solidFill>
                    </a:lnB>
                    <a:solidFill>
                      <a:srgbClr val="F6F8FB"/>
                    </a:solidFill>
                  </a:tcPr>
                </a:tc>
                <a:tc>
                  <a:txBody>
                    <a:bodyPr lIns="133350" tIns="133350" rIns="133350" bIns="133350">
                      <a:noAutofit/>
                    </a:bodyPr>
                    <a:lstStyle/>
                    <a:p>
                      <a:r>
                        <a:rPr sz="1800" b="0">
                          <a:solidFill>
                            <a:srgbClr val="142238"/>
                          </a:solidFill>
                          <a:latin typeface="Malgun Gothic"/>
                          <a:ea typeface="Malgun Gothic"/>
                          <a:cs typeface="Malgun Gothic"/>
                        </a:rPr>
                        <a:t>합성 검색 평가와 기능 검사</a:t>
                      </a:r>
                    </a:p>
                    <a:p>
                      <a:r>
                        <a:rPr sz="1800" b="0">
                          <a:solidFill>
                            <a:srgbClr val="142238"/>
                          </a:solidFill>
                          <a:latin typeface="Malgun Gothic"/>
                          <a:ea typeface="Malgun Gothic"/>
                          <a:cs typeface="Malgun Gothic"/>
                        </a:rPr>
                        <a:t>현장 성과와 구분하여 제시</a:t>
                      </a:r>
                    </a:p>
                  </a:txBody>
                  <a:tcPr marL="91440" marR="91440" marT="45720" marB="45720" anchor="ctr">
                    <a:lnR w="9525">
                      <a:solidFill>
                        <a:srgbClr val="D8DFE8"/>
                      </a:solidFill>
                    </a:lnR>
                    <a:lnB w="9525">
                      <a:solidFill>
                        <a:srgbClr val="D8DFE8"/>
                      </a:solidFill>
                    </a:lnB>
                    <a:solidFill>
                      <a:srgbClr val="F6F8FB"/>
                    </a:solidFill>
                  </a:tcPr>
                </a:tc>
              </a:tr>
            </a:tbl>
          </a:graphicData>
        </a:graphic>
      </p:graphicFrame>
    </p:spTree>
    <p:extLst>
      <p:ext uri="{BB962C8B-B14F-4D97-AF65-F5344CB8AC3E}">
        <p14:creationId xmlns:p14="http://schemas.microsoft.com/office/powerpoint/2010/main" val="1009246356"/>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F293C0F1-1352-487B-81DF-F1C30B7C9A44}"/>
              </a:ext>
            </a:extLst>
          </p:cNvPr>
          <p:cNvSpPr>
            <a:spLocks xmlns:a="http://schemas.openxmlformats.org/drawingml/2006/main" noGrp="1"/>
          </p:cNvSpPr>
          <p:nvPr/>
        </p:nvSpPr>
        <p:spPr>
          <a:xfrm xmlns:a="http://schemas.openxmlformats.org/drawingml/2006/main">
            <a:off x="609600" y="428625"/>
            <a:ext cx="1095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142238"/>
                </a:solidFill>
                <a:latin typeface="Malgun Gothic"/>
                <a:ea typeface="Malgun Gothic"/>
                <a:cs typeface="Malgun Gothic"/>
              </a:defRPr>
            </a:defPPr>
          </a:lstStyle>
          <a:p xmlns:a="http://schemas.openxmlformats.org/drawingml/2006/main">
            <a:pPr algn="l">
              <a:defRPr sz="3225" b="1">
                <a:solidFill>
                  <a:srgbClr val="142238"/>
                </a:solidFill>
                <a:latin typeface="Malgun Gothic"/>
                <a:ea typeface="Malgun Gothic"/>
                <a:cs typeface="Malgun Gothic"/>
              </a:defRPr>
            </a:pPr>
            <a:r>
              <a:rPr sz="3225" b="1">
                <a:solidFill>
                  <a:srgbClr val="142238"/>
                </a:solidFill>
                <a:latin typeface="Times New Roman"/>
                <a:ea typeface="Times New Roman"/>
                <a:cs typeface="Times New Roman"/>
              </a:rPr>
              <a:t>CS </a:t>
            </a:r>
            <a:r>
              <a:rPr sz="3225" b="1">
                <a:solidFill>
                  <a:srgbClr val="142238"/>
                </a:solidFill>
                <a:latin typeface="Malgun Gothic"/>
                <a:ea typeface="Malgun Gothic"/>
                <a:cs typeface="Malgun Gothic"/>
              </a:rPr>
              <a:t>이력에서 다시 찾아야 하는 정보</a:t>
            </a:r>
          </a:p>
        </p:txBody>
      </p:sp>
      <p:sp>
        <p:nvSpPr>
          <p:cNvPr id="2" name="">
            <a:extLst xmlns:a="http://schemas.openxmlformats.org/drawingml/2006/main">
              <a:ext uri="{FF2B5EF4-FFF2-40B4-BE49-F238E27FC236}">
                <a16:creationId xmlns:a16="http://schemas.microsoft.com/office/drawing/2014/main" id="{971673BC-1615-4FA3-BD7B-F4D2FE6FA73F}"/>
              </a:ext>
            </a:extLst>
          </p:cNvPr>
          <p:cNvSpPr>
            <a:spLocks xmlns:a="http://schemas.openxmlformats.org/drawingml/2006/main" noGrp="1"/>
          </p:cNvSpPr>
          <p:nvPr/>
        </p:nvSpPr>
        <p:spPr>
          <a:xfrm xmlns:a="http://schemas.openxmlformats.org/drawingml/2006/main">
            <a:off x="628650" y="1066800"/>
            <a:ext cx="10896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B6676"/>
                </a:solidFill>
                <a:latin typeface="Malgun Gothic"/>
                <a:ea typeface="Malgun Gothic"/>
                <a:cs typeface="Malgun Gothic"/>
              </a:defRPr>
            </a:defPPr>
          </a:lstStyle>
          <a:p xmlns:a="http://schemas.openxmlformats.org/drawingml/2006/main">
            <a:pPr algn="l">
              <a:defRPr sz="1725" b="0">
                <a:solidFill>
                  <a:srgbClr val="5B6676"/>
                </a:solidFill>
                <a:latin typeface="Malgun Gothic"/>
                <a:ea typeface="Malgun Gothic"/>
                <a:cs typeface="Malgun Gothic"/>
              </a:defRPr>
            </a:pPr>
            <a:r>
              <a:rPr sz="1725" b="0">
                <a:solidFill>
                  <a:srgbClr val="5B6676"/>
                </a:solidFill>
                <a:latin typeface="Malgun Gothic"/>
                <a:ea typeface="Malgun Gothic"/>
                <a:cs typeface="Malgun Gothic"/>
              </a:rPr>
              <a:t>같은 문제라도 사람마다 표현이 다르고, 한 접수 안에 여러 부품의 기록이 섞입니다.</a:t>
            </a:r>
          </a:p>
        </p:txBody>
      </p:sp>
      <p:sp>
        <p:nvSpPr>
          <p:cNvPr id="3" name="">
            <a:extLst xmlns:a="http://schemas.openxmlformats.org/drawingml/2006/main">
              <a:ext uri="{FF2B5EF4-FFF2-40B4-BE49-F238E27FC236}">
                <a16:creationId xmlns:a16="http://schemas.microsoft.com/office/drawing/2014/main" id="{295B9105-29D1-42B6-87B4-57D566335114}"/>
              </a:ext>
            </a:extLst>
          </p:cNvPr>
          <p:cNvSpPr>
            <a:spLocks xmlns:a="http://schemas.openxmlformats.org/drawingml/2006/main" noGrp="1"/>
          </p:cNvSpPr>
          <p:nvPr/>
        </p:nvSpPr>
        <p:spPr>
          <a:xfrm xmlns:a="http://schemas.openxmlformats.org/drawingml/2006/main">
            <a:off x="628650" y="6429375"/>
            <a:ext cx="10382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5B6676"/>
                </a:solidFill>
                <a:latin typeface="Malgun Gothic"/>
                <a:ea typeface="Malgun Gothic"/>
                <a:cs typeface="Malgun Gothic"/>
              </a:defRPr>
            </a:defPPr>
          </a:lstStyle>
          <a:p xmlns:a="http://schemas.openxmlformats.org/drawingml/2006/main">
            <a:pPr algn="l">
              <a:defRPr sz="1200" b="0">
                <a:solidFill>
                  <a:srgbClr val="5B6676"/>
                </a:solidFill>
                <a:latin typeface="Malgun Gothic"/>
                <a:ea typeface="Malgun Gothic"/>
                <a:cs typeface="Malgun Gothic"/>
              </a:defRPr>
            </a:pPr>
            <a:r>
              <a:rPr sz="1200" b="0">
                <a:solidFill>
                  <a:srgbClr val="5B6676"/>
                </a:solidFill>
                <a:latin typeface="Malgun Gothic"/>
                <a:ea typeface="Malgun Gothic"/>
                <a:cs typeface="Malgun Gothic"/>
              </a:rPr>
              <a:t>근거 </a:t>
            </a:r>
            <a:r>
              <a:rPr sz="1200" b="0">
                <a:solidFill>
                  <a:srgbClr val="5B6676"/>
                </a:solidFill>
                <a:latin typeface="Times New Roman"/>
                <a:ea typeface="Times New Roman"/>
                <a:cs typeface="Times New Roman"/>
              </a:rPr>
              <a:t>E1 </a:t>
            </a:r>
            <a:r>
              <a:rPr sz="1200" b="0">
                <a:solidFill>
                  <a:srgbClr val="5B6676"/>
                </a:solidFill>
                <a:latin typeface="Malgun Gothic"/>
                <a:ea typeface="Malgun Gothic"/>
                <a:cs typeface="Malgun Gothic"/>
              </a:rPr>
              <a:t>· 아래 문장은 구조 설명용 가상 예시</a:t>
            </a:r>
          </a:p>
        </p:txBody>
      </p:sp>
      <p:sp>
        <p:nvSpPr>
          <p:cNvPr id="4" name="">
            <a:extLst xmlns:a="http://schemas.openxmlformats.org/drawingml/2006/main">
              <a:ext uri="{FF2B5EF4-FFF2-40B4-BE49-F238E27FC236}">
                <a16:creationId xmlns:a16="http://schemas.microsoft.com/office/drawing/2014/main" id="{1E985373-5123-489D-BBFD-92AA99B63DAE}"/>
              </a:ext>
            </a:extLst>
          </p:cNvPr>
          <p:cNvSpPr>
            <a:spLocks xmlns:a="http://schemas.openxmlformats.org/drawingml/2006/main" noGrp="1"/>
          </p:cNvSpPr>
          <p:nvPr/>
        </p:nvSpPr>
        <p:spPr>
          <a:xfrm xmlns:a="http://schemas.openxmlformats.org/drawingml/2006/main">
            <a:off x="11096625" y="6391275"/>
            <a:ext cx="4572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650" b="0">
                <a:solidFill>
                  <a:srgbClr val="5B6676"/>
                </a:solidFill>
                <a:latin typeface="Malgun Gothic"/>
                <a:ea typeface="Malgun Gothic"/>
                <a:cs typeface="Malgun Gothic"/>
              </a:defRPr>
            </a:defPPr>
          </a:lstStyle>
          <a:p xmlns:a="http://schemas.openxmlformats.org/drawingml/2006/main">
            <a:pPr algn="r">
              <a:defRPr sz="1650" b="0">
                <a:solidFill>
                  <a:srgbClr val="5B6676"/>
                </a:solidFill>
                <a:latin typeface="Malgun Gothic"/>
                <a:ea typeface="Malgun Gothic"/>
                <a:cs typeface="Malgun Gothic"/>
              </a:defRPr>
            </a:pPr>
            <a:r>
              <a:rPr sz="1650" b="0">
                <a:solidFill>
                  <a:srgbClr val="5B6676"/>
                </a:solidFill>
                <a:latin typeface="Times New Roman"/>
                <a:ea typeface="Times New Roman"/>
                <a:cs typeface="Times New Roman"/>
              </a:rPr>
              <a:t>03</a:t>
            </a:r>
          </a:p>
        </p:txBody>
      </p:sp>
      <p:sp>
        <p:nvSpPr>
          <p:cNvPr id="5" name="">
            <a:extLst xmlns:a="http://schemas.openxmlformats.org/drawingml/2006/main">
              <a:ext uri="{FF2B5EF4-FFF2-40B4-BE49-F238E27FC236}">
                <a16:creationId xmlns:a16="http://schemas.microsoft.com/office/drawing/2014/main" id="{C82DF4E7-EFB3-499C-BAD0-8F74294C40E1}"/>
              </a:ext>
            </a:extLst>
          </p:cNvPr>
          <p:cNvSpPr>
            <a:spLocks xmlns:a="http://schemas.openxmlformats.org/drawingml/2006/main" noGrp="1"/>
          </p:cNvSpPr>
          <p:nvPr/>
        </p:nvSpPr>
        <p:spPr>
          <a:xfrm xmlns:a="http://schemas.openxmlformats.org/drawingml/2006/main">
            <a:off x="647700" y="1866900"/>
            <a:ext cx="49053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1459C7"/>
                </a:solidFill>
                <a:latin typeface="Malgun Gothic"/>
                <a:ea typeface="Malgun Gothic"/>
                <a:cs typeface="Malgun Gothic"/>
              </a:defRPr>
            </a:defPPr>
          </a:lstStyle>
          <a:p xmlns:a="http://schemas.openxmlformats.org/drawingml/2006/main">
            <a:pPr algn="l">
              <a:defRPr sz="1875" b="1">
                <a:solidFill>
                  <a:srgbClr val="1459C7"/>
                </a:solidFill>
                <a:latin typeface="Malgun Gothic"/>
                <a:ea typeface="Malgun Gothic"/>
                <a:cs typeface="Malgun Gothic"/>
              </a:defRPr>
            </a:pPr>
            <a:r>
              <a:rPr sz="1875" b="1">
                <a:solidFill>
                  <a:srgbClr val="1459C7"/>
                </a:solidFill>
                <a:latin typeface="Malgun Gothic"/>
                <a:ea typeface="Malgun Gothic"/>
                <a:cs typeface="Malgun Gothic"/>
              </a:rPr>
              <a:t>현장에서 묻는 질문</a:t>
            </a:r>
          </a:p>
        </p:txBody>
      </p:sp>
      <p:sp>
        <p:nvSpPr>
          <p:cNvPr id="6" name="">
            <a:extLst xmlns:a="http://schemas.openxmlformats.org/drawingml/2006/main">
              <a:ext uri="{FF2B5EF4-FFF2-40B4-BE49-F238E27FC236}">
                <a16:creationId xmlns:a16="http://schemas.microsoft.com/office/drawing/2014/main" id="{1462365B-D9C8-458E-8B8E-3623A906CC67}"/>
              </a:ext>
            </a:extLst>
          </p:cNvPr>
          <p:cNvSpPr>
            <a:spLocks xmlns:a="http://schemas.openxmlformats.org/drawingml/2006/main" noGrp="1"/>
          </p:cNvSpPr>
          <p:nvPr/>
        </p:nvSpPr>
        <p:spPr>
          <a:xfrm xmlns:a="http://schemas.openxmlformats.org/drawingml/2006/main">
            <a:off x="647700" y="2419350"/>
            <a:ext cx="5619750" cy="1314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925" b="1">
                <a:solidFill>
                  <a:srgbClr val="142238"/>
                </a:solidFill>
                <a:latin typeface="Malgun Gothic"/>
                <a:ea typeface="Malgun Gothic"/>
                <a:cs typeface="Malgun Gothic"/>
              </a:defRPr>
            </a:defPPr>
          </a:lstStyle>
          <a:p xmlns:a="http://schemas.openxmlformats.org/drawingml/2006/main">
            <a:pPr algn="l">
              <a:defRPr sz="2925" b="1">
                <a:solidFill>
                  <a:srgbClr val="142238"/>
                </a:solidFill>
                <a:latin typeface="Malgun Gothic"/>
                <a:ea typeface="Malgun Gothic"/>
                <a:cs typeface="Malgun Gothic"/>
              </a:defRPr>
            </a:pPr>
            <a:r>
              <a:rPr sz="2925" b="1">
                <a:solidFill>
                  <a:srgbClr val="142238"/>
                </a:solidFill>
                <a:latin typeface="Malgun Gothic"/>
                <a:ea typeface="Malgun Gothic"/>
                <a:cs typeface="Malgun Gothic"/>
              </a:rPr>
              <a:t>“펌프에서 누수가 생겼을 때</a:t>
            </a:r>
          </a:p>
          <a:p xmlns:a="http://schemas.openxmlformats.org/drawingml/2006/main">
            <a:pPr algn="l">
              <a:defRPr sz="2925" b="1">
                <a:solidFill>
                  <a:srgbClr val="142238"/>
                </a:solidFill>
                <a:latin typeface="Malgun Gothic"/>
                <a:ea typeface="Malgun Gothic"/>
                <a:cs typeface="Malgun Gothic"/>
              </a:defRPr>
            </a:pPr>
            <a:r>
              <a:rPr sz="2925" b="1">
                <a:solidFill>
                  <a:srgbClr val="142238"/>
                </a:solidFill>
                <a:latin typeface="Malgun Gothic"/>
                <a:ea typeface="Malgun Gothic"/>
                <a:cs typeface="Malgun Gothic"/>
              </a:rPr>
              <a:t>과거에 어떤 조치를 했는가?”</a:t>
            </a:r>
          </a:p>
        </p:txBody>
      </p:sp>
      <p:sp>
        <p:nvSpPr>
          <p:cNvPr id="7" name="">
            <a:extLst xmlns:a="http://schemas.openxmlformats.org/drawingml/2006/main">
              <a:ext uri="{FF2B5EF4-FFF2-40B4-BE49-F238E27FC236}">
                <a16:creationId xmlns:a16="http://schemas.microsoft.com/office/drawing/2014/main" id="{0B240B2A-C8C6-4078-8123-3C9011347F2E}"/>
              </a:ext>
            </a:extLst>
          </p:cNvPr>
          <p:cNvSpPr>
            <a:spLocks xmlns:a="http://schemas.openxmlformats.org/drawingml/2006/main" noGrp="1"/>
          </p:cNvSpPr>
          <p:nvPr/>
        </p:nvSpPr>
        <p:spPr>
          <a:xfrm xmlns:a="http://schemas.openxmlformats.org/drawingml/2006/main">
            <a:off x="657225" y="4210050"/>
            <a:ext cx="5257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5B6676"/>
                </a:solidFill>
                <a:latin typeface="Malgun Gothic"/>
                <a:ea typeface="Malgun Gothic"/>
                <a:cs typeface="Malgun Gothic"/>
              </a:defRPr>
            </a:defPPr>
          </a:lstStyle>
          <a:p xmlns:a="http://schemas.openxmlformats.org/drawingml/2006/main">
            <a:pPr algn="l">
              <a:defRPr sz="2175" b="0">
                <a:solidFill>
                  <a:srgbClr val="5B6676"/>
                </a:solidFill>
                <a:latin typeface="Malgun Gothic"/>
                <a:ea typeface="Malgun Gothic"/>
                <a:cs typeface="Malgun Gothic"/>
              </a:defRPr>
            </a:pPr>
            <a:r>
              <a:rPr sz="2175" b="0">
                <a:solidFill>
                  <a:srgbClr val="5B6676"/>
                </a:solidFill>
                <a:latin typeface="Malgun Gothic"/>
                <a:ea typeface="Malgun Gothic"/>
                <a:cs typeface="Malgun Gothic"/>
              </a:rPr>
              <a:t>필요한 답은 관련 문서의 제목을 넘어,</a:t>
            </a:r>
          </a:p>
          <a:p xmlns:a="http://schemas.openxmlformats.org/drawingml/2006/main">
            <a:pPr algn="l">
              <a:defRPr sz="2175" b="0">
                <a:solidFill>
                  <a:srgbClr val="5B6676"/>
                </a:solidFill>
                <a:latin typeface="Malgun Gothic"/>
                <a:ea typeface="Malgun Gothic"/>
                <a:cs typeface="Malgun Gothic"/>
              </a:defRPr>
            </a:pPr>
            <a:r>
              <a:rPr sz="2175" b="0">
                <a:solidFill>
                  <a:srgbClr val="5B6676"/>
                </a:solidFill>
                <a:latin typeface="Malgun Gothic"/>
                <a:ea typeface="Malgun Gothic"/>
                <a:cs typeface="Malgun Gothic"/>
              </a:rPr>
              <a:t>실제 수행 조치와 확인된 결과입니다.</a:t>
            </a:r>
          </a:p>
        </p:txBody>
      </p:sp>
      <p:sp>
        <p:nvSpPr>
          <p:cNvPr id="8" name="">
            <a:extLst xmlns:a="http://schemas.openxmlformats.org/drawingml/2006/main">
              <a:ext uri="{FF2B5EF4-FFF2-40B4-BE49-F238E27FC236}">
                <a16:creationId xmlns:a16="http://schemas.microsoft.com/office/drawing/2014/main" id="{7B92EE39-5018-410E-AC5F-2068E49484C6}"/>
              </a:ext>
            </a:extLst>
          </p:cNvPr>
          <p:cNvSpPr>
            <a:spLocks xmlns:a="http://schemas.openxmlformats.org/drawingml/2006/main" noGrp="1"/>
          </p:cNvSpPr>
          <p:nvPr/>
        </p:nvSpPr>
        <p:spPr>
          <a:xfrm xmlns:a="http://schemas.openxmlformats.org/drawingml/2006/main">
            <a:off x="7019925" y="1895475"/>
            <a:ext cx="42005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459C7"/>
                </a:solidFill>
                <a:latin typeface="Malgun Gothic"/>
                <a:ea typeface="Malgun Gothic"/>
                <a:cs typeface="Malgun Gothic"/>
              </a:defRPr>
            </a:defPPr>
          </a:lstStyle>
          <a:p xmlns:a="http://schemas.openxmlformats.org/drawingml/2006/main">
            <a:pPr algn="l">
              <a:defRPr sz="2175" b="1">
                <a:solidFill>
                  <a:srgbClr val="1459C7"/>
                </a:solidFill>
                <a:latin typeface="Malgun Gothic"/>
                <a:ea typeface="Malgun Gothic"/>
                <a:cs typeface="Malgun Gothic"/>
              </a:defRPr>
            </a:pPr>
            <a:r>
              <a:rPr sz="2175" b="1">
                <a:solidFill>
                  <a:srgbClr val="1459C7"/>
                </a:solidFill>
                <a:latin typeface="Malgun Gothic"/>
                <a:ea typeface="Malgun Gothic"/>
                <a:cs typeface="Malgun Gothic"/>
              </a:rPr>
              <a:t>표현 차이</a:t>
            </a:r>
          </a:p>
        </p:txBody>
      </p:sp>
      <p:sp>
        <p:nvSpPr>
          <p:cNvPr id="9" name="">
            <a:extLst xmlns:a="http://schemas.openxmlformats.org/drawingml/2006/main">
              <a:ext uri="{FF2B5EF4-FFF2-40B4-BE49-F238E27FC236}">
                <a16:creationId xmlns:a16="http://schemas.microsoft.com/office/drawing/2014/main" id="{86A15475-88AA-412D-ABC3-95FF47D45C80}"/>
              </a:ext>
            </a:extLst>
          </p:cNvPr>
          <p:cNvSpPr>
            <a:spLocks xmlns:a="http://schemas.openxmlformats.org/drawingml/2006/main" noGrp="1"/>
          </p:cNvSpPr>
          <p:nvPr/>
        </p:nvSpPr>
        <p:spPr>
          <a:xfrm xmlns:a="http://schemas.openxmlformats.org/drawingml/2006/main">
            <a:off x="7019925" y="2371725"/>
            <a:ext cx="42672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42238"/>
                </a:solidFill>
                <a:latin typeface="Malgun Gothic"/>
                <a:ea typeface="Malgun Gothic"/>
                <a:cs typeface="Malgun Gothic"/>
              </a:defRPr>
            </a:defPPr>
          </a:lstStyle>
          <a:p xmlns:a="http://schemas.openxmlformats.org/drawingml/2006/main">
            <a:pPr algn="l">
              <a:defRPr sz="1875" b="0">
                <a:solidFill>
                  <a:srgbClr val="142238"/>
                </a:solidFill>
                <a:latin typeface="Malgun Gothic"/>
                <a:ea typeface="Malgun Gothic"/>
                <a:cs typeface="Malgun Gothic"/>
              </a:defRPr>
            </a:pPr>
            <a:r>
              <a:rPr sz="1875" b="0">
                <a:solidFill>
                  <a:srgbClr val="142238"/>
                </a:solidFill>
                <a:latin typeface="Malgun Gothic"/>
                <a:ea typeface="Malgun Gothic"/>
                <a:cs typeface="Malgun Gothic"/>
              </a:rPr>
              <a:t>누수, </a:t>
            </a:r>
            <a:r>
              <a:rPr sz="1875" b="0">
                <a:solidFill>
                  <a:srgbClr val="142238"/>
                </a:solidFill>
                <a:latin typeface="Times New Roman"/>
                <a:ea typeface="Times New Roman"/>
                <a:cs typeface="Times New Roman"/>
              </a:rPr>
              <a:t>leak, </a:t>
            </a:r>
            <a:r>
              <a:rPr sz="1875" b="0">
                <a:solidFill>
                  <a:srgbClr val="142238"/>
                </a:solidFill>
                <a:latin typeface="Malgun Gothic"/>
                <a:ea typeface="Malgun Gothic"/>
                <a:cs typeface="Malgun Gothic"/>
              </a:rPr>
              <a:t>泄漏가 서로 다른 셀에 기록</a:t>
            </a:r>
          </a:p>
        </p:txBody>
      </p:sp>
      <p:sp>
        <p:nvSpPr>
          <p:cNvPr id="10" name="">
            <a:extLst xmlns:a="http://schemas.openxmlformats.org/drawingml/2006/main">
              <a:ext uri="{FF2B5EF4-FFF2-40B4-BE49-F238E27FC236}">
                <a16:creationId xmlns:a16="http://schemas.microsoft.com/office/drawing/2014/main" id="{39D2FDD3-F8D9-43A9-87C0-78E8FD5A8946}"/>
              </a:ext>
            </a:extLst>
          </p:cNvPr>
          <p:cNvSpPr>
            <a:spLocks xmlns:a="http://schemas.openxmlformats.org/drawingml/2006/main" noGrp="1"/>
          </p:cNvSpPr>
          <p:nvPr/>
        </p:nvSpPr>
        <p:spPr>
          <a:xfrm xmlns:a="http://schemas.openxmlformats.org/drawingml/2006/main">
            <a:off x="7019925" y="3343275"/>
            <a:ext cx="42576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459C7"/>
                </a:solidFill>
                <a:latin typeface="Malgun Gothic"/>
                <a:ea typeface="Malgun Gothic"/>
                <a:cs typeface="Malgun Gothic"/>
              </a:defRPr>
            </a:defPPr>
          </a:lstStyle>
          <a:p xmlns:a="http://schemas.openxmlformats.org/drawingml/2006/main">
            <a:pPr algn="l">
              <a:defRPr sz="2175" b="1">
                <a:solidFill>
                  <a:srgbClr val="1459C7"/>
                </a:solidFill>
                <a:latin typeface="Malgun Gothic"/>
                <a:ea typeface="Malgun Gothic"/>
                <a:cs typeface="Malgun Gothic"/>
              </a:defRPr>
            </a:pPr>
            <a:r>
              <a:rPr sz="2175" b="1">
                <a:solidFill>
                  <a:srgbClr val="1459C7"/>
                </a:solidFill>
                <a:latin typeface="Malgun Gothic"/>
                <a:ea typeface="Malgun Gothic"/>
                <a:cs typeface="Malgun Gothic"/>
              </a:rPr>
              <a:t>같은 </a:t>
            </a:r>
            <a:r>
              <a:rPr sz="2175" b="1">
                <a:solidFill>
                  <a:srgbClr val="1459C7"/>
                </a:solidFill>
                <a:latin typeface="Times New Roman"/>
                <a:ea typeface="Times New Roman"/>
                <a:cs typeface="Times New Roman"/>
              </a:rPr>
              <a:t>CS, </a:t>
            </a:r>
            <a:r>
              <a:rPr sz="2175" b="1">
                <a:solidFill>
                  <a:srgbClr val="1459C7"/>
                </a:solidFill>
                <a:latin typeface="Malgun Gothic"/>
                <a:ea typeface="Malgun Gothic"/>
                <a:cs typeface="Malgun Gothic"/>
              </a:rPr>
              <a:t>다른 부품</a:t>
            </a:r>
          </a:p>
        </p:txBody>
      </p:sp>
      <p:sp>
        <p:nvSpPr>
          <p:cNvPr id="11" name="">
            <a:extLst xmlns:a="http://schemas.openxmlformats.org/drawingml/2006/main">
              <a:ext uri="{FF2B5EF4-FFF2-40B4-BE49-F238E27FC236}">
                <a16:creationId xmlns:a16="http://schemas.microsoft.com/office/drawing/2014/main" id="{C02A64BA-0E5F-4513-8D1C-C671AD0C7065}"/>
              </a:ext>
            </a:extLst>
          </p:cNvPr>
          <p:cNvSpPr>
            <a:spLocks xmlns:a="http://schemas.openxmlformats.org/drawingml/2006/main" noGrp="1"/>
          </p:cNvSpPr>
          <p:nvPr/>
        </p:nvSpPr>
        <p:spPr>
          <a:xfrm xmlns:a="http://schemas.openxmlformats.org/drawingml/2006/main">
            <a:off x="7019925" y="3819525"/>
            <a:ext cx="423862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42238"/>
                </a:solidFill>
                <a:latin typeface="Malgun Gothic"/>
                <a:ea typeface="Malgun Gothic"/>
                <a:cs typeface="Malgun Gothic"/>
              </a:defRPr>
            </a:defPPr>
          </a:lstStyle>
          <a:p xmlns:a="http://schemas.openxmlformats.org/drawingml/2006/main">
            <a:pPr algn="l">
              <a:defRPr sz="1875" b="0">
                <a:solidFill>
                  <a:srgbClr val="142238"/>
                </a:solidFill>
                <a:latin typeface="Malgun Gothic"/>
                <a:ea typeface="Malgun Gothic"/>
                <a:cs typeface="Malgun Gothic"/>
              </a:defRPr>
            </a:pPr>
            <a:r>
              <a:rPr sz="1875" b="0">
                <a:solidFill>
                  <a:srgbClr val="142238"/>
                </a:solidFill>
                <a:latin typeface="Malgun Gothic"/>
                <a:ea typeface="Malgun Gothic"/>
                <a:cs typeface="Malgun Gothic"/>
              </a:rPr>
              <a:t>같은 접수에도 서로 다른 조치 대상</a:t>
            </a:r>
          </a:p>
        </p:txBody>
      </p:sp>
      <p:sp>
        <p:nvSpPr>
          <p:cNvPr id="12" name="">
            <a:extLst xmlns:a="http://schemas.openxmlformats.org/drawingml/2006/main">
              <a:ext uri="{FF2B5EF4-FFF2-40B4-BE49-F238E27FC236}">
                <a16:creationId xmlns:a16="http://schemas.microsoft.com/office/drawing/2014/main" id="{0FBC3F6A-87C7-4AEB-82CF-54274DD506A6}"/>
              </a:ext>
            </a:extLst>
          </p:cNvPr>
          <p:cNvSpPr>
            <a:spLocks xmlns:a="http://schemas.openxmlformats.org/drawingml/2006/main" noGrp="1"/>
          </p:cNvSpPr>
          <p:nvPr/>
        </p:nvSpPr>
        <p:spPr>
          <a:xfrm xmlns:a="http://schemas.openxmlformats.org/drawingml/2006/main">
            <a:off x="7019925" y="4791075"/>
            <a:ext cx="42576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459C7"/>
                </a:solidFill>
                <a:latin typeface="Malgun Gothic"/>
                <a:ea typeface="Malgun Gothic"/>
                <a:cs typeface="Malgun Gothic"/>
              </a:defRPr>
            </a:defPPr>
          </a:lstStyle>
          <a:p xmlns:a="http://schemas.openxmlformats.org/drawingml/2006/main">
            <a:pPr algn="l">
              <a:defRPr sz="2175" b="1">
                <a:solidFill>
                  <a:srgbClr val="1459C7"/>
                </a:solidFill>
                <a:latin typeface="Malgun Gothic"/>
                <a:ea typeface="Malgun Gothic"/>
                <a:cs typeface="Malgun Gothic"/>
              </a:defRPr>
            </a:pPr>
            <a:r>
              <a:rPr sz="2175" b="1">
                <a:solidFill>
                  <a:srgbClr val="1459C7"/>
                </a:solidFill>
                <a:latin typeface="Malgun Gothic"/>
                <a:ea typeface="Malgun Gothic"/>
                <a:cs typeface="Malgun Gothic"/>
              </a:rPr>
              <a:t>계획과 완료의 차이</a:t>
            </a:r>
          </a:p>
        </p:txBody>
      </p:sp>
      <p:sp>
        <p:nvSpPr>
          <p:cNvPr id="13" name="">
            <a:extLst xmlns:a="http://schemas.openxmlformats.org/drawingml/2006/main">
              <a:ext uri="{FF2B5EF4-FFF2-40B4-BE49-F238E27FC236}">
                <a16:creationId xmlns:a16="http://schemas.microsoft.com/office/drawing/2014/main" id="{FB501AD5-9A82-43A2-8CE7-14E56375FF29}"/>
              </a:ext>
            </a:extLst>
          </p:cNvPr>
          <p:cNvSpPr>
            <a:spLocks xmlns:a="http://schemas.openxmlformats.org/drawingml/2006/main" noGrp="1"/>
          </p:cNvSpPr>
          <p:nvPr/>
        </p:nvSpPr>
        <p:spPr>
          <a:xfrm xmlns:a="http://schemas.openxmlformats.org/drawingml/2006/main">
            <a:off x="7019925" y="5267325"/>
            <a:ext cx="42386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42238"/>
                </a:solidFill>
                <a:latin typeface="Malgun Gothic"/>
                <a:ea typeface="Malgun Gothic"/>
                <a:cs typeface="Malgun Gothic"/>
              </a:defRPr>
            </a:defPPr>
          </a:lstStyle>
          <a:p xmlns:a="http://schemas.openxmlformats.org/drawingml/2006/main">
            <a:pPr algn="l">
              <a:defRPr sz="1875" b="0">
                <a:solidFill>
                  <a:srgbClr val="142238"/>
                </a:solidFill>
                <a:latin typeface="Malgun Gothic"/>
                <a:ea typeface="Malgun Gothic"/>
                <a:cs typeface="Malgun Gothic"/>
              </a:defRPr>
            </a:pPr>
            <a:r>
              <a:rPr sz="1875" b="0">
                <a:solidFill>
                  <a:srgbClr val="142238"/>
                </a:solidFill>
                <a:latin typeface="Malgun Gothic"/>
                <a:ea typeface="Malgun Gothic"/>
                <a:cs typeface="Malgun Gothic"/>
              </a:rPr>
              <a:t>교체 예정과 교체 완료를 구분</a:t>
            </a:r>
          </a:p>
        </p:txBody>
      </p:sp>
    </p:spTree>
    <p:extLst>
      <p:ext uri="{BB962C8B-B14F-4D97-AF65-F5344CB8AC3E}">
        <p14:creationId xmlns:p14="http://schemas.microsoft.com/office/powerpoint/2010/main" val="233329579"/>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21" name="">
            <a:extLst xmlns:a="http://schemas.openxmlformats.org/drawingml/2006/main">
              <a:ext uri="{FF2B5EF4-FFF2-40B4-BE49-F238E27FC236}">
                <a16:creationId xmlns:a16="http://schemas.microsoft.com/office/drawing/2014/main" id="{31D4135E-3CCE-404C-9032-E6587309E039}"/>
              </a:ext>
            </a:extLst>
          </p:cNvPr>
          <p:cNvCxnSpPr>
            <a:stCxn xmlns:a="http://schemas.openxmlformats.org/drawingml/2006/main" id="9" idx="2"/>
            <a:endCxn xmlns:a="http://schemas.openxmlformats.org/drawingml/2006/main" id="15" idx="0"/>
          </p:cNvCxnSpPr>
          <p:nvPr/>
        </p:nvCxnSpPr>
        <p:spPr>
          <a:xfrm xmlns:a="http://schemas.openxmlformats.org/drawingml/2006/main" flipH="1">
            <a:off x="4624388" y="3181350"/>
            <a:ext cx="5638800" cy="942975"/>
          </a:xfrm>
          <a:prstGeom xmlns:a="http://schemas.openxmlformats.org/drawingml/2006/main" prst="bentConnector4">
            <a:avLst>
              <a:gd name="adj1" fmla="val 0"/>
              <a:gd name="adj2" fmla="val 50000"/>
            </a:avLst>
          </a:prstGeom>
          <a:ln xmlns:a="http://schemas.openxmlformats.org/drawingml/2006/main" w="19050">
            <a:solidFill>
              <a:srgbClr val="5B6676"/>
            </a:solidFill>
            <a:prstDash val="dash"/>
            <a:tailEnd type="triangle" w="sm" len="sm"/>
          </a:ln>
        </p:spPr>
      </p:cxnSp>
      <p:cxnSp>
        <p:nvCxnSpPr>
          <p:cNvPr id="20" name="">
            <a:extLst xmlns:a="http://schemas.openxmlformats.org/drawingml/2006/main">
              <a:ext uri="{FF2B5EF4-FFF2-40B4-BE49-F238E27FC236}">
                <a16:creationId xmlns:a16="http://schemas.microsoft.com/office/drawing/2014/main" id="{8A7884F0-784B-47AB-8CA6-1809D840A499}"/>
              </a:ext>
            </a:extLst>
          </p:cNvPr>
          <p:cNvCxnSpPr>
            <a:stCxn xmlns:a="http://schemas.openxmlformats.org/drawingml/2006/main" id="16" idx="3"/>
            <a:endCxn xmlns:a="http://schemas.openxmlformats.org/drawingml/2006/main" id="17" idx="1"/>
          </p:cNvCxnSpPr>
          <p:nvPr/>
        </p:nvCxnSpPr>
        <p:spPr>
          <a:xfrm xmlns:a="http://schemas.openxmlformats.org/drawingml/2006/main">
            <a:off x="8610600" y="4648200"/>
            <a:ext cx="485775" cy="0"/>
          </a:xfrm>
          <a:prstGeom xmlns:a="http://schemas.openxmlformats.org/drawingml/2006/main" prst="straightConnector1">
            <a:avLst/>
          </a:prstGeom>
          <a:ln xmlns:a="http://schemas.openxmlformats.org/drawingml/2006/main" w="19050">
            <a:solidFill>
              <a:srgbClr val="5B6676"/>
            </a:solidFill>
            <a:prstDash val="solid"/>
            <a:tailEnd type="triangle" w="sm" len="sm"/>
          </a:ln>
        </p:spPr>
      </p:cxnSp>
      <p:cxnSp>
        <p:nvCxnSpPr>
          <p:cNvPr id="19" name="">
            <a:extLst xmlns:a="http://schemas.openxmlformats.org/drawingml/2006/main">
              <a:ext uri="{FF2B5EF4-FFF2-40B4-BE49-F238E27FC236}">
                <a16:creationId xmlns:a16="http://schemas.microsoft.com/office/drawing/2014/main" id="{31EBAAE7-5A3B-4CE5-8178-362271C68692}"/>
              </a:ext>
            </a:extLst>
          </p:cNvPr>
          <p:cNvCxnSpPr>
            <a:stCxn xmlns:a="http://schemas.openxmlformats.org/drawingml/2006/main" id="15" idx="3"/>
            <a:endCxn xmlns:a="http://schemas.openxmlformats.org/drawingml/2006/main" id="16" idx="1"/>
          </p:cNvCxnSpPr>
          <p:nvPr/>
        </p:nvCxnSpPr>
        <p:spPr>
          <a:xfrm xmlns:a="http://schemas.openxmlformats.org/drawingml/2006/main">
            <a:off x="5791200" y="4648200"/>
            <a:ext cx="485775" cy="0"/>
          </a:xfrm>
          <a:prstGeom xmlns:a="http://schemas.openxmlformats.org/drawingml/2006/main" prst="straightConnector1">
            <a:avLst/>
          </a:prstGeom>
          <a:ln xmlns:a="http://schemas.openxmlformats.org/drawingml/2006/main" w="19050">
            <a:solidFill>
              <a:srgbClr val="5B6676"/>
            </a:solidFill>
            <a:prstDash val="solid"/>
            <a:tailEnd type="triangle" w="sm" len="sm"/>
          </a:ln>
        </p:spPr>
      </p:cxnSp>
      <p:cxnSp>
        <p:nvCxnSpPr>
          <p:cNvPr id="18" name="">
            <a:extLst xmlns:a="http://schemas.openxmlformats.org/drawingml/2006/main">
              <a:ext uri="{FF2B5EF4-FFF2-40B4-BE49-F238E27FC236}">
                <a16:creationId xmlns:a16="http://schemas.microsoft.com/office/drawing/2014/main" id="{27A19879-C809-4F1E-8B3F-757C3680ADA0}"/>
              </a:ext>
            </a:extLst>
          </p:cNvPr>
          <p:cNvCxnSpPr>
            <a:stCxn xmlns:a="http://schemas.openxmlformats.org/drawingml/2006/main" id="14" idx="3"/>
            <a:endCxn xmlns:a="http://schemas.openxmlformats.org/drawingml/2006/main" id="15" idx="1"/>
          </p:cNvCxnSpPr>
          <p:nvPr/>
        </p:nvCxnSpPr>
        <p:spPr>
          <a:xfrm xmlns:a="http://schemas.openxmlformats.org/drawingml/2006/main">
            <a:off x="2971800" y="4648200"/>
            <a:ext cx="485775" cy="0"/>
          </a:xfrm>
          <a:prstGeom xmlns:a="http://schemas.openxmlformats.org/drawingml/2006/main" prst="straightConnector1">
            <a:avLst/>
          </a:prstGeom>
          <a:ln xmlns:a="http://schemas.openxmlformats.org/drawingml/2006/main" w="19050">
            <a:solidFill>
              <a:srgbClr val="5B6676"/>
            </a:solidFill>
            <a:prstDash val="solid"/>
            <a:tailEnd type="triangle" w="sm" len="sm"/>
          </a:ln>
        </p:spPr>
      </p:cxnSp>
      <p:cxnSp>
        <p:nvCxnSpPr>
          <p:cNvPr id="12" name="">
            <a:extLst xmlns:a="http://schemas.openxmlformats.org/drawingml/2006/main">
              <a:ext uri="{FF2B5EF4-FFF2-40B4-BE49-F238E27FC236}">
                <a16:creationId xmlns:a16="http://schemas.microsoft.com/office/drawing/2014/main" id="{490D6BE7-5CF2-4AA3-8694-6F7581C4B23E}"/>
              </a:ext>
            </a:extLst>
          </p:cNvPr>
          <p:cNvCxnSpPr>
            <a:stCxn xmlns:a="http://schemas.openxmlformats.org/drawingml/2006/main" id="8" idx="3"/>
            <a:endCxn xmlns:a="http://schemas.openxmlformats.org/drawingml/2006/main" id="9" idx="1"/>
          </p:cNvCxnSpPr>
          <p:nvPr/>
        </p:nvCxnSpPr>
        <p:spPr>
          <a:xfrm xmlns:a="http://schemas.openxmlformats.org/drawingml/2006/main">
            <a:off x="8610600" y="2709863"/>
            <a:ext cx="485775" cy="0"/>
          </a:xfrm>
          <a:prstGeom xmlns:a="http://schemas.openxmlformats.org/drawingml/2006/main" prst="straightConnector1">
            <a:avLst/>
          </a:prstGeom>
          <a:ln xmlns:a="http://schemas.openxmlformats.org/drawingml/2006/main" w="19050">
            <a:solidFill>
              <a:srgbClr val="5B6676"/>
            </a:solidFill>
            <a:prstDash val="solid"/>
            <a:tailEnd type="triangle" w="sm" len="sm"/>
          </a:ln>
        </p:spPr>
      </p:cxnSp>
      <p:cxnSp>
        <p:nvCxnSpPr>
          <p:cNvPr id="11" name="">
            <a:extLst xmlns:a="http://schemas.openxmlformats.org/drawingml/2006/main">
              <a:ext uri="{FF2B5EF4-FFF2-40B4-BE49-F238E27FC236}">
                <a16:creationId xmlns:a16="http://schemas.microsoft.com/office/drawing/2014/main" id="{40E474E4-2D09-453E-B9CA-8A06AEAC5964}"/>
              </a:ext>
            </a:extLst>
          </p:cNvPr>
          <p:cNvCxnSpPr>
            <a:stCxn xmlns:a="http://schemas.openxmlformats.org/drawingml/2006/main" id="7" idx="3"/>
            <a:endCxn xmlns:a="http://schemas.openxmlformats.org/drawingml/2006/main" id="8" idx="1"/>
          </p:cNvCxnSpPr>
          <p:nvPr/>
        </p:nvCxnSpPr>
        <p:spPr>
          <a:xfrm xmlns:a="http://schemas.openxmlformats.org/drawingml/2006/main">
            <a:off x="5791200" y="2709863"/>
            <a:ext cx="485775" cy="0"/>
          </a:xfrm>
          <a:prstGeom xmlns:a="http://schemas.openxmlformats.org/drawingml/2006/main" prst="straightConnector1">
            <a:avLst/>
          </a:prstGeom>
          <a:ln xmlns:a="http://schemas.openxmlformats.org/drawingml/2006/main" w="19050">
            <a:solidFill>
              <a:srgbClr val="5B6676"/>
            </a:solidFill>
            <a:prstDash val="solid"/>
            <a:tailEnd type="triangle" w="sm" len="sm"/>
          </a:ln>
        </p:spPr>
      </p:cxnSp>
      <p:cxnSp>
        <p:nvCxnSpPr>
          <p:cNvPr id="10" name="">
            <a:extLst xmlns:a="http://schemas.openxmlformats.org/drawingml/2006/main">
              <a:ext uri="{FF2B5EF4-FFF2-40B4-BE49-F238E27FC236}">
                <a16:creationId xmlns:a16="http://schemas.microsoft.com/office/drawing/2014/main" id="{46333592-78C0-4610-A004-82A1CC2C5C56}"/>
              </a:ext>
            </a:extLst>
          </p:cNvPr>
          <p:cNvCxnSpPr>
            <a:stCxn xmlns:a="http://schemas.openxmlformats.org/drawingml/2006/main" id="6" idx="3"/>
            <a:endCxn xmlns:a="http://schemas.openxmlformats.org/drawingml/2006/main" id="7" idx="1"/>
          </p:cNvCxnSpPr>
          <p:nvPr/>
        </p:nvCxnSpPr>
        <p:spPr>
          <a:xfrm xmlns:a="http://schemas.openxmlformats.org/drawingml/2006/main">
            <a:off x="2971800" y="2709863"/>
            <a:ext cx="485775" cy="0"/>
          </a:xfrm>
          <a:prstGeom xmlns:a="http://schemas.openxmlformats.org/drawingml/2006/main" prst="straightConnector1">
            <a:avLst/>
          </a:prstGeom>
          <a:ln xmlns:a="http://schemas.openxmlformats.org/drawingml/2006/main" w="19050">
            <a:solidFill>
              <a:srgbClr val="5B6676"/>
            </a:solidFill>
            <a:prstDash val="solid"/>
            <a:tailEnd type="triangle" w="sm" len="sm"/>
          </a:ln>
        </p:spPr>
      </p:cxnSp>
      <p:sp>
        <p:nvSpPr>
          <p:cNvPr id="23" name="">
            <a:extLst xmlns:a="http://schemas.openxmlformats.org/drawingml/2006/main">
              <a:ext uri="{FF2B5EF4-FFF2-40B4-BE49-F238E27FC236}">
                <a16:creationId xmlns:a16="http://schemas.microsoft.com/office/drawing/2014/main" id="{495AEC5B-70B2-436A-AAFF-6DA9773C2282}"/>
              </a:ext>
            </a:extLst>
          </p:cNvPr>
          <p:cNvSpPr>
            <a:spLocks xmlns:a="http://schemas.openxmlformats.org/drawingml/2006/main" noGrp="1"/>
          </p:cNvSpPr>
          <p:nvPr/>
        </p:nvSpPr>
        <p:spPr>
          <a:xfrm xmlns:a="http://schemas.openxmlformats.org/drawingml/2006/main">
            <a:off x="609600" y="428625"/>
            <a:ext cx="1095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142238"/>
                </a:solidFill>
                <a:latin typeface="Malgun Gothic"/>
                <a:ea typeface="Malgun Gothic"/>
                <a:cs typeface="Malgun Gothic"/>
              </a:defRPr>
            </a:defPPr>
          </a:lstStyle>
          <a:p xmlns:a="http://schemas.openxmlformats.org/drawingml/2006/main">
            <a:pPr algn="l">
              <a:defRPr sz="3225" b="1">
                <a:solidFill>
                  <a:srgbClr val="142238"/>
                </a:solidFill>
                <a:latin typeface="Malgun Gothic"/>
                <a:ea typeface="Malgun Gothic"/>
                <a:cs typeface="Malgun Gothic"/>
              </a:defRPr>
            </a:pPr>
            <a:r>
              <a:rPr sz="3225" b="1">
                <a:solidFill>
                  <a:srgbClr val="142238"/>
                </a:solidFill>
                <a:latin typeface="Malgun Gothic"/>
                <a:ea typeface="Malgun Gothic"/>
                <a:cs typeface="Malgun Gothic"/>
              </a:rPr>
              <a:t>자료 등록부터 한국어 답변까지</a:t>
            </a:r>
          </a:p>
        </p:txBody>
      </p:sp>
      <p:sp>
        <p:nvSpPr>
          <p:cNvPr id="2" name="">
            <a:extLst xmlns:a="http://schemas.openxmlformats.org/drawingml/2006/main">
              <a:ext uri="{FF2B5EF4-FFF2-40B4-BE49-F238E27FC236}">
                <a16:creationId xmlns:a16="http://schemas.microsoft.com/office/drawing/2014/main" id="{293BC2C4-9767-43A3-AAD3-084A785ACB32}"/>
              </a:ext>
            </a:extLst>
          </p:cNvPr>
          <p:cNvSpPr>
            <a:spLocks xmlns:a="http://schemas.openxmlformats.org/drawingml/2006/main" noGrp="1"/>
          </p:cNvSpPr>
          <p:nvPr/>
        </p:nvSpPr>
        <p:spPr>
          <a:xfrm xmlns:a="http://schemas.openxmlformats.org/drawingml/2006/main">
            <a:off x="628650" y="1066800"/>
            <a:ext cx="10896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B6676"/>
                </a:solidFill>
                <a:latin typeface="Malgun Gothic"/>
                <a:ea typeface="Malgun Gothic"/>
                <a:cs typeface="Malgun Gothic"/>
              </a:defRPr>
            </a:defPPr>
          </a:lstStyle>
          <a:p xmlns:a="http://schemas.openxmlformats.org/drawingml/2006/main">
            <a:pPr algn="l">
              <a:defRPr sz="1725" b="0">
                <a:solidFill>
                  <a:srgbClr val="5B6676"/>
                </a:solidFill>
                <a:latin typeface="Malgun Gothic"/>
                <a:ea typeface="Malgun Gothic"/>
                <a:cs typeface="Malgun Gothic"/>
              </a:defRPr>
            </a:pPr>
            <a:r>
              <a:rPr sz="1725" b="0">
                <a:solidFill>
                  <a:srgbClr val="5B6676"/>
                </a:solidFill>
                <a:latin typeface="Times New Roman"/>
                <a:ea typeface="Times New Roman"/>
                <a:cs typeface="Times New Roman"/>
              </a:rPr>
              <a:t>RAG</a:t>
            </a:r>
            <a:r>
              <a:rPr sz="1725" b="0">
                <a:solidFill>
                  <a:srgbClr val="5B6676"/>
                </a:solidFill>
                <a:latin typeface="Malgun Gothic"/>
                <a:ea typeface="Malgun Gothic"/>
                <a:cs typeface="Malgun Gothic"/>
              </a:rPr>
              <a:t>는 관련 기록을 먼저 찾고, 찾은 원문을 바탕으로 답변을 작성하는 방식입니다.</a:t>
            </a:r>
          </a:p>
        </p:txBody>
      </p:sp>
      <p:sp>
        <p:nvSpPr>
          <p:cNvPr id="3" name="">
            <a:extLst xmlns:a="http://schemas.openxmlformats.org/drawingml/2006/main">
              <a:ext uri="{FF2B5EF4-FFF2-40B4-BE49-F238E27FC236}">
                <a16:creationId xmlns:a16="http://schemas.microsoft.com/office/drawing/2014/main" id="{B4462FFE-09FE-4264-BF28-ED39DD068FE0}"/>
              </a:ext>
            </a:extLst>
          </p:cNvPr>
          <p:cNvSpPr>
            <a:spLocks xmlns:a="http://schemas.openxmlformats.org/drawingml/2006/main" noGrp="1"/>
          </p:cNvSpPr>
          <p:nvPr/>
        </p:nvSpPr>
        <p:spPr>
          <a:xfrm xmlns:a="http://schemas.openxmlformats.org/drawingml/2006/main">
            <a:off x="628650" y="6429375"/>
            <a:ext cx="10382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5B6676"/>
                </a:solidFill>
                <a:latin typeface="Malgun Gothic"/>
                <a:ea typeface="Malgun Gothic"/>
                <a:cs typeface="Malgun Gothic"/>
              </a:defRPr>
            </a:defPPr>
          </a:lstStyle>
          <a:p xmlns:a="http://schemas.openxmlformats.org/drawingml/2006/main">
            <a:pPr algn="l">
              <a:defRPr sz="1200" b="0">
                <a:solidFill>
                  <a:srgbClr val="5B6676"/>
                </a:solidFill>
                <a:latin typeface="Malgun Gothic"/>
                <a:ea typeface="Malgun Gothic"/>
                <a:cs typeface="Malgun Gothic"/>
              </a:defRPr>
            </a:pPr>
            <a:r>
              <a:rPr sz="1200" b="0">
                <a:solidFill>
                  <a:srgbClr val="5B6676"/>
                </a:solidFill>
                <a:latin typeface="Malgun Gothic"/>
                <a:ea typeface="Malgun Gothic"/>
                <a:cs typeface="Malgun Gothic"/>
              </a:rPr>
              <a:t>근거 </a:t>
            </a:r>
            <a:r>
              <a:rPr sz="1200" b="0">
                <a:solidFill>
                  <a:srgbClr val="5B6676"/>
                </a:solidFill>
                <a:latin typeface="Times New Roman"/>
                <a:ea typeface="Times New Roman"/>
                <a:cs typeface="Times New Roman"/>
              </a:rPr>
              <a:t>E1</a:t>
            </a:r>
            <a:r>
              <a:rPr sz="1200" b="0">
                <a:solidFill>
                  <a:srgbClr val="5B6676"/>
                </a:solidFill>
                <a:latin typeface="Malgun Gothic"/>
                <a:ea typeface="Malgun Gothic"/>
                <a:cs typeface="Malgun Gothic"/>
              </a:rPr>
              <a:t>·</a:t>
            </a:r>
            <a:r>
              <a:rPr sz="1200" b="0">
                <a:solidFill>
                  <a:srgbClr val="5B6676"/>
                </a:solidFill>
                <a:latin typeface="Times New Roman"/>
                <a:ea typeface="Times New Roman"/>
                <a:cs typeface="Times New Roman"/>
              </a:rPr>
              <a:t>E5 </a:t>
            </a:r>
            <a:r>
              <a:rPr sz="1200" b="0">
                <a:solidFill>
                  <a:srgbClr val="5B6676"/>
                </a:solidFill>
                <a:latin typeface="Malgun Gothic"/>
                <a:ea typeface="Malgun Gothic"/>
                <a:cs typeface="Malgun Gothic"/>
              </a:rPr>
              <a:t>· 영어 보완·관계 보완·</a:t>
            </a:r>
            <a:r>
              <a:rPr sz="1200" b="0">
                <a:solidFill>
                  <a:srgbClr val="5B6676"/>
                </a:solidFill>
                <a:latin typeface="Times New Roman"/>
                <a:ea typeface="Times New Roman"/>
                <a:cs typeface="Times New Roman"/>
              </a:rPr>
              <a:t>Clef</a:t>
            </a:r>
            <a:r>
              <a:rPr sz="1200" b="0">
                <a:solidFill>
                  <a:srgbClr val="5B6676"/>
                </a:solidFill>
                <a:latin typeface="Malgun Gothic"/>
                <a:ea typeface="Malgun Gothic"/>
                <a:cs typeface="Malgun Gothic"/>
              </a:rPr>
              <a:t>·</a:t>
            </a:r>
            <a:r>
              <a:rPr sz="1200" b="0">
                <a:solidFill>
                  <a:srgbClr val="5B6676"/>
                </a:solidFill>
                <a:latin typeface="Times New Roman"/>
                <a:ea typeface="Times New Roman"/>
                <a:cs typeface="Times New Roman"/>
              </a:rPr>
              <a:t>mDeBERTa</a:t>
            </a:r>
            <a:r>
              <a:rPr sz="1200" b="0">
                <a:solidFill>
                  <a:srgbClr val="5B6676"/>
                </a:solidFill>
                <a:latin typeface="Malgun Gothic"/>
                <a:ea typeface="Malgun Gothic"/>
                <a:cs typeface="Malgun Gothic"/>
              </a:rPr>
              <a:t>는 선택 기능</a:t>
            </a:r>
          </a:p>
        </p:txBody>
      </p:sp>
      <p:sp>
        <p:nvSpPr>
          <p:cNvPr id="4" name="">
            <a:extLst xmlns:a="http://schemas.openxmlformats.org/drawingml/2006/main">
              <a:ext uri="{FF2B5EF4-FFF2-40B4-BE49-F238E27FC236}">
                <a16:creationId xmlns:a16="http://schemas.microsoft.com/office/drawing/2014/main" id="{E054D5DA-C508-49CD-BE7C-FADB41A6DD37}"/>
              </a:ext>
            </a:extLst>
          </p:cNvPr>
          <p:cNvSpPr>
            <a:spLocks xmlns:a="http://schemas.openxmlformats.org/drawingml/2006/main" noGrp="1"/>
          </p:cNvSpPr>
          <p:nvPr/>
        </p:nvSpPr>
        <p:spPr>
          <a:xfrm xmlns:a="http://schemas.openxmlformats.org/drawingml/2006/main">
            <a:off x="11096625" y="6391275"/>
            <a:ext cx="4572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650" b="0">
                <a:solidFill>
                  <a:srgbClr val="5B6676"/>
                </a:solidFill>
                <a:latin typeface="Malgun Gothic"/>
                <a:ea typeface="Malgun Gothic"/>
                <a:cs typeface="Malgun Gothic"/>
              </a:defRPr>
            </a:defPPr>
          </a:lstStyle>
          <a:p xmlns:a="http://schemas.openxmlformats.org/drawingml/2006/main">
            <a:pPr algn="r">
              <a:defRPr sz="1650" b="0">
                <a:solidFill>
                  <a:srgbClr val="5B6676"/>
                </a:solidFill>
                <a:latin typeface="Malgun Gothic"/>
                <a:ea typeface="Malgun Gothic"/>
                <a:cs typeface="Malgun Gothic"/>
              </a:defRPr>
            </a:pPr>
            <a:r>
              <a:rPr sz="1650" b="0">
                <a:solidFill>
                  <a:srgbClr val="5B6676"/>
                </a:solidFill>
                <a:latin typeface="Times New Roman"/>
                <a:ea typeface="Times New Roman"/>
                <a:cs typeface="Times New Roman"/>
              </a:rPr>
              <a:t>04</a:t>
            </a:r>
          </a:p>
        </p:txBody>
      </p:sp>
      <p:sp>
        <p:nvSpPr>
          <p:cNvPr id="5" name="">
            <a:extLst xmlns:a="http://schemas.openxmlformats.org/drawingml/2006/main">
              <a:ext uri="{FF2B5EF4-FFF2-40B4-BE49-F238E27FC236}">
                <a16:creationId xmlns:a16="http://schemas.microsoft.com/office/drawing/2014/main" id="{790A63BC-5A2E-46E8-ACBB-5852F00367F5}"/>
              </a:ext>
            </a:extLst>
          </p:cNvPr>
          <p:cNvSpPr>
            <a:spLocks xmlns:a="http://schemas.openxmlformats.org/drawingml/2006/main" noGrp="1"/>
          </p:cNvSpPr>
          <p:nvPr/>
        </p:nvSpPr>
        <p:spPr>
          <a:xfrm xmlns:a="http://schemas.openxmlformats.org/drawingml/2006/main">
            <a:off x="638175" y="1724025"/>
            <a:ext cx="109537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1459C7"/>
                </a:solidFill>
                <a:latin typeface="Malgun Gothic"/>
                <a:ea typeface="Malgun Gothic"/>
                <a:cs typeface="Malgun Gothic"/>
              </a:defRPr>
            </a:defPPr>
          </a:lstStyle>
          <a:p xmlns:a="http://schemas.openxmlformats.org/drawingml/2006/main">
            <a:pPr algn="l">
              <a:defRPr sz="2025" b="1">
                <a:solidFill>
                  <a:srgbClr val="1459C7"/>
                </a:solidFill>
                <a:latin typeface="Malgun Gothic"/>
                <a:ea typeface="Malgun Gothic"/>
                <a:cs typeface="Malgun Gothic"/>
              </a:defRPr>
            </a:pPr>
            <a:r>
              <a:rPr sz="2025" b="1">
                <a:solidFill>
                  <a:srgbClr val="1459C7"/>
                </a:solidFill>
                <a:latin typeface="Malgun Gothic"/>
                <a:ea typeface="Malgun Gothic"/>
                <a:cs typeface="Malgun Gothic"/>
              </a:rPr>
              <a:t>자료 준비</a:t>
            </a:r>
          </a:p>
        </p:txBody>
      </p:sp>
      <p:sp>
        <p:nvSpPr>
          <p:cNvPr id="6" name="">
            <a:extLst xmlns:a="http://schemas.openxmlformats.org/drawingml/2006/main">
              <a:ext uri="{FF2B5EF4-FFF2-40B4-BE49-F238E27FC236}">
                <a16:creationId xmlns:a16="http://schemas.microsoft.com/office/drawing/2014/main" id="{5484F2D1-47C0-46D4-85AF-A00ED775E46E}"/>
              </a:ext>
            </a:extLst>
          </p:cNvPr>
          <p:cNvSpPr>
            <a:spLocks xmlns:a="http://schemas.openxmlformats.org/drawingml/2006/main" noGrp="1"/>
          </p:cNvSpPr>
          <p:nvPr/>
        </p:nvSpPr>
        <p:spPr>
          <a:xfrm xmlns:a="http://schemas.openxmlformats.org/drawingml/2006/main">
            <a:off x="638175" y="2238375"/>
            <a:ext cx="2333625" cy="942975"/>
          </a:xfrm>
          <a:prstGeom xmlns:a="http://schemas.openxmlformats.org/drawingml/2006/main" prst="rect">
            <a:avLst/>
          </a:prstGeom>
          <a:solidFill xmlns:a="http://schemas.openxmlformats.org/drawingml/2006/main">
            <a:srgbClr val="EAF1FA"/>
          </a:solidFill>
          <a:ln xmlns:a="http://schemas.openxmlformats.org/drawingml/2006/main" w="9525">
            <a:solidFill>
              <a:srgbClr val="D8DFE8"/>
            </a:solidFill>
          </a:ln>
        </p:spPr>
        <p:txBody>
          <a:bodyPr xmlns:a="http://schemas.openxmlformats.org/drawingml/2006/main" lIns="114300" tIns="114300" rIns="114300" bIns="114300" anchor="ctr">
            <a:noAutofit/>
          </a:bodyPr>
          <a:lstStyle xmlns:a="http://schemas.openxmlformats.org/drawingml/2006/main">
            <a:defPPr algn="ctr">
              <a:defRPr sz="2025">
                <a:latin typeface="Malgun Gothic"/>
                <a:ea typeface="Malgun Gothic"/>
                <a:cs typeface="Malgun Gothic"/>
              </a:defRPr>
            </a:defPPr>
          </a:lstStyle>
          <a:p xmlns:a="http://schemas.openxmlformats.org/drawingml/2006/main">
            <a:pPr algn="ctr">
              <a:defRPr sz="2025">
                <a:latin typeface="Malgun Gothic"/>
                <a:ea typeface="Malgun Gothic"/>
                <a:cs typeface="Malgun Gothic"/>
              </a:defRPr>
            </a:pPr>
            <a:r>
              <a:rPr sz="2025" b="0">
                <a:solidFill>
                  <a:srgbClr val="142238"/>
                </a:solidFill>
                <a:latin typeface="Times New Roman"/>
                <a:ea typeface="Times New Roman"/>
                <a:cs typeface="Times New Roman"/>
              </a:rPr>
              <a:t>Excel </a:t>
            </a:r>
            <a:r>
              <a:rPr sz="2025" b="0">
                <a:solidFill>
                  <a:srgbClr val="142238"/>
                </a:solidFill>
                <a:latin typeface="Malgun Gothic"/>
                <a:ea typeface="Malgun Gothic"/>
                <a:cs typeface="Malgun Gothic"/>
              </a:rPr>
              <a:t>등록</a:t>
            </a:r>
          </a:p>
          <a:p xmlns:a="http://schemas.openxmlformats.org/drawingml/2006/main">
            <a:pPr algn="ctr">
              <a:defRPr sz="2025">
                <a:latin typeface="Malgun Gothic"/>
                <a:ea typeface="Malgun Gothic"/>
                <a:cs typeface="Malgun Gothic"/>
              </a:defRPr>
            </a:pPr>
            <a:r>
              <a:rPr sz="2025" b="0">
                <a:solidFill>
                  <a:srgbClr val="142238"/>
                </a:solidFill>
                <a:latin typeface="Times New Roman"/>
                <a:ea typeface="Times New Roman"/>
                <a:cs typeface="Times New Roman"/>
              </a:rPr>
              <a:t>DRM </a:t>
            </a:r>
            <a:r>
              <a:rPr sz="2025" b="0">
                <a:solidFill>
                  <a:srgbClr val="142238"/>
                </a:solidFill>
                <a:latin typeface="Malgun Gothic"/>
                <a:ea typeface="Malgun Gothic"/>
                <a:cs typeface="Malgun Gothic"/>
              </a:rPr>
              <a:t>읽기 지원</a:t>
            </a:r>
          </a:p>
        </p:txBody>
      </p:sp>
      <p:sp>
        <p:nvSpPr>
          <p:cNvPr id="7" name="">
            <a:extLst xmlns:a="http://schemas.openxmlformats.org/drawingml/2006/main">
              <a:ext uri="{FF2B5EF4-FFF2-40B4-BE49-F238E27FC236}">
                <a16:creationId xmlns:a16="http://schemas.microsoft.com/office/drawing/2014/main" id="{89BED93E-6341-491D-81DC-D292141FD6E8}"/>
              </a:ext>
            </a:extLst>
          </p:cNvPr>
          <p:cNvSpPr>
            <a:spLocks xmlns:a="http://schemas.openxmlformats.org/drawingml/2006/main" noGrp="1"/>
          </p:cNvSpPr>
          <p:nvPr/>
        </p:nvSpPr>
        <p:spPr>
          <a:xfrm xmlns:a="http://schemas.openxmlformats.org/drawingml/2006/main">
            <a:off x="3457575" y="2238375"/>
            <a:ext cx="2333625" cy="942975"/>
          </a:xfrm>
          <a:prstGeom xmlns:a="http://schemas.openxmlformats.org/drawingml/2006/main" prst="rect">
            <a:avLst/>
          </a:prstGeom>
          <a:solidFill xmlns:a="http://schemas.openxmlformats.org/drawingml/2006/main">
            <a:srgbClr val="EAF1FA"/>
          </a:solidFill>
          <a:ln xmlns:a="http://schemas.openxmlformats.org/drawingml/2006/main" w="9525">
            <a:solidFill>
              <a:srgbClr val="D8DFE8"/>
            </a:solidFill>
          </a:ln>
        </p:spPr>
        <p:txBody>
          <a:bodyPr xmlns:a="http://schemas.openxmlformats.org/drawingml/2006/main" lIns="114300" tIns="114300" rIns="114300" bIns="114300" anchor="ctr">
            <a:noAutofit/>
          </a:bodyPr>
          <a:lstStyle xmlns:a="http://schemas.openxmlformats.org/drawingml/2006/main">
            <a:defPPr algn="ctr">
              <a:defRPr sz="2025">
                <a:latin typeface="Malgun Gothic"/>
                <a:ea typeface="Malgun Gothic"/>
                <a:cs typeface="Malgun Gothic"/>
              </a:defRPr>
            </a:defPPr>
          </a:lstStyle>
          <a:p xmlns:a="http://schemas.openxmlformats.org/drawingml/2006/main">
            <a:pPr algn="ctr">
              <a:defRPr sz="2025">
                <a:latin typeface="Malgun Gothic"/>
                <a:ea typeface="Malgun Gothic"/>
                <a:cs typeface="Malgun Gothic"/>
              </a:defRPr>
            </a:pPr>
            <a:r>
              <a:rPr sz="2025" b="0">
                <a:solidFill>
                  <a:srgbClr val="142238"/>
                </a:solidFill>
                <a:latin typeface="Malgun Gothic"/>
                <a:ea typeface="Malgun Gothic"/>
                <a:cs typeface="Malgun Gothic"/>
              </a:rPr>
              <a:t>원문·셀 위치 보존</a:t>
            </a:r>
          </a:p>
          <a:p xmlns:a="http://schemas.openxmlformats.org/drawingml/2006/main">
            <a:pPr algn="ctr">
              <a:defRPr sz="2025">
                <a:latin typeface="Malgun Gothic"/>
                <a:ea typeface="Malgun Gothic"/>
                <a:cs typeface="Malgun Gothic"/>
              </a:defRPr>
            </a:pPr>
            <a:r>
              <a:rPr sz="2025" b="0">
                <a:solidFill>
                  <a:srgbClr val="142238"/>
                </a:solidFill>
                <a:latin typeface="Times New Roman"/>
                <a:ea typeface="Times New Roman"/>
                <a:cs typeface="Times New Roman"/>
              </a:rPr>
              <a:t>CS</a:t>
            </a:r>
            <a:r>
              <a:rPr sz="2025" b="0">
                <a:solidFill>
                  <a:srgbClr val="142238"/>
                </a:solidFill>
                <a:latin typeface="Malgun Gothic"/>
                <a:ea typeface="Malgun Gothic"/>
                <a:cs typeface="Malgun Gothic"/>
              </a:rPr>
              <a:t>별 상세 구분</a:t>
            </a:r>
          </a:p>
        </p:txBody>
      </p:sp>
      <p:sp>
        <p:nvSpPr>
          <p:cNvPr id="8" name="">
            <a:extLst xmlns:a="http://schemas.openxmlformats.org/drawingml/2006/main">
              <a:ext uri="{FF2B5EF4-FFF2-40B4-BE49-F238E27FC236}">
                <a16:creationId xmlns:a16="http://schemas.microsoft.com/office/drawing/2014/main" id="{A060FF2F-CFB9-4FE3-A6B5-92BD9BB96E4F}"/>
              </a:ext>
            </a:extLst>
          </p:cNvPr>
          <p:cNvSpPr>
            <a:spLocks xmlns:a="http://schemas.openxmlformats.org/drawingml/2006/main" noGrp="1"/>
          </p:cNvSpPr>
          <p:nvPr/>
        </p:nvSpPr>
        <p:spPr>
          <a:xfrm xmlns:a="http://schemas.openxmlformats.org/drawingml/2006/main">
            <a:off x="6276975" y="2238375"/>
            <a:ext cx="2333625" cy="942975"/>
          </a:xfrm>
          <a:prstGeom xmlns:a="http://schemas.openxmlformats.org/drawingml/2006/main" prst="rect">
            <a:avLst/>
          </a:prstGeom>
          <a:solidFill xmlns:a="http://schemas.openxmlformats.org/drawingml/2006/main">
            <a:srgbClr val="EAF1FA"/>
          </a:solidFill>
          <a:ln xmlns:a="http://schemas.openxmlformats.org/drawingml/2006/main" w="9525">
            <a:solidFill>
              <a:srgbClr val="D8DFE8"/>
            </a:solidFill>
          </a:ln>
        </p:spPr>
        <p:txBody>
          <a:bodyPr xmlns:a="http://schemas.openxmlformats.org/drawingml/2006/main" lIns="114300" tIns="114300" rIns="114300" bIns="114300" anchor="ctr">
            <a:noAutofit/>
          </a:bodyPr>
          <a:lstStyle xmlns:a="http://schemas.openxmlformats.org/drawingml/2006/main">
            <a:defPPr algn="ctr">
              <a:defRPr sz="2025">
                <a:latin typeface="Malgun Gothic"/>
                <a:ea typeface="Malgun Gothic"/>
                <a:cs typeface="Malgun Gothic"/>
              </a:defRPr>
            </a:defPPr>
          </a:lstStyle>
          <a:p xmlns:a="http://schemas.openxmlformats.org/drawingml/2006/main">
            <a:pPr algn="ctr">
              <a:defRPr sz="2025">
                <a:latin typeface="Malgun Gothic"/>
                <a:ea typeface="Malgun Gothic"/>
                <a:cs typeface="Malgun Gothic"/>
              </a:defRPr>
            </a:pPr>
            <a:r>
              <a:rPr sz="2025" b="0">
                <a:solidFill>
                  <a:srgbClr val="142238"/>
                </a:solidFill>
                <a:latin typeface="Times New Roman"/>
                <a:ea typeface="Times New Roman"/>
                <a:cs typeface="Times New Roman"/>
              </a:rPr>
              <a:t>LLM </a:t>
            </a:r>
            <a:r>
              <a:rPr sz="2025" b="0">
                <a:solidFill>
                  <a:srgbClr val="142238"/>
                </a:solidFill>
                <a:latin typeface="Malgun Gothic"/>
                <a:ea typeface="Malgun Gothic"/>
                <a:cs typeface="Malgun Gothic"/>
              </a:rPr>
              <a:t>정리 제안</a:t>
            </a:r>
          </a:p>
          <a:p xmlns:a="http://schemas.openxmlformats.org/drawingml/2006/main">
            <a:pPr algn="ctr">
              <a:defRPr sz="2025">
                <a:latin typeface="Malgun Gothic"/>
                <a:ea typeface="Malgun Gothic"/>
                <a:cs typeface="Malgun Gothic"/>
              </a:defRPr>
            </a:pPr>
            <a:r>
              <a:rPr sz="2025" b="0">
                <a:solidFill>
                  <a:srgbClr val="142238"/>
                </a:solidFill>
                <a:latin typeface="Malgun Gothic"/>
                <a:ea typeface="Malgun Gothic"/>
                <a:cs typeface="Malgun Gothic"/>
              </a:rPr>
              <a:t>검사·채택</a:t>
            </a:r>
          </a:p>
        </p:txBody>
      </p:sp>
      <p:sp>
        <p:nvSpPr>
          <p:cNvPr id="9" name="">
            <a:extLst xmlns:a="http://schemas.openxmlformats.org/drawingml/2006/main">
              <a:ext uri="{FF2B5EF4-FFF2-40B4-BE49-F238E27FC236}">
                <a16:creationId xmlns:a16="http://schemas.microsoft.com/office/drawing/2014/main" id="{CAE1F5D9-DCE4-4A3F-BB37-F2DBFFCC690C}"/>
              </a:ext>
            </a:extLst>
          </p:cNvPr>
          <p:cNvSpPr>
            <a:spLocks xmlns:a="http://schemas.openxmlformats.org/drawingml/2006/main" noGrp="1"/>
          </p:cNvSpPr>
          <p:nvPr/>
        </p:nvSpPr>
        <p:spPr>
          <a:xfrm xmlns:a="http://schemas.openxmlformats.org/drawingml/2006/main">
            <a:off x="9096375" y="2238375"/>
            <a:ext cx="2333625" cy="942975"/>
          </a:xfrm>
          <a:prstGeom xmlns:a="http://schemas.openxmlformats.org/drawingml/2006/main" prst="rect">
            <a:avLst/>
          </a:prstGeom>
          <a:solidFill xmlns:a="http://schemas.openxmlformats.org/drawingml/2006/main">
            <a:srgbClr val="EAF1FA"/>
          </a:solidFill>
          <a:ln xmlns:a="http://schemas.openxmlformats.org/drawingml/2006/main" w="9525">
            <a:solidFill>
              <a:srgbClr val="D8DFE8"/>
            </a:solidFill>
          </a:ln>
        </p:spPr>
        <p:txBody>
          <a:bodyPr xmlns:a="http://schemas.openxmlformats.org/drawingml/2006/main" lIns="114300" tIns="114300" rIns="114300" bIns="114300" anchor="ctr">
            <a:noAutofit/>
          </a:bodyPr>
          <a:lstStyle xmlns:a="http://schemas.openxmlformats.org/drawingml/2006/main">
            <a:defPPr algn="ctr">
              <a:defRPr sz="2025">
                <a:latin typeface="Malgun Gothic"/>
                <a:ea typeface="Malgun Gothic"/>
                <a:cs typeface="Malgun Gothic"/>
              </a:defRPr>
            </a:defPPr>
          </a:lstStyle>
          <a:p xmlns:a="http://schemas.openxmlformats.org/drawingml/2006/main">
            <a:pPr algn="ctr">
              <a:defRPr sz="2025">
                <a:latin typeface="Malgun Gothic"/>
                <a:ea typeface="Malgun Gothic"/>
                <a:cs typeface="Malgun Gothic"/>
              </a:defRPr>
            </a:pPr>
            <a:r>
              <a:rPr sz="2025" b="0">
                <a:solidFill>
                  <a:srgbClr val="142238"/>
                </a:solidFill>
                <a:latin typeface="Malgun Gothic"/>
                <a:ea typeface="Malgun Gothic"/>
                <a:cs typeface="Malgun Gothic"/>
              </a:rPr>
              <a:t>검색 자료 준비</a:t>
            </a:r>
          </a:p>
          <a:p xmlns:a="http://schemas.openxmlformats.org/drawingml/2006/main">
            <a:pPr algn="ctr">
              <a:defRPr sz="2025">
                <a:latin typeface="Malgun Gothic"/>
                <a:ea typeface="Malgun Gothic"/>
                <a:cs typeface="Malgun Gothic"/>
              </a:defRPr>
            </a:pPr>
            <a:r>
              <a:rPr sz="2025" b="0">
                <a:solidFill>
                  <a:srgbClr val="142238"/>
                </a:solidFill>
                <a:latin typeface="Malgun Gothic"/>
                <a:ea typeface="Malgun Gothic"/>
                <a:cs typeface="Malgun Gothic"/>
              </a:rPr>
              <a:t>키워드 + 임베딩</a:t>
            </a:r>
          </a:p>
        </p:txBody>
      </p:sp>
      <p:sp>
        <p:nvSpPr>
          <p:cNvPr id="13" name="">
            <a:extLst xmlns:a="http://schemas.openxmlformats.org/drawingml/2006/main">
              <a:ext uri="{FF2B5EF4-FFF2-40B4-BE49-F238E27FC236}">
                <a16:creationId xmlns:a16="http://schemas.microsoft.com/office/drawing/2014/main" id="{B33D3E50-0962-46AC-A039-FAEBEAA47905}"/>
              </a:ext>
            </a:extLst>
          </p:cNvPr>
          <p:cNvSpPr>
            <a:spLocks xmlns:a="http://schemas.openxmlformats.org/drawingml/2006/main" noGrp="1"/>
          </p:cNvSpPr>
          <p:nvPr/>
        </p:nvSpPr>
        <p:spPr>
          <a:xfrm xmlns:a="http://schemas.openxmlformats.org/drawingml/2006/main">
            <a:off x="638175" y="3609975"/>
            <a:ext cx="109537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1459C7"/>
                </a:solidFill>
                <a:latin typeface="Malgun Gothic"/>
                <a:ea typeface="Malgun Gothic"/>
                <a:cs typeface="Malgun Gothic"/>
              </a:defRPr>
            </a:defPPr>
          </a:lstStyle>
          <a:p xmlns:a="http://schemas.openxmlformats.org/drawingml/2006/main">
            <a:pPr algn="l">
              <a:defRPr sz="2025" b="1">
                <a:solidFill>
                  <a:srgbClr val="1459C7"/>
                </a:solidFill>
                <a:latin typeface="Malgun Gothic"/>
                <a:ea typeface="Malgun Gothic"/>
                <a:cs typeface="Malgun Gothic"/>
              </a:defRPr>
            </a:pPr>
            <a:r>
              <a:rPr sz="2025" b="1">
                <a:solidFill>
                  <a:srgbClr val="1459C7"/>
                </a:solidFill>
                <a:latin typeface="Malgun Gothic"/>
                <a:ea typeface="Malgun Gothic"/>
                <a:cs typeface="Malgun Gothic"/>
              </a:rPr>
              <a:t>질문과 답변</a:t>
            </a:r>
          </a:p>
        </p:txBody>
      </p:sp>
      <p:sp>
        <p:nvSpPr>
          <p:cNvPr id="14" name="">
            <a:extLst xmlns:a="http://schemas.openxmlformats.org/drawingml/2006/main">
              <a:ext uri="{FF2B5EF4-FFF2-40B4-BE49-F238E27FC236}">
                <a16:creationId xmlns:a16="http://schemas.microsoft.com/office/drawing/2014/main" id="{00D15682-BA04-4050-817B-0E9CDCA09B78}"/>
              </a:ext>
            </a:extLst>
          </p:cNvPr>
          <p:cNvSpPr>
            <a:spLocks xmlns:a="http://schemas.openxmlformats.org/drawingml/2006/main" noGrp="1"/>
          </p:cNvSpPr>
          <p:nvPr/>
        </p:nvSpPr>
        <p:spPr>
          <a:xfrm xmlns:a="http://schemas.openxmlformats.org/drawingml/2006/main">
            <a:off x="638175" y="4124325"/>
            <a:ext cx="2333625" cy="1047750"/>
          </a:xfrm>
          <a:prstGeom xmlns:a="http://schemas.openxmlformats.org/drawingml/2006/main" prst="rect">
            <a:avLst/>
          </a:prstGeom>
          <a:solidFill xmlns:a="http://schemas.openxmlformats.org/drawingml/2006/main">
            <a:srgbClr val="F6F8FB"/>
          </a:solidFill>
          <a:ln xmlns:a="http://schemas.openxmlformats.org/drawingml/2006/main" w="9525">
            <a:solidFill>
              <a:srgbClr val="D8DFE8"/>
            </a:solidFill>
          </a:ln>
        </p:spPr>
        <p:txBody>
          <a:bodyPr xmlns:a="http://schemas.openxmlformats.org/drawingml/2006/main" lIns="114300" tIns="114300" rIns="114300" bIns="114300" anchor="ctr">
            <a:noAutofit/>
          </a:bodyPr>
          <a:lstStyle xmlns:a="http://schemas.openxmlformats.org/drawingml/2006/main">
            <a:defPPr algn="ctr">
              <a:defRPr sz="2025">
                <a:latin typeface="Malgun Gothic"/>
                <a:ea typeface="Malgun Gothic"/>
                <a:cs typeface="Malgun Gothic"/>
              </a:defRPr>
            </a:defPPr>
          </a:lstStyle>
          <a:p xmlns:a="http://schemas.openxmlformats.org/drawingml/2006/main">
            <a:pPr algn="ctr">
              <a:defRPr sz="2025">
                <a:latin typeface="Malgun Gothic"/>
                <a:ea typeface="Malgun Gothic"/>
                <a:cs typeface="Malgun Gothic"/>
              </a:defRPr>
            </a:pPr>
            <a:r>
              <a:rPr sz="2025" b="0">
                <a:solidFill>
                  <a:srgbClr val="142238"/>
                </a:solidFill>
                <a:latin typeface="Malgun Gothic"/>
                <a:ea typeface="Malgun Gothic"/>
                <a:cs typeface="Malgun Gothic"/>
              </a:rPr>
              <a:t>한국어 질문</a:t>
            </a:r>
          </a:p>
          <a:p xmlns:a="http://schemas.openxmlformats.org/drawingml/2006/main">
            <a:pPr algn="ctr">
              <a:defRPr sz="2025">
                <a:latin typeface="Malgun Gothic"/>
                <a:ea typeface="Malgun Gothic"/>
                <a:cs typeface="Malgun Gothic"/>
              </a:defRPr>
            </a:pPr>
            <a:r>
              <a:rPr sz="2025" b="0">
                <a:solidFill>
                  <a:srgbClr val="142238"/>
                </a:solidFill>
                <a:latin typeface="Malgun Gothic"/>
                <a:ea typeface="Malgun Gothic"/>
                <a:cs typeface="Malgun Gothic"/>
              </a:rPr>
              <a:t>후속 질문 가능</a:t>
            </a:r>
          </a:p>
        </p:txBody>
      </p:sp>
      <p:sp>
        <p:nvSpPr>
          <p:cNvPr id="15" name="">
            <a:extLst xmlns:a="http://schemas.openxmlformats.org/drawingml/2006/main">
              <a:ext uri="{FF2B5EF4-FFF2-40B4-BE49-F238E27FC236}">
                <a16:creationId xmlns:a16="http://schemas.microsoft.com/office/drawing/2014/main" id="{F5DA2234-C279-4F7A-A525-CEE594236615}"/>
              </a:ext>
            </a:extLst>
          </p:cNvPr>
          <p:cNvSpPr>
            <a:spLocks xmlns:a="http://schemas.openxmlformats.org/drawingml/2006/main" noGrp="1"/>
          </p:cNvSpPr>
          <p:nvPr/>
        </p:nvSpPr>
        <p:spPr>
          <a:xfrm xmlns:a="http://schemas.openxmlformats.org/drawingml/2006/main">
            <a:off x="3457575" y="4124325"/>
            <a:ext cx="2333625" cy="1047750"/>
          </a:xfrm>
          <a:prstGeom xmlns:a="http://schemas.openxmlformats.org/drawingml/2006/main" prst="rect">
            <a:avLst/>
          </a:prstGeom>
          <a:solidFill xmlns:a="http://schemas.openxmlformats.org/drawingml/2006/main">
            <a:srgbClr val="F6F8FB"/>
          </a:solidFill>
          <a:ln xmlns:a="http://schemas.openxmlformats.org/drawingml/2006/main" w="9525">
            <a:solidFill>
              <a:srgbClr val="D8DFE8"/>
            </a:solidFill>
          </a:ln>
        </p:spPr>
        <p:txBody>
          <a:bodyPr xmlns:a="http://schemas.openxmlformats.org/drawingml/2006/main" lIns="114300" tIns="114300" rIns="114300" bIns="114300" anchor="ctr">
            <a:noAutofit/>
          </a:bodyPr>
          <a:lstStyle xmlns:a="http://schemas.openxmlformats.org/drawingml/2006/main">
            <a:defPPr algn="ctr">
              <a:defRPr sz="2025">
                <a:latin typeface="Malgun Gothic"/>
                <a:ea typeface="Malgun Gothic"/>
                <a:cs typeface="Malgun Gothic"/>
              </a:defRPr>
            </a:defPPr>
          </a:lstStyle>
          <a:p xmlns:a="http://schemas.openxmlformats.org/drawingml/2006/main">
            <a:pPr algn="ctr">
              <a:defRPr sz="2025">
                <a:latin typeface="Malgun Gothic"/>
                <a:ea typeface="Malgun Gothic"/>
                <a:cs typeface="Malgun Gothic"/>
              </a:defRPr>
            </a:pPr>
            <a:r>
              <a:rPr sz="2025" b="0">
                <a:solidFill>
                  <a:srgbClr val="142238"/>
                </a:solidFill>
                <a:latin typeface="Malgun Gothic"/>
                <a:ea typeface="Malgun Gothic"/>
                <a:cs typeface="Malgun Gothic"/>
              </a:rPr>
              <a:t>관련 사례 검색</a:t>
            </a:r>
          </a:p>
          <a:p xmlns:a="http://schemas.openxmlformats.org/drawingml/2006/main">
            <a:pPr algn="ctr">
              <a:defRPr sz="2025">
                <a:latin typeface="Malgun Gothic"/>
                <a:ea typeface="Malgun Gothic"/>
                <a:cs typeface="Malgun Gothic"/>
              </a:defRPr>
            </a:pPr>
            <a:r>
              <a:rPr sz="2025" b="0">
                <a:solidFill>
                  <a:srgbClr val="142238"/>
                </a:solidFill>
                <a:latin typeface="Times New Roman"/>
                <a:ea typeface="Times New Roman"/>
                <a:cs typeface="Times New Roman"/>
              </a:rPr>
              <a:t>Clef </a:t>
            </a:r>
            <a:r>
              <a:rPr sz="2025" b="0">
                <a:solidFill>
                  <a:srgbClr val="142238"/>
                </a:solidFill>
                <a:latin typeface="Malgun Gothic"/>
                <a:ea typeface="Malgun Gothic"/>
                <a:cs typeface="Malgun Gothic"/>
              </a:rPr>
              <a:t>선택 적용</a:t>
            </a:r>
          </a:p>
        </p:txBody>
      </p:sp>
      <p:sp>
        <p:nvSpPr>
          <p:cNvPr id="16" name="">
            <a:extLst xmlns:a="http://schemas.openxmlformats.org/drawingml/2006/main">
              <a:ext uri="{FF2B5EF4-FFF2-40B4-BE49-F238E27FC236}">
                <a16:creationId xmlns:a16="http://schemas.microsoft.com/office/drawing/2014/main" id="{CF0DB12A-2B0E-40C9-9D4B-8ACF3957FA9B}"/>
              </a:ext>
            </a:extLst>
          </p:cNvPr>
          <p:cNvSpPr>
            <a:spLocks xmlns:a="http://schemas.openxmlformats.org/drawingml/2006/main" noGrp="1"/>
          </p:cNvSpPr>
          <p:nvPr/>
        </p:nvSpPr>
        <p:spPr>
          <a:xfrm xmlns:a="http://schemas.openxmlformats.org/drawingml/2006/main">
            <a:off x="6276975" y="4124325"/>
            <a:ext cx="2333625" cy="1047750"/>
          </a:xfrm>
          <a:prstGeom xmlns:a="http://schemas.openxmlformats.org/drawingml/2006/main" prst="rect">
            <a:avLst/>
          </a:prstGeom>
          <a:solidFill xmlns:a="http://schemas.openxmlformats.org/drawingml/2006/main">
            <a:srgbClr val="F6F8FB"/>
          </a:solidFill>
          <a:ln xmlns:a="http://schemas.openxmlformats.org/drawingml/2006/main" w="9525">
            <a:solidFill>
              <a:srgbClr val="D8DFE8"/>
            </a:solidFill>
          </a:ln>
        </p:spPr>
        <p:txBody>
          <a:bodyPr xmlns:a="http://schemas.openxmlformats.org/drawingml/2006/main" lIns="114300" tIns="114300" rIns="114300" bIns="114300" anchor="ctr">
            <a:noAutofit/>
          </a:bodyPr>
          <a:lstStyle xmlns:a="http://schemas.openxmlformats.org/drawingml/2006/main">
            <a:defPPr algn="ctr">
              <a:defRPr sz="2025">
                <a:latin typeface="Malgun Gothic"/>
                <a:ea typeface="Malgun Gothic"/>
                <a:cs typeface="Malgun Gothic"/>
              </a:defRPr>
            </a:defPPr>
          </a:lstStyle>
          <a:p xmlns:a="http://schemas.openxmlformats.org/drawingml/2006/main">
            <a:pPr algn="ctr">
              <a:defRPr sz="2025">
                <a:latin typeface="Malgun Gothic"/>
                <a:ea typeface="Malgun Gothic"/>
                <a:cs typeface="Malgun Gothic"/>
              </a:defRPr>
            </a:pPr>
            <a:r>
              <a:rPr sz="2025" b="0">
                <a:solidFill>
                  <a:srgbClr val="142238"/>
                </a:solidFill>
                <a:latin typeface="Times New Roman"/>
                <a:ea typeface="Times New Roman"/>
                <a:cs typeface="Times New Roman"/>
              </a:rPr>
              <a:t>LLM </a:t>
            </a:r>
            <a:r>
              <a:rPr sz="2025" b="0">
                <a:solidFill>
                  <a:srgbClr val="142238"/>
                </a:solidFill>
                <a:latin typeface="Malgun Gothic"/>
                <a:ea typeface="Malgun Gothic"/>
                <a:cs typeface="Malgun Gothic"/>
              </a:rPr>
              <a:t>한국어 답변</a:t>
            </a:r>
          </a:p>
          <a:p xmlns:a="http://schemas.openxmlformats.org/drawingml/2006/main">
            <a:pPr algn="ctr">
              <a:defRPr sz="2025">
                <a:latin typeface="Malgun Gothic"/>
                <a:ea typeface="Malgun Gothic"/>
                <a:cs typeface="Malgun Gothic"/>
              </a:defRPr>
            </a:pPr>
            <a:r>
              <a:rPr sz="2025" b="0">
                <a:solidFill>
                  <a:srgbClr val="142238"/>
                </a:solidFill>
                <a:latin typeface="Malgun Gothic"/>
                <a:ea typeface="Malgun Gothic"/>
                <a:cs typeface="Malgun Gothic"/>
              </a:rPr>
              <a:t>검색한 원문 사용</a:t>
            </a:r>
          </a:p>
        </p:txBody>
      </p:sp>
      <p:sp>
        <p:nvSpPr>
          <p:cNvPr id="17" name="">
            <a:extLst xmlns:a="http://schemas.openxmlformats.org/drawingml/2006/main">
              <a:ext uri="{FF2B5EF4-FFF2-40B4-BE49-F238E27FC236}">
                <a16:creationId xmlns:a16="http://schemas.microsoft.com/office/drawing/2014/main" id="{9253348E-5C1F-4B94-8D06-1BD6083560C7}"/>
              </a:ext>
            </a:extLst>
          </p:cNvPr>
          <p:cNvSpPr>
            <a:spLocks xmlns:a="http://schemas.openxmlformats.org/drawingml/2006/main" noGrp="1"/>
          </p:cNvSpPr>
          <p:nvPr/>
        </p:nvSpPr>
        <p:spPr>
          <a:xfrm xmlns:a="http://schemas.openxmlformats.org/drawingml/2006/main">
            <a:off x="9096375" y="4124325"/>
            <a:ext cx="2333625" cy="1047750"/>
          </a:xfrm>
          <a:prstGeom xmlns:a="http://schemas.openxmlformats.org/drawingml/2006/main" prst="rect">
            <a:avLst/>
          </a:prstGeom>
          <a:solidFill xmlns:a="http://schemas.openxmlformats.org/drawingml/2006/main">
            <a:srgbClr val="F6F8FB"/>
          </a:solidFill>
          <a:ln xmlns:a="http://schemas.openxmlformats.org/drawingml/2006/main" w="9525">
            <a:solidFill>
              <a:srgbClr val="D8DFE8"/>
            </a:solidFill>
          </a:ln>
        </p:spPr>
        <p:txBody>
          <a:bodyPr xmlns:a="http://schemas.openxmlformats.org/drawingml/2006/main" lIns="114300" tIns="114300" rIns="114300" bIns="114300" anchor="ctr">
            <a:noAutofit/>
          </a:bodyPr>
          <a:lstStyle xmlns:a="http://schemas.openxmlformats.org/drawingml/2006/main">
            <a:defPPr algn="ctr">
              <a:defRPr sz="2025">
                <a:latin typeface="Malgun Gothic"/>
                <a:ea typeface="Malgun Gothic"/>
                <a:cs typeface="Malgun Gothic"/>
              </a:defRPr>
            </a:defPPr>
          </a:lstStyle>
          <a:p xmlns:a="http://schemas.openxmlformats.org/drawingml/2006/main">
            <a:pPr algn="ctr">
              <a:defRPr sz="2025">
                <a:latin typeface="Malgun Gothic"/>
                <a:ea typeface="Malgun Gothic"/>
                <a:cs typeface="Malgun Gothic"/>
              </a:defRPr>
            </a:pPr>
            <a:r>
              <a:rPr sz="2025" b="0">
                <a:solidFill>
                  <a:srgbClr val="142238"/>
                </a:solidFill>
                <a:latin typeface="Malgun Gothic"/>
                <a:ea typeface="Malgun Gothic"/>
                <a:cs typeface="Malgun Gothic"/>
              </a:rPr>
              <a:t>원문·인용 검사</a:t>
            </a:r>
          </a:p>
          <a:p xmlns:a="http://schemas.openxmlformats.org/drawingml/2006/main">
            <a:pPr algn="ctr">
              <a:defRPr sz="2025">
                <a:latin typeface="Malgun Gothic"/>
                <a:ea typeface="Malgun Gothic"/>
                <a:cs typeface="Malgun Gothic"/>
              </a:defRPr>
            </a:pPr>
            <a:r>
              <a:rPr sz="2025" b="0">
                <a:solidFill>
                  <a:srgbClr val="142238"/>
                </a:solidFill>
                <a:latin typeface="Malgun Gothic"/>
                <a:ea typeface="Malgun Gothic"/>
                <a:cs typeface="Malgun Gothic"/>
              </a:rPr>
              <a:t>답변과 근거 표시</a:t>
            </a:r>
          </a:p>
        </p:txBody>
      </p:sp>
      <p:sp>
        <p:nvSpPr>
          <p:cNvPr id="22" name="">
            <a:extLst xmlns:a="http://schemas.openxmlformats.org/drawingml/2006/main">
              <a:ext uri="{FF2B5EF4-FFF2-40B4-BE49-F238E27FC236}">
                <a16:creationId xmlns:a16="http://schemas.microsoft.com/office/drawing/2014/main" id="{21E0AA26-B31E-4B9D-A57E-C20D7F493AE0}"/>
              </a:ext>
            </a:extLst>
          </p:cNvPr>
          <p:cNvSpPr>
            <a:spLocks xmlns:a="http://schemas.openxmlformats.org/drawingml/2006/main" noGrp="1"/>
          </p:cNvSpPr>
          <p:nvPr/>
        </p:nvSpPr>
        <p:spPr>
          <a:xfrm xmlns:a="http://schemas.openxmlformats.org/drawingml/2006/main">
            <a:off x="647700" y="5638800"/>
            <a:ext cx="10715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16766D"/>
                </a:solidFill>
                <a:latin typeface="Malgun Gothic"/>
                <a:ea typeface="Malgun Gothic"/>
                <a:cs typeface="Malgun Gothic"/>
              </a:defRPr>
            </a:defPPr>
          </a:lstStyle>
          <a:p xmlns:a="http://schemas.openxmlformats.org/drawingml/2006/main">
            <a:pPr algn="l">
              <a:defRPr sz="2100" b="1">
                <a:solidFill>
                  <a:srgbClr val="16766D"/>
                </a:solidFill>
                <a:latin typeface="Malgun Gothic"/>
                <a:ea typeface="Malgun Gothic"/>
                <a:cs typeface="Malgun Gothic"/>
              </a:defRPr>
            </a:pPr>
            <a:r>
              <a:rPr sz="2100" b="1">
                <a:solidFill>
                  <a:srgbClr val="16766D"/>
                </a:solidFill>
                <a:latin typeface="Malgun Gothic"/>
                <a:ea typeface="Malgun Gothic"/>
                <a:cs typeface="Malgun Gothic"/>
              </a:rPr>
              <a:t>사실의 기준은 보존한 원문입니다. 정리문과 번역문은 검색을 돕는 보조 자료입니다.</a:t>
            </a:r>
          </a:p>
        </p:txBody>
      </p:sp>
    </p:spTree>
    <p:extLst>
      <p:ext uri="{BB962C8B-B14F-4D97-AF65-F5344CB8AC3E}">
        <p14:creationId xmlns:p14="http://schemas.microsoft.com/office/powerpoint/2010/main" val="1388103622"/>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31A8D871-745E-487B-84E4-CB97FD5EFDBB}"/>
              </a:ext>
            </a:extLst>
          </p:cNvPr>
          <p:cNvSpPr>
            <a:spLocks xmlns:a="http://schemas.openxmlformats.org/drawingml/2006/main" noGrp="1"/>
          </p:cNvSpPr>
          <p:nvPr/>
        </p:nvSpPr>
        <p:spPr>
          <a:xfrm xmlns:a="http://schemas.openxmlformats.org/drawingml/2006/main">
            <a:off x="609600" y="428625"/>
            <a:ext cx="1095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142238"/>
                </a:solidFill>
                <a:latin typeface="Malgun Gothic"/>
                <a:ea typeface="Malgun Gothic"/>
                <a:cs typeface="Malgun Gothic"/>
              </a:defRPr>
            </a:defPPr>
          </a:lstStyle>
          <a:p xmlns:a="http://schemas.openxmlformats.org/drawingml/2006/main">
            <a:pPr algn="l">
              <a:defRPr sz="3225" b="1">
                <a:solidFill>
                  <a:srgbClr val="142238"/>
                </a:solidFill>
                <a:latin typeface="Malgun Gothic"/>
                <a:ea typeface="Malgun Gothic"/>
                <a:cs typeface="Malgun Gothic"/>
              </a:defRPr>
            </a:pPr>
            <a:r>
              <a:rPr sz="3225" b="1">
                <a:solidFill>
                  <a:srgbClr val="142238"/>
                </a:solidFill>
                <a:latin typeface="Malgun Gothic"/>
                <a:ea typeface="Malgun Gothic"/>
                <a:cs typeface="Malgun Gothic"/>
              </a:rPr>
              <a:t>같은 </a:t>
            </a:r>
            <a:r>
              <a:rPr sz="3225" b="1">
                <a:solidFill>
                  <a:srgbClr val="142238"/>
                </a:solidFill>
                <a:latin typeface="Times New Roman"/>
                <a:ea typeface="Times New Roman"/>
                <a:cs typeface="Times New Roman"/>
              </a:rPr>
              <a:t>CS</a:t>
            </a:r>
            <a:r>
              <a:rPr sz="3225" b="1">
                <a:solidFill>
                  <a:srgbClr val="142238"/>
                </a:solidFill>
                <a:latin typeface="Malgun Gothic"/>
                <a:ea typeface="Malgun Gothic"/>
                <a:cs typeface="Malgun Gothic"/>
              </a:rPr>
              <a:t>의 다른 조치를 섞지 않는 구조</a:t>
            </a:r>
          </a:p>
        </p:txBody>
      </p:sp>
      <p:sp>
        <p:nvSpPr>
          <p:cNvPr id="2" name="">
            <a:extLst xmlns:a="http://schemas.openxmlformats.org/drawingml/2006/main">
              <a:ext uri="{FF2B5EF4-FFF2-40B4-BE49-F238E27FC236}">
                <a16:creationId xmlns:a16="http://schemas.microsoft.com/office/drawing/2014/main" id="{3EEF4A29-C098-4693-91F6-965C27642892}"/>
              </a:ext>
            </a:extLst>
          </p:cNvPr>
          <p:cNvSpPr>
            <a:spLocks xmlns:a="http://schemas.openxmlformats.org/drawingml/2006/main" noGrp="1"/>
          </p:cNvSpPr>
          <p:nvPr/>
        </p:nvSpPr>
        <p:spPr>
          <a:xfrm xmlns:a="http://schemas.openxmlformats.org/drawingml/2006/main">
            <a:off x="628650" y="1066800"/>
            <a:ext cx="10896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B6676"/>
                </a:solidFill>
                <a:latin typeface="Malgun Gothic"/>
                <a:ea typeface="Malgun Gothic"/>
                <a:cs typeface="Malgun Gothic"/>
              </a:defRPr>
            </a:defPPr>
          </a:lstStyle>
          <a:p xmlns:a="http://schemas.openxmlformats.org/drawingml/2006/main">
            <a:pPr algn="l">
              <a:defRPr sz="1725" b="0">
                <a:solidFill>
                  <a:srgbClr val="5B6676"/>
                </a:solidFill>
                <a:latin typeface="Malgun Gothic"/>
                <a:ea typeface="Malgun Gothic"/>
                <a:cs typeface="Malgun Gothic"/>
              </a:defRPr>
            </a:pPr>
            <a:r>
              <a:rPr sz="1725" b="0">
                <a:solidFill>
                  <a:srgbClr val="5B6676"/>
                </a:solidFill>
                <a:latin typeface="Malgun Gothic"/>
                <a:ea typeface="Malgun Gothic"/>
                <a:cs typeface="Malgun Gothic"/>
              </a:rPr>
              <a:t>복수 부품 문제는 별도 상세로 보존하고, 답변이 사용한 상세의 해당 셀을 인용합니다.</a:t>
            </a:r>
          </a:p>
        </p:txBody>
      </p:sp>
      <p:sp>
        <p:nvSpPr>
          <p:cNvPr id="3" name="">
            <a:extLst xmlns:a="http://schemas.openxmlformats.org/drawingml/2006/main">
              <a:ext uri="{FF2B5EF4-FFF2-40B4-BE49-F238E27FC236}">
                <a16:creationId xmlns:a16="http://schemas.microsoft.com/office/drawing/2014/main" id="{2D7A02EC-A863-4972-8BAD-25291CFAA290}"/>
              </a:ext>
            </a:extLst>
          </p:cNvPr>
          <p:cNvSpPr>
            <a:spLocks xmlns:a="http://schemas.openxmlformats.org/drawingml/2006/main" noGrp="1"/>
          </p:cNvSpPr>
          <p:nvPr/>
        </p:nvSpPr>
        <p:spPr>
          <a:xfrm xmlns:a="http://schemas.openxmlformats.org/drawingml/2006/main">
            <a:off x="628650" y="6429375"/>
            <a:ext cx="10382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5B6676"/>
                </a:solidFill>
                <a:latin typeface="Malgun Gothic"/>
                <a:ea typeface="Malgun Gothic"/>
                <a:cs typeface="Malgun Gothic"/>
              </a:defRPr>
            </a:defPPr>
          </a:lstStyle>
          <a:p xmlns:a="http://schemas.openxmlformats.org/drawingml/2006/main">
            <a:pPr algn="l">
              <a:defRPr sz="1200" b="0">
                <a:solidFill>
                  <a:srgbClr val="5B6676"/>
                </a:solidFill>
                <a:latin typeface="Malgun Gothic"/>
                <a:ea typeface="Malgun Gothic"/>
                <a:cs typeface="Malgun Gothic"/>
              </a:defRPr>
            </a:pPr>
            <a:r>
              <a:rPr sz="1200" b="0">
                <a:solidFill>
                  <a:srgbClr val="5B6676"/>
                </a:solidFill>
                <a:latin typeface="Malgun Gothic"/>
                <a:ea typeface="Malgun Gothic"/>
                <a:cs typeface="Malgun Gothic"/>
              </a:rPr>
              <a:t>근거 </a:t>
            </a:r>
            <a:r>
              <a:rPr sz="1200" b="0">
                <a:solidFill>
                  <a:srgbClr val="5B6676"/>
                </a:solidFill>
                <a:latin typeface="Times New Roman"/>
                <a:ea typeface="Times New Roman"/>
                <a:cs typeface="Times New Roman"/>
              </a:rPr>
              <a:t>E1 </a:t>
            </a:r>
            <a:r>
              <a:rPr sz="1200" b="0">
                <a:solidFill>
                  <a:srgbClr val="5B6676"/>
                </a:solidFill>
                <a:latin typeface="Malgun Gothic"/>
                <a:ea typeface="Malgun Gothic"/>
                <a:cs typeface="Malgun Gothic"/>
              </a:rPr>
              <a:t>· 구조 설명용 가상 사례 · 규칙 검사 통과가 모든 의미의 정확성을 보장하지는 않음</a:t>
            </a:r>
          </a:p>
        </p:txBody>
      </p:sp>
      <p:sp>
        <p:nvSpPr>
          <p:cNvPr id="4" name="">
            <a:extLst xmlns:a="http://schemas.openxmlformats.org/drawingml/2006/main">
              <a:ext uri="{FF2B5EF4-FFF2-40B4-BE49-F238E27FC236}">
                <a16:creationId xmlns:a16="http://schemas.microsoft.com/office/drawing/2014/main" id="{F40D017D-978C-4A72-AF30-872C1B733610}"/>
              </a:ext>
            </a:extLst>
          </p:cNvPr>
          <p:cNvSpPr>
            <a:spLocks xmlns:a="http://schemas.openxmlformats.org/drawingml/2006/main" noGrp="1"/>
          </p:cNvSpPr>
          <p:nvPr/>
        </p:nvSpPr>
        <p:spPr>
          <a:xfrm xmlns:a="http://schemas.openxmlformats.org/drawingml/2006/main">
            <a:off x="11096625" y="6391275"/>
            <a:ext cx="4572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650" b="0">
                <a:solidFill>
                  <a:srgbClr val="5B6676"/>
                </a:solidFill>
                <a:latin typeface="Malgun Gothic"/>
                <a:ea typeface="Malgun Gothic"/>
                <a:cs typeface="Malgun Gothic"/>
              </a:defRPr>
            </a:defPPr>
          </a:lstStyle>
          <a:p xmlns:a="http://schemas.openxmlformats.org/drawingml/2006/main">
            <a:pPr algn="r">
              <a:defRPr sz="1650" b="0">
                <a:solidFill>
                  <a:srgbClr val="5B6676"/>
                </a:solidFill>
                <a:latin typeface="Malgun Gothic"/>
                <a:ea typeface="Malgun Gothic"/>
                <a:cs typeface="Malgun Gothic"/>
              </a:defRPr>
            </a:pPr>
            <a:r>
              <a:rPr sz="1650" b="0">
                <a:solidFill>
                  <a:srgbClr val="5B6676"/>
                </a:solidFill>
                <a:latin typeface="Times New Roman"/>
                <a:ea typeface="Times New Roman"/>
                <a:cs typeface="Times New Roman"/>
              </a:rPr>
              <a:t>05</a:t>
            </a:r>
          </a:p>
        </p:txBody>
      </p:sp>
      <p:graphicFrame>
        <p:nvGraphicFramePr>
          <p:cNvPr id="5" name="">
            <a:extLst xmlns:a="http://schemas.openxmlformats.org/drawingml/2006/main">
              <a:ext uri="{FF2B5EF4-FFF2-40B4-BE49-F238E27FC236}">
                <a16:creationId xmlns:a16="http://schemas.microsoft.com/office/drawing/2014/main" id="{37B3587E-AC39-41F1-9C35-850866FFF124}"/>
              </a:ext>
            </a:extLst>
          </p:cNvPr>
          <p:cNvGraphicFramePr/>
          <p:nvPr/>
        </p:nvGraphicFramePr>
        <p:xfrm>
          <a:off xmlns:a="http://schemas.openxmlformats.org/drawingml/2006/main" x="638175" y="1809750"/>
          <a:ext xmlns:a="http://schemas.openxmlformats.org/drawingml/2006/main" cx="10944225" cy="2238375"/>
        </p:xfrm>
        <a:graphic xmlns:a="http://schemas.openxmlformats.org/drawingml/2006/main">
          <a:graphicData uri="http://schemas.openxmlformats.org/drawingml/2006/table">
            <a:tbl>
              <a:tblPr/>
              <a:tblGrid>
                <a:gridCol w="3190875"/>
                <a:gridCol w="3105150"/>
                <a:gridCol w="4648200"/>
              </a:tblGrid>
              <a:tr h="504825">
                <a:tc>
                  <a:txBody>
                    <a:bodyPr lIns="133350" tIns="133350" rIns="133350" bIns="133350">
                      <a:noAutofit/>
                    </a:bodyPr>
                    <a:lstStyle/>
                    <a:p>
                      <a:r>
                        <a:rPr sz="2025" b="1">
                          <a:solidFill>
                            <a:srgbClr val="FFFFFF"/>
                          </a:solidFill>
                          <a:latin typeface="Times New Roman"/>
                          <a:ea typeface="Times New Roman"/>
                          <a:cs typeface="Times New Roman"/>
                        </a:rPr>
                        <a:t>CS NO / </a:t>
                      </a:r>
                      <a:r>
                        <a:rPr sz="2025" b="1">
                          <a:solidFill>
                            <a:srgbClr val="FFFFFF"/>
                          </a:solidFill>
                          <a:latin typeface="Malgun Gothic"/>
                          <a:ea typeface="Malgun Gothic"/>
                          <a:cs typeface="Malgun Gothic"/>
                        </a:rPr>
                        <a:t>상세</a:t>
                      </a:r>
                    </a:p>
                  </a:txBody>
                  <a:tcPr marL="91440" marR="91440" marT="45720" marB="45720" anchor="ctr">
                    <a:lnL w="9525">
                      <a:solidFill>
                        <a:srgbClr val="D8DFE8"/>
                      </a:solidFill>
                    </a:lnL>
                    <a:lnR w="9525">
                      <a:solidFill>
                        <a:srgbClr val="D8DFE8"/>
                      </a:solidFill>
                    </a:lnR>
                    <a:lnT w="9525">
                      <a:solidFill>
                        <a:srgbClr val="D8DFE8"/>
                      </a:solidFill>
                    </a:lnT>
                    <a:lnB w="9525">
                      <a:solidFill>
                        <a:srgbClr val="D8DFE8"/>
                      </a:solidFill>
                    </a:lnB>
                    <a:solidFill>
                      <a:srgbClr val="142238"/>
                    </a:solidFill>
                  </a:tcPr>
                </a:tc>
                <a:tc>
                  <a:txBody>
                    <a:bodyPr lIns="133350" tIns="133350" rIns="133350" bIns="133350">
                      <a:noAutofit/>
                    </a:bodyPr>
                    <a:lstStyle/>
                    <a:p>
                      <a:r>
                        <a:rPr sz="2025" b="1">
                          <a:solidFill>
                            <a:srgbClr val="FFFFFF"/>
                          </a:solidFill>
                          <a:latin typeface="Malgun Gothic"/>
                          <a:ea typeface="Malgun Gothic"/>
                          <a:cs typeface="Malgun Gothic"/>
                        </a:rPr>
                        <a:t>현상</a:t>
                      </a:r>
                    </a:p>
                  </a:txBody>
                  <a:tcPr marL="91440" marR="91440" marT="45720" marB="45720" anchor="ctr">
                    <a:lnR w="9525">
                      <a:solidFill>
                        <a:srgbClr val="D8DFE8"/>
                      </a:solidFill>
                    </a:lnR>
                    <a:lnT w="9525">
                      <a:solidFill>
                        <a:srgbClr val="D8DFE8"/>
                      </a:solidFill>
                    </a:lnT>
                    <a:lnB w="9525">
                      <a:solidFill>
                        <a:srgbClr val="D8DFE8"/>
                      </a:solidFill>
                    </a:lnB>
                    <a:solidFill>
                      <a:srgbClr val="142238"/>
                    </a:solidFill>
                  </a:tcPr>
                </a:tc>
                <a:tc>
                  <a:txBody>
                    <a:bodyPr lIns="133350" tIns="133350" rIns="133350" bIns="133350">
                      <a:noAutofit/>
                    </a:bodyPr>
                    <a:lstStyle/>
                    <a:p>
                      <a:r>
                        <a:rPr sz="2025" b="1">
                          <a:solidFill>
                            <a:srgbClr val="FFFFFF"/>
                          </a:solidFill>
                          <a:latin typeface="Malgun Gothic"/>
                          <a:ea typeface="Malgun Gothic"/>
                          <a:cs typeface="Malgun Gothic"/>
                        </a:rPr>
                        <a:t>조치 원문</a:t>
                      </a:r>
                    </a:p>
                  </a:txBody>
                  <a:tcPr marL="91440" marR="91440" marT="45720" marB="45720" anchor="ctr">
                    <a:lnR w="9525">
                      <a:solidFill>
                        <a:srgbClr val="D8DFE8"/>
                      </a:solidFill>
                    </a:lnR>
                    <a:lnT w="9525">
                      <a:solidFill>
                        <a:srgbClr val="D8DFE8"/>
                      </a:solidFill>
                    </a:lnT>
                    <a:lnB w="9525">
                      <a:solidFill>
                        <a:srgbClr val="D8DFE8"/>
                      </a:solidFill>
                    </a:lnB>
                    <a:solidFill>
                      <a:srgbClr val="142238"/>
                    </a:solidFill>
                  </a:tcPr>
                </a:tc>
              </a:tr>
              <a:tr h="866775">
                <a:tc>
                  <a:txBody>
                    <a:bodyPr lIns="133350" tIns="133350" rIns="133350" bIns="133350">
                      <a:noAutofit/>
                    </a:bodyPr>
                    <a:lstStyle/>
                    <a:p>
                      <a:r>
                        <a:rPr sz="2025" b="0">
                          <a:solidFill>
                            <a:srgbClr val="142238"/>
                          </a:solidFill>
                          <a:latin typeface="Times New Roman"/>
                          <a:ea typeface="Times New Roman"/>
                          <a:cs typeface="Times New Roman"/>
                        </a:rPr>
                        <a:t>CS-DEMO-001 / A</a:t>
                      </a:r>
                    </a:p>
                  </a:txBody>
                  <a:tcPr marL="91440" marR="91440" marT="45720" marB="45720" anchor="ctr">
                    <a:lnL w="9525">
                      <a:solidFill>
                        <a:srgbClr val="D8DFE8"/>
                      </a:solidFill>
                    </a:lnL>
                    <a:lnR w="9525">
                      <a:solidFill>
                        <a:srgbClr val="D8DFE8"/>
                      </a:solidFill>
                    </a:lnR>
                    <a:lnB w="9525">
                      <a:solidFill>
                        <a:srgbClr val="D8DFE8"/>
                      </a:solidFill>
                    </a:lnB>
                    <a:solidFill>
                      <a:srgbClr val="FFFFFF"/>
                    </a:solidFill>
                  </a:tcPr>
                </a:tc>
                <a:tc>
                  <a:txBody>
                    <a:bodyPr lIns="133350" tIns="133350" rIns="133350" bIns="133350">
                      <a:noAutofit/>
                    </a:bodyPr>
                    <a:lstStyle/>
                    <a:p>
                      <a:r>
                        <a:rPr sz="2025" b="0">
                          <a:solidFill>
                            <a:srgbClr val="142238"/>
                          </a:solidFill>
                          <a:latin typeface="Malgun Gothic"/>
                          <a:ea typeface="Malgun Gothic"/>
                          <a:cs typeface="Malgun Gothic"/>
                        </a:rPr>
                        <a:t>펌프 누수</a:t>
                      </a:r>
                    </a:p>
                  </a:txBody>
                  <a:tcPr marL="91440" marR="91440" marT="45720" marB="45720" anchor="ctr">
                    <a:lnR w="9525">
                      <a:solidFill>
                        <a:srgbClr val="D8DFE8"/>
                      </a:solidFill>
                    </a:lnR>
                    <a:lnB w="9525">
                      <a:solidFill>
                        <a:srgbClr val="D8DFE8"/>
                      </a:solidFill>
                    </a:lnB>
                    <a:solidFill>
                      <a:srgbClr val="FFFFFF"/>
                    </a:solidFill>
                  </a:tcPr>
                </a:tc>
                <a:tc>
                  <a:txBody>
                    <a:bodyPr lIns="133350" tIns="133350" rIns="133350" bIns="133350">
                      <a:noAutofit/>
                    </a:bodyPr>
                    <a:lstStyle/>
                    <a:p>
                      <a:r>
                        <a:rPr sz="2025" b="0">
                          <a:solidFill>
                            <a:srgbClr val="142238"/>
                          </a:solidFill>
                          <a:latin typeface="Malgun Gothic"/>
                          <a:ea typeface="Malgun Gothic"/>
                          <a:cs typeface="Malgun Gothic"/>
                        </a:rPr>
                        <a:t>씰 교체 예정</a:t>
                      </a:r>
                    </a:p>
                  </a:txBody>
                  <a:tcPr marL="91440" marR="91440" marT="45720" marB="45720" anchor="ctr">
                    <a:lnR w="9525">
                      <a:solidFill>
                        <a:srgbClr val="D8DFE8"/>
                      </a:solidFill>
                    </a:lnR>
                    <a:lnB w="9525">
                      <a:solidFill>
                        <a:srgbClr val="D8DFE8"/>
                      </a:solidFill>
                    </a:lnB>
                    <a:solidFill>
                      <a:srgbClr val="FFFFFF"/>
                    </a:solidFill>
                  </a:tcPr>
                </a:tc>
              </a:tr>
              <a:tr h="866775">
                <a:tc>
                  <a:txBody>
                    <a:bodyPr lIns="133350" tIns="133350" rIns="133350" bIns="133350">
                      <a:noAutofit/>
                    </a:bodyPr>
                    <a:lstStyle/>
                    <a:p>
                      <a:r>
                        <a:rPr sz="2025" b="0">
                          <a:solidFill>
                            <a:srgbClr val="142238"/>
                          </a:solidFill>
                          <a:latin typeface="Times New Roman"/>
                          <a:ea typeface="Times New Roman"/>
                          <a:cs typeface="Times New Roman"/>
                        </a:rPr>
                        <a:t>CS-DEMO-001 / B</a:t>
                      </a:r>
                    </a:p>
                  </a:txBody>
                  <a:tcPr marL="91440" marR="91440" marT="45720" marB="45720" anchor="ctr">
                    <a:lnL w="9525">
                      <a:solidFill>
                        <a:srgbClr val="D8DFE8"/>
                      </a:solidFill>
                    </a:lnL>
                    <a:lnR w="9525">
                      <a:solidFill>
                        <a:srgbClr val="D8DFE8"/>
                      </a:solidFill>
                    </a:lnR>
                    <a:lnB w="9525">
                      <a:solidFill>
                        <a:srgbClr val="D8DFE8"/>
                      </a:solidFill>
                    </a:lnB>
                    <a:solidFill>
                      <a:srgbClr val="F6F8FB"/>
                    </a:solidFill>
                  </a:tcPr>
                </a:tc>
                <a:tc>
                  <a:txBody>
                    <a:bodyPr lIns="133350" tIns="133350" rIns="133350" bIns="133350">
                      <a:noAutofit/>
                    </a:bodyPr>
                    <a:lstStyle/>
                    <a:p>
                      <a:r>
                        <a:rPr sz="2025" b="0">
                          <a:solidFill>
                            <a:srgbClr val="142238"/>
                          </a:solidFill>
                          <a:latin typeface="Malgun Gothic"/>
                          <a:ea typeface="Malgun Gothic"/>
                          <a:cs typeface="Malgun Gothic"/>
                        </a:rPr>
                        <a:t>밸브 응답 지연</a:t>
                      </a:r>
                    </a:p>
                  </a:txBody>
                  <a:tcPr marL="91440" marR="91440" marT="45720" marB="45720" anchor="ctr">
                    <a:lnR w="9525">
                      <a:solidFill>
                        <a:srgbClr val="D8DFE8"/>
                      </a:solidFill>
                    </a:lnR>
                    <a:lnB w="9525">
                      <a:solidFill>
                        <a:srgbClr val="D8DFE8"/>
                      </a:solidFill>
                    </a:lnB>
                    <a:solidFill>
                      <a:srgbClr val="F6F8FB"/>
                    </a:solidFill>
                  </a:tcPr>
                </a:tc>
                <a:tc>
                  <a:txBody>
                    <a:bodyPr lIns="133350" tIns="133350" rIns="133350" bIns="133350">
                      <a:noAutofit/>
                    </a:bodyPr>
                    <a:lstStyle/>
                    <a:p>
                      <a:r>
                        <a:rPr sz="2025" b="0">
                          <a:solidFill>
                            <a:srgbClr val="142238"/>
                          </a:solidFill>
                          <a:latin typeface="Malgun Gothic"/>
                          <a:ea typeface="Malgun Gothic"/>
                          <a:cs typeface="Malgun Gothic"/>
                        </a:rPr>
                        <a:t>커넥터 재체결 후 동작 확인</a:t>
                      </a:r>
                    </a:p>
                  </a:txBody>
                  <a:tcPr marL="91440" marR="91440" marT="45720" marB="45720" anchor="ctr">
                    <a:lnR w="9525">
                      <a:solidFill>
                        <a:srgbClr val="D8DFE8"/>
                      </a:solidFill>
                    </a:lnR>
                    <a:lnB w="9525">
                      <a:solidFill>
                        <a:srgbClr val="D8DFE8"/>
                      </a:solidFill>
                    </a:lnB>
                    <a:solidFill>
                      <a:srgbClr val="F6F8FB"/>
                    </a:solidFill>
                  </a:tcPr>
                </a:tc>
              </a:tr>
            </a:tbl>
          </a:graphicData>
        </a:graphic>
      </p:graphicFrame>
      <p:sp>
        <p:nvSpPr>
          <p:cNvPr id="6" name="">
            <a:extLst xmlns:a="http://schemas.openxmlformats.org/drawingml/2006/main">
              <a:ext uri="{FF2B5EF4-FFF2-40B4-BE49-F238E27FC236}">
                <a16:creationId xmlns:a16="http://schemas.microsoft.com/office/drawing/2014/main" id="{5D1E48DD-1740-453B-9FE9-081B12A7C42D}"/>
              </a:ext>
            </a:extLst>
          </p:cNvPr>
          <p:cNvSpPr>
            <a:spLocks xmlns:a="http://schemas.openxmlformats.org/drawingml/2006/main" noGrp="1"/>
          </p:cNvSpPr>
          <p:nvPr/>
        </p:nvSpPr>
        <p:spPr>
          <a:xfrm xmlns:a="http://schemas.openxmlformats.org/drawingml/2006/main">
            <a:off x="657225" y="4448175"/>
            <a:ext cx="4810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1459C7"/>
                </a:solidFill>
                <a:latin typeface="Malgun Gothic"/>
                <a:ea typeface="Malgun Gothic"/>
                <a:cs typeface="Malgun Gothic"/>
              </a:defRPr>
            </a:defPPr>
          </a:lstStyle>
          <a:p xmlns:a="http://schemas.openxmlformats.org/drawingml/2006/main">
            <a:pPr algn="l">
              <a:defRPr sz="1875" b="1">
                <a:solidFill>
                  <a:srgbClr val="1459C7"/>
                </a:solidFill>
                <a:latin typeface="Malgun Gothic"/>
                <a:ea typeface="Malgun Gothic"/>
                <a:cs typeface="Malgun Gothic"/>
              </a:defRPr>
            </a:pPr>
            <a:r>
              <a:rPr sz="1875" b="1">
                <a:solidFill>
                  <a:srgbClr val="1459C7"/>
                </a:solidFill>
                <a:latin typeface="Malgun Gothic"/>
                <a:ea typeface="Malgun Gothic"/>
                <a:cs typeface="Malgun Gothic"/>
              </a:rPr>
              <a:t>펌프 누수 질문에 사용할 근거</a:t>
            </a:r>
          </a:p>
        </p:txBody>
      </p:sp>
      <p:sp>
        <p:nvSpPr>
          <p:cNvPr id="7" name="">
            <a:extLst xmlns:a="http://schemas.openxmlformats.org/drawingml/2006/main">
              <a:ext uri="{FF2B5EF4-FFF2-40B4-BE49-F238E27FC236}">
                <a16:creationId xmlns:a16="http://schemas.microsoft.com/office/drawing/2014/main" id="{3C2A68F4-680E-42D7-BB53-0DC26E91F7DB}"/>
              </a:ext>
            </a:extLst>
          </p:cNvPr>
          <p:cNvSpPr>
            <a:spLocks xmlns:a="http://schemas.openxmlformats.org/drawingml/2006/main" noGrp="1"/>
          </p:cNvSpPr>
          <p:nvPr/>
        </p:nvSpPr>
        <p:spPr>
          <a:xfrm xmlns:a="http://schemas.openxmlformats.org/drawingml/2006/main">
            <a:off x="657225" y="4972050"/>
            <a:ext cx="101917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1">
                <a:solidFill>
                  <a:srgbClr val="142238"/>
                </a:solidFill>
                <a:latin typeface="Malgun Gothic"/>
                <a:ea typeface="Malgun Gothic"/>
                <a:cs typeface="Malgun Gothic"/>
              </a:defRPr>
            </a:defPPr>
          </a:lstStyle>
          <a:p xmlns:a="http://schemas.openxmlformats.org/drawingml/2006/main">
            <a:pPr algn="l">
              <a:defRPr sz="2550" b="1">
                <a:solidFill>
                  <a:srgbClr val="142238"/>
                </a:solidFill>
                <a:latin typeface="Malgun Gothic"/>
                <a:ea typeface="Malgun Gothic"/>
                <a:cs typeface="Malgun Gothic"/>
              </a:defRPr>
            </a:pPr>
            <a:r>
              <a:rPr sz="2550" b="1">
                <a:solidFill>
                  <a:srgbClr val="142238"/>
                </a:solidFill>
                <a:latin typeface="Malgun Gothic"/>
                <a:ea typeface="Malgun Gothic"/>
                <a:cs typeface="Malgun Gothic"/>
              </a:rPr>
              <a:t>“씰 교체 예정”은 계획입니다.</a:t>
            </a:r>
          </a:p>
          <a:p xmlns:a="http://schemas.openxmlformats.org/drawingml/2006/main">
            <a:pPr algn="l">
              <a:defRPr sz="2550" b="1">
                <a:solidFill>
                  <a:srgbClr val="142238"/>
                </a:solidFill>
                <a:latin typeface="Malgun Gothic"/>
                <a:ea typeface="Malgun Gothic"/>
                <a:cs typeface="Malgun Gothic"/>
              </a:defRPr>
            </a:pPr>
            <a:r>
              <a:rPr sz="2550" b="1">
                <a:solidFill>
                  <a:srgbClr val="142238"/>
                </a:solidFill>
                <a:latin typeface="Malgun Gothic"/>
                <a:ea typeface="Malgun Gothic"/>
                <a:cs typeface="Malgun Gothic"/>
              </a:rPr>
              <a:t>교체 완료나 해결로 단정하지 않습니다.</a:t>
            </a:r>
          </a:p>
        </p:txBody>
      </p:sp>
    </p:spTree>
    <p:extLst>
      <p:ext uri="{BB962C8B-B14F-4D97-AF65-F5344CB8AC3E}">
        <p14:creationId xmlns:p14="http://schemas.microsoft.com/office/powerpoint/2010/main" val="2097331267"/>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B2409A85-C459-4C30-A2F9-F1E5D7ECD65F}"/>
              </a:ext>
            </a:extLst>
          </p:cNvPr>
          <p:cNvSpPr>
            <a:spLocks xmlns:a="http://schemas.openxmlformats.org/drawingml/2006/main" noGrp="1"/>
          </p:cNvSpPr>
          <p:nvPr/>
        </p:nvSpPr>
        <p:spPr>
          <a:xfrm xmlns:a="http://schemas.openxmlformats.org/drawingml/2006/main">
            <a:off x="609600" y="428625"/>
            <a:ext cx="1095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142238"/>
                </a:solidFill>
                <a:latin typeface="Malgun Gothic"/>
                <a:ea typeface="Malgun Gothic"/>
                <a:cs typeface="Malgun Gothic"/>
              </a:defRPr>
            </a:defPPr>
          </a:lstStyle>
          <a:p xmlns:a="http://schemas.openxmlformats.org/drawingml/2006/main">
            <a:pPr algn="l">
              <a:defRPr sz="3225" b="1">
                <a:solidFill>
                  <a:srgbClr val="142238"/>
                </a:solidFill>
                <a:latin typeface="Malgun Gothic"/>
                <a:ea typeface="Malgun Gothic"/>
                <a:cs typeface="Malgun Gothic"/>
              </a:defRPr>
            </a:pPr>
            <a:r>
              <a:rPr sz="3225" b="1">
                <a:solidFill>
                  <a:srgbClr val="142238"/>
                </a:solidFill>
                <a:latin typeface="Malgun Gothic"/>
                <a:ea typeface="Malgun Gothic"/>
                <a:cs typeface="Malgun Gothic"/>
              </a:rPr>
              <a:t>답변과 근거를 분리한 사용자 화면</a:t>
            </a:r>
          </a:p>
        </p:txBody>
      </p:sp>
      <p:sp>
        <p:nvSpPr>
          <p:cNvPr id="2" name="">
            <a:extLst xmlns:a="http://schemas.openxmlformats.org/drawingml/2006/main">
              <a:ext uri="{FF2B5EF4-FFF2-40B4-BE49-F238E27FC236}">
                <a16:creationId xmlns:a16="http://schemas.microsoft.com/office/drawing/2014/main" id="{8FAB8311-CE88-40EF-AEC3-54E2AFFCCA66}"/>
              </a:ext>
            </a:extLst>
          </p:cNvPr>
          <p:cNvSpPr>
            <a:spLocks xmlns:a="http://schemas.openxmlformats.org/drawingml/2006/main" noGrp="1"/>
          </p:cNvSpPr>
          <p:nvPr/>
        </p:nvSpPr>
        <p:spPr>
          <a:xfrm xmlns:a="http://schemas.openxmlformats.org/drawingml/2006/main">
            <a:off x="628650" y="1066800"/>
            <a:ext cx="10896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B6676"/>
                </a:solidFill>
                <a:latin typeface="Malgun Gothic"/>
                <a:ea typeface="Malgun Gothic"/>
                <a:cs typeface="Malgun Gothic"/>
              </a:defRPr>
            </a:defPPr>
          </a:lstStyle>
          <a:p xmlns:a="http://schemas.openxmlformats.org/drawingml/2006/main">
            <a:pPr algn="l">
              <a:defRPr sz="1725" b="0">
                <a:solidFill>
                  <a:srgbClr val="5B6676"/>
                </a:solidFill>
                <a:latin typeface="Malgun Gothic"/>
                <a:ea typeface="Malgun Gothic"/>
                <a:cs typeface="Malgun Gothic"/>
              </a:defRPr>
            </a:pPr>
            <a:r>
              <a:rPr sz="1725" b="0">
                <a:solidFill>
                  <a:srgbClr val="5B6676"/>
                </a:solidFill>
                <a:latin typeface="Malgun Gothic"/>
                <a:ea typeface="Malgun Gothic"/>
                <a:cs typeface="Malgun Gothic"/>
              </a:rPr>
              <a:t>한국어 질문을 입력하고, 필요한 시점에 원문과 관련 사례를 펼쳐 확인합니다.</a:t>
            </a:r>
          </a:p>
        </p:txBody>
      </p:sp>
      <p:sp>
        <p:nvSpPr>
          <p:cNvPr id="3" name="">
            <a:extLst xmlns:a="http://schemas.openxmlformats.org/drawingml/2006/main">
              <a:ext uri="{FF2B5EF4-FFF2-40B4-BE49-F238E27FC236}">
                <a16:creationId xmlns:a16="http://schemas.microsoft.com/office/drawing/2014/main" id="{A9A7DB63-8FB8-45AC-8E6A-9CB32AE2FE70}"/>
              </a:ext>
            </a:extLst>
          </p:cNvPr>
          <p:cNvSpPr>
            <a:spLocks xmlns:a="http://schemas.openxmlformats.org/drawingml/2006/main" noGrp="1"/>
          </p:cNvSpPr>
          <p:nvPr/>
        </p:nvSpPr>
        <p:spPr>
          <a:xfrm xmlns:a="http://schemas.openxmlformats.org/drawingml/2006/main">
            <a:off x="628650" y="6429375"/>
            <a:ext cx="10382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5B6676"/>
                </a:solidFill>
                <a:latin typeface="Malgun Gothic"/>
                <a:ea typeface="Malgun Gothic"/>
                <a:cs typeface="Malgun Gothic"/>
              </a:defRPr>
            </a:defPPr>
          </a:lstStyle>
          <a:p xmlns:a="http://schemas.openxmlformats.org/drawingml/2006/main">
            <a:pPr algn="l">
              <a:defRPr sz="1200" b="0">
                <a:solidFill>
                  <a:srgbClr val="5B6676"/>
                </a:solidFill>
                <a:latin typeface="Malgun Gothic"/>
                <a:ea typeface="Malgun Gothic"/>
                <a:cs typeface="Malgun Gothic"/>
              </a:defRPr>
            </a:pPr>
            <a:r>
              <a:rPr sz="1200" b="0">
                <a:solidFill>
                  <a:srgbClr val="5B6676"/>
                </a:solidFill>
                <a:latin typeface="Malgun Gothic"/>
                <a:ea typeface="Malgun Gothic"/>
                <a:cs typeface="Malgun Gothic"/>
              </a:rPr>
              <a:t>근거 </a:t>
            </a:r>
            <a:r>
              <a:rPr sz="1200" b="0">
                <a:solidFill>
                  <a:srgbClr val="5B6676"/>
                </a:solidFill>
                <a:latin typeface="Times New Roman"/>
                <a:ea typeface="Times New Roman"/>
                <a:cs typeface="Times New Roman"/>
              </a:rPr>
              <a:t>E4 </a:t>
            </a:r>
            <a:r>
              <a:rPr sz="1200" b="0">
                <a:solidFill>
                  <a:srgbClr val="5B6676"/>
                </a:solidFill>
                <a:latin typeface="Malgun Gothic"/>
                <a:ea typeface="Malgun Gothic"/>
                <a:cs typeface="Malgun Gothic"/>
              </a:rPr>
              <a:t>· </a:t>
            </a:r>
            <a:r>
              <a:rPr sz="1200" b="0">
                <a:solidFill>
                  <a:srgbClr val="5B6676"/>
                </a:solidFill>
                <a:latin typeface="Times New Roman"/>
                <a:ea typeface="Times New Roman"/>
                <a:cs typeface="Times New Roman"/>
              </a:rPr>
              <a:t>Mac </a:t>
            </a:r>
            <a:r>
              <a:rPr sz="1200" b="0">
                <a:solidFill>
                  <a:srgbClr val="5B6676"/>
                </a:solidFill>
                <a:latin typeface="Malgun Gothic"/>
                <a:ea typeface="Malgun Gothic"/>
                <a:cs typeface="Malgun Gothic"/>
              </a:rPr>
              <a:t>브라우저·가상 자료·모의 모델 화면 · 표시 시간은 모델 성능 측정값이 아님</a:t>
            </a:r>
          </a:p>
        </p:txBody>
      </p:sp>
      <p:sp>
        <p:nvSpPr>
          <p:cNvPr id="4" name="">
            <a:extLst xmlns:a="http://schemas.openxmlformats.org/drawingml/2006/main">
              <a:ext uri="{FF2B5EF4-FFF2-40B4-BE49-F238E27FC236}">
                <a16:creationId xmlns:a16="http://schemas.microsoft.com/office/drawing/2014/main" id="{73844630-5F36-4D9B-BF99-FF8814FEABF7}"/>
              </a:ext>
            </a:extLst>
          </p:cNvPr>
          <p:cNvSpPr>
            <a:spLocks xmlns:a="http://schemas.openxmlformats.org/drawingml/2006/main" noGrp="1"/>
          </p:cNvSpPr>
          <p:nvPr/>
        </p:nvSpPr>
        <p:spPr>
          <a:xfrm xmlns:a="http://schemas.openxmlformats.org/drawingml/2006/main">
            <a:off x="11096625" y="6391275"/>
            <a:ext cx="4572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650" b="0">
                <a:solidFill>
                  <a:srgbClr val="5B6676"/>
                </a:solidFill>
                <a:latin typeface="Malgun Gothic"/>
                <a:ea typeface="Malgun Gothic"/>
                <a:cs typeface="Malgun Gothic"/>
              </a:defRPr>
            </a:defPPr>
          </a:lstStyle>
          <a:p xmlns:a="http://schemas.openxmlformats.org/drawingml/2006/main">
            <a:pPr algn="r">
              <a:defRPr sz="1650" b="0">
                <a:solidFill>
                  <a:srgbClr val="5B6676"/>
                </a:solidFill>
                <a:latin typeface="Malgun Gothic"/>
                <a:ea typeface="Malgun Gothic"/>
                <a:cs typeface="Malgun Gothic"/>
              </a:defRPr>
            </a:pPr>
            <a:r>
              <a:rPr sz="1650" b="0">
                <a:solidFill>
                  <a:srgbClr val="5B6676"/>
                </a:solidFill>
                <a:latin typeface="Times New Roman"/>
                <a:ea typeface="Times New Roman"/>
                <a:cs typeface="Times New Roman"/>
              </a:rPr>
              <a:t>06</a:t>
            </a:r>
          </a:p>
        </p:txBody>
      </p:sp>
      <p:pic>
        <p:nvPicPr>
          <p:cNvPr id="5" name="">
            <a:extLst xmlns:a="http://schemas.openxmlformats.org/drawingml/2006/main">
              <a:ext uri="{FF2B5EF4-FFF2-40B4-BE49-F238E27FC236}">
                <a16:creationId xmlns:a16="http://schemas.microsoft.com/office/drawing/2014/main" id="{68D79634-AAF7-45A9-B14A-D449C7E2F855}"/>
              </a:ext>
            </a:extLst>
          </p:cNvPr>
          <p:cNvPicPr>
            <a:picLocks xmlns:a="http://schemas.openxmlformats.org/drawingml/2006/main" noChangeAspect="1"/>
          </p:cNvPicPr>
          <p:nvPr/>
        </p:nvPicPr>
        <p:blipFill>
          <a:blip xmlns:r="http://schemas.openxmlformats.org/officeDocument/2006/relationships" xmlns:a="http://schemas.openxmlformats.org/drawingml/2006/main" r:embed="R5092c9e2385d46e4"/>
          <a:srcRect xmlns:a="http://schemas.openxmlformats.org/drawingml/2006/main" l="0" t="41800" r="0" b="3000"/>
          <a:stretch xmlns:a="http://schemas.openxmlformats.org/drawingml/2006/main"/>
        </p:blipFill>
        <p:spPr>
          <a:xfrm xmlns:a="http://schemas.openxmlformats.org/drawingml/2006/main">
            <a:off x="895350" y="1809750"/>
            <a:ext cx="3619500" cy="43243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51A60915-4DC3-4ECC-A5EF-F38788F11672}"/>
              </a:ext>
            </a:extLst>
          </p:cNvPr>
          <p:cNvSpPr>
            <a:spLocks xmlns:a="http://schemas.openxmlformats.org/drawingml/2006/main" noGrp="1"/>
          </p:cNvSpPr>
          <p:nvPr/>
        </p:nvSpPr>
        <p:spPr>
          <a:xfrm xmlns:a="http://schemas.openxmlformats.org/drawingml/2006/main">
            <a:off x="5562600" y="1866900"/>
            <a:ext cx="57054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1459C7"/>
                </a:solidFill>
                <a:latin typeface="Malgun Gothic"/>
                <a:ea typeface="Malgun Gothic"/>
                <a:cs typeface="Malgun Gothic"/>
              </a:defRPr>
            </a:defPPr>
          </a:lstStyle>
          <a:p xmlns:a="http://schemas.openxmlformats.org/drawingml/2006/main">
            <a:pPr algn="l">
              <a:defRPr sz="2400" b="1">
                <a:solidFill>
                  <a:srgbClr val="1459C7"/>
                </a:solidFill>
                <a:latin typeface="Malgun Gothic"/>
                <a:ea typeface="Malgun Gothic"/>
                <a:cs typeface="Malgun Gothic"/>
              </a:defRPr>
            </a:pPr>
            <a:r>
              <a:rPr sz="2400" b="1">
                <a:solidFill>
                  <a:srgbClr val="1459C7"/>
                </a:solidFill>
                <a:latin typeface="Times New Roman"/>
                <a:ea typeface="Times New Roman"/>
                <a:cs typeface="Times New Roman"/>
              </a:rPr>
              <a:t>01  </a:t>
            </a:r>
            <a:r>
              <a:rPr sz="2400" b="1">
                <a:solidFill>
                  <a:srgbClr val="1459C7"/>
                </a:solidFill>
                <a:latin typeface="Malgun Gothic"/>
                <a:ea typeface="Malgun Gothic"/>
                <a:cs typeface="Malgun Gothic"/>
              </a:rPr>
              <a:t>핵심 답변 확인</a:t>
            </a:r>
          </a:p>
        </p:txBody>
      </p:sp>
      <p:sp>
        <p:nvSpPr>
          <p:cNvPr id="7" name="">
            <a:extLst xmlns:a="http://schemas.openxmlformats.org/drawingml/2006/main">
              <a:ext uri="{FF2B5EF4-FFF2-40B4-BE49-F238E27FC236}">
                <a16:creationId xmlns:a16="http://schemas.microsoft.com/office/drawing/2014/main" id="{ACC2EF11-20EC-4798-842D-794ED5B9D597}"/>
              </a:ext>
            </a:extLst>
          </p:cNvPr>
          <p:cNvSpPr>
            <a:spLocks xmlns:a="http://schemas.openxmlformats.org/drawingml/2006/main" noGrp="1"/>
          </p:cNvSpPr>
          <p:nvPr/>
        </p:nvSpPr>
        <p:spPr>
          <a:xfrm xmlns:a="http://schemas.openxmlformats.org/drawingml/2006/main">
            <a:off x="5562600" y="2419350"/>
            <a:ext cx="58293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42238"/>
                </a:solidFill>
                <a:latin typeface="Malgun Gothic"/>
                <a:ea typeface="Malgun Gothic"/>
                <a:cs typeface="Malgun Gothic"/>
              </a:defRPr>
            </a:defPPr>
          </a:lstStyle>
          <a:p xmlns:a="http://schemas.openxmlformats.org/drawingml/2006/main">
            <a:pPr algn="l">
              <a:defRPr sz="2025" b="0">
                <a:solidFill>
                  <a:srgbClr val="142238"/>
                </a:solidFill>
                <a:latin typeface="Malgun Gothic"/>
                <a:ea typeface="Malgun Gothic"/>
                <a:cs typeface="Malgun Gothic"/>
              </a:defRPr>
            </a:pPr>
            <a:r>
              <a:rPr sz="2025" b="0">
                <a:solidFill>
                  <a:srgbClr val="142238"/>
                </a:solidFill>
                <a:latin typeface="Malgun Gothic"/>
                <a:ea typeface="Malgun Gothic"/>
                <a:cs typeface="Malgun Gothic"/>
              </a:rPr>
              <a:t>실시한 조치와 미확인 사항을 구분해 읽음</a:t>
            </a:r>
          </a:p>
        </p:txBody>
      </p:sp>
      <p:sp>
        <p:nvSpPr>
          <p:cNvPr id="8" name="">
            <a:extLst xmlns:a="http://schemas.openxmlformats.org/drawingml/2006/main">
              <a:ext uri="{FF2B5EF4-FFF2-40B4-BE49-F238E27FC236}">
                <a16:creationId xmlns:a16="http://schemas.microsoft.com/office/drawing/2014/main" id="{5D148ACB-1918-411F-B216-5DA0320A7CB0}"/>
              </a:ext>
            </a:extLst>
          </p:cNvPr>
          <p:cNvSpPr>
            <a:spLocks xmlns:a="http://schemas.openxmlformats.org/drawingml/2006/main" noGrp="1"/>
          </p:cNvSpPr>
          <p:nvPr/>
        </p:nvSpPr>
        <p:spPr>
          <a:xfrm xmlns:a="http://schemas.openxmlformats.org/drawingml/2006/main">
            <a:off x="5562600" y="3419475"/>
            <a:ext cx="57054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1459C7"/>
                </a:solidFill>
                <a:latin typeface="Malgun Gothic"/>
                <a:ea typeface="Malgun Gothic"/>
                <a:cs typeface="Malgun Gothic"/>
              </a:defRPr>
            </a:defPPr>
          </a:lstStyle>
          <a:p xmlns:a="http://schemas.openxmlformats.org/drawingml/2006/main">
            <a:pPr algn="l">
              <a:defRPr sz="2400" b="1">
                <a:solidFill>
                  <a:srgbClr val="1459C7"/>
                </a:solidFill>
                <a:latin typeface="Malgun Gothic"/>
                <a:ea typeface="Malgun Gothic"/>
                <a:cs typeface="Malgun Gothic"/>
              </a:defRPr>
            </a:pPr>
            <a:r>
              <a:rPr sz="2400" b="1">
                <a:solidFill>
                  <a:srgbClr val="1459C7"/>
                </a:solidFill>
                <a:latin typeface="Times New Roman"/>
                <a:ea typeface="Times New Roman"/>
                <a:cs typeface="Times New Roman"/>
              </a:rPr>
              <a:t>02  </a:t>
            </a:r>
            <a:r>
              <a:rPr sz="2400" b="1">
                <a:solidFill>
                  <a:srgbClr val="1459C7"/>
                </a:solidFill>
                <a:latin typeface="Malgun Gothic"/>
                <a:ea typeface="Malgun Gothic"/>
                <a:cs typeface="Malgun Gothic"/>
              </a:rPr>
              <a:t>인용한 원문 열기</a:t>
            </a:r>
          </a:p>
        </p:txBody>
      </p:sp>
      <p:sp>
        <p:nvSpPr>
          <p:cNvPr id="9" name="">
            <a:extLst xmlns:a="http://schemas.openxmlformats.org/drawingml/2006/main">
              <a:ext uri="{FF2B5EF4-FFF2-40B4-BE49-F238E27FC236}">
                <a16:creationId xmlns:a16="http://schemas.microsoft.com/office/drawing/2014/main" id="{8FD8F48F-2E7D-40AD-815E-0289D98FBDFB}"/>
              </a:ext>
            </a:extLst>
          </p:cNvPr>
          <p:cNvSpPr>
            <a:spLocks xmlns:a="http://schemas.openxmlformats.org/drawingml/2006/main" noGrp="1"/>
          </p:cNvSpPr>
          <p:nvPr/>
        </p:nvSpPr>
        <p:spPr>
          <a:xfrm xmlns:a="http://schemas.openxmlformats.org/drawingml/2006/main">
            <a:off x="5562600" y="3962400"/>
            <a:ext cx="58197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42238"/>
                </a:solidFill>
                <a:latin typeface="Malgun Gothic"/>
                <a:ea typeface="Malgun Gothic"/>
                <a:cs typeface="Malgun Gothic"/>
              </a:defRPr>
            </a:defPPr>
          </a:lstStyle>
          <a:p xmlns:a="http://schemas.openxmlformats.org/drawingml/2006/main">
            <a:pPr algn="l">
              <a:defRPr sz="2025" b="0">
                <a:solidFill>
                  <a:srgbClr val="142238"/>
                </a:solidFill>
                <a:latin typeface="Malgun Gothic"/>
                <a:ea typeface="Malgun Gothic"/>
                <a:cs typeface="Malgun Gothic"/>
              </a:defRPr>
            </a:pPr>
            <a:r>
              <a:rPr sz="2025" b="0">
                <a:solidFill>
                  <a:srgbClr val="142238"/>
                </a:solidFill>
                <a:latin typeface="Malgun Gothic"/>
                <a:ea typeface="Malgun Gothic"/>
                <a:cs typeface="Malgun Gothic"/>
              </a:rPr>
              <a:t>접수번호와 상세의 실제 셀 내용을 대조</a:t>
            </a:r>
          </a:p>
        </p:txBody>
      </p:sp>
      <p:sp>
        <p:nvSpPr>
          <p:cNvPr id="10" name="">
            <a:extLst xmlns:a="http://schemas.openxmlformats.org/drawingml/2006/main">
              <a:ext uri="{FF2B5EF4-FFF2-40B4-BE49-F238E27FC236}">
                <a16:creationId xmlns:a16="http://schemas.microsoft.com/office/drawing/2014/main" id="{067D1FA7-6189-44FE-A2E8-9C87A18EE123}"/>
              </a:ext>
            </a:extLst>
          </p:cNvPr>
          <p:cNvSpPr>
            <a:spLocks xmlns:a="http://schemas.openxmlformats.org/drawingml/2006/main" noGrp="1"/>
          </p:cNvSpPr>
          <p:nvPr/>
        </p:nvSpPr>
        <p:spPr>
          <a:xfrm xmlns:a="http://schemas.openxmlformats.org/drawingml/2006/main">
            <a:off x="5562600" y="4991100"/>
            <a:ext cx="57054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1459C7"/>
                </a:solidFill>
                <a:latin typeface="Malgun Gothic"/>
                <a:ea typeface="Malgun Gothic"/>
                <a:cs typeface="Malgun Gothic"/>
              </a:defRPr>
            </a:defPPr>
          </a:lstStyle>
          <a:p xmlns:a="http://schemas.openxmlformats.org/drawingml/2006/main">
            <a:pPr algn="l">
              <a:defRPr sz="2400" b="1">
                <a:solidFill>
                  <a:srgbClr val="1459C7"/>
                </a:solidFill>
                <a:latin typeface="Malgun Gothic"/>
                <a:ea typeface="Malgun Gothic"/>
                <a:cs typeface="Malgun Gothic"/>
              </a:defRPr>
            </a:pPr>
            <a:r>
              <a:rPr sz="2400" b="1">
                <a:solidFill>
                  <a:srgbClr val="1459C7"/>
                </a:solidFill>
                <a:latin typeface="Times New Roman"/>
                <a:ea typeface="Times New Roman"/>
                <a:cs typeface="Times New Roman"/>
              </a:rPr>
              <a:t>03  </a:t>
            </a:r>
            <a:r>
              <a:rPr sz="2400" b="1">
                <a:solidFill>
                  <a:srgbClr val="1459C7"/>
                </a:solidFill>
                <a:latin typeface="Malgun Gothic"/>
                <a:ea typeface="Malgun Gothic"/>
                <a:cs typeface="Malgun Gothic"/>
              </a:rPr>
              <a:t>이어서 질문하기</a:t>
            </a:r>
          </a:p>
        </p:txBody>
      </p:sp>
      <p:sp>
        <p:nvSpPr>
          <p:cNvPr id="11" name="">
            <a:extLst xmlns:a="http://schemas.openxmlformats.org/drawingml/2006/main">
              <a:ext uri="{FF2B5EF4-FFF2-40B4-BE49-F238E27FC236}">
                <a16:creationId xmlns:a16="http://schemas.microsoft.com/office/drawing/2014/main" id="{36DCB6DA-0AF4-4BE8-876E-8753F6401D52}"/>
              </a:ext>
            </a:extLst>
          </p:cNvPr>
          <p:cNvSpPr>
            <a:spLocks xmlns:a="http://schemas.openxmlformats.org/drawingml/2006/main" noGrp="1"/>
          </p:cNvSpPr>
          <p:nvPr/>
        </p:nvSpPr>
        <p:spPr>
          <a:xfrm xmlns:a="http://schemas.openxmlformats.org/drawingml/2006/main">
            <a:off x="5562600" y="5534025"/>
            <a:ext cx="58197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42238"/>
                </a:solidFill>
                <a:latin typeface="Malgun Gothic"/>
                <a:ea typeface="Malgun Gothic"/>
                <a:cs typeface="Malgun Gothic"/>
              </a:defRPr>
            </a:defPPr>
          </a:lstStyle>
          <a:p xmlns:a="http://schemas.openxmlformats.org/drawingml/2006/main">
            <a:pPr algn="l">
              <a:defRPr sz="2025" b="0">
                <a:solidFill>
                  <a:srgbClr val="142238"/>
                </a:solidFill>
                <a:latin typeface="Malgun Gothic"/>
                <a:ea typeface="Malgun Gothic"/>
                <a:cs typeface="Malgun Gothic"/>
              </a:defRPr>
            </a:pPr>
            <a:r>
              <a:rPr sz="2025" b="0">
                <a:solidFill>
                  <a:srgbClr val="142238"/>
                </a:solidFill>
                <a:latin typeface="Malgun Gothic"/>
                <a:ea typeface="Malgun Gothic"/>
                <a:cs typeface="Malgun Gothic"/>
              </a:rPr>
              <a:t>같은 사례의 대상과 맥락을 이어 확인</a:t>
            </a:r>
          </a:p>
        </p:txBody>
      </p:sp>
    </p:spTree>
    <p:extLst>
      <p:ext uri="{BB962C8B-B14F-4D97-AF65-F5344CB8AC3E}">
        <p14:creationId xmlns:p14="http://schemas.microsoft.com/office/powerpoint/2010/main" val="1219903693"/>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50921243-9ACC-4EBD-A75F-81017A614F4F}"/>
              </a:ext>
            </a:extLst>
          </p:cNvPr>
          <p:cNvSpPr>
            <a:spLocks xmlns:a="http://schemas.openxmlformats.org/drawingml/2006/main" noGrp="1"/>
          </p:cNvSpPr>
          <p:nvPr/>
        </p:nvSpPr>
        <p:spPr>
          <a:xfrm xmlns:a="http://schemas.openxmlformats.org/drawingml/2006/main">
            <a:off x="609600" y="428625"/>
            <a:ext cx="1095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142238"/>
                </a:solidFill>
                <a:latin typeface="Malgun Gothic"/>
                <a:ea typeface="Malgun Gothic"/>
                <a:cs typeface="Malgun Gothic"/>
              </a:defRPr>
            </a:defPPr>
          </a:lstStyle>
          <a:p xmlns:a="http://schemas.openxmlformats.org/drawingml/2006/main">
            <a:pPr algn="l">
              <a:defRPr sz="3225" b="1">
                <a:solidFill>
                  <a:srgbClr val="142238"/>
                </a:solidFill>
                <a:latin typeface="Malgun Gothic"/>
                <a:ea typeface="Malgun Gothic"/>
                <a:cs typeface="Malgun Gothic"/>
              </a:defRPr>
            </a:pPr>
            <a:r>
              <a:rPr sz="3225" b="1">
                <a:solidFill>
                  <a:srgbClr val="142238"/>
                </a:solidFill>
                <a:latin typeface="Malgun Gothic"/>
                <a:ea typeface="Malgun Gothic"/>
                <a:cs typeface="Malgun Gothic"/>
              </a:rPr>
              <a:t>합성 자료에서 확인한 검색 개선</a:t>
            </a:r>
          </a:p>
        </p:txBody>
      </p:sp>
      <p:sp>
        <p:nvSpPr>
          <p:cNvPr id="2" name="">
            <a:extLst xmlns:a="http://schemas.openxmlformats.org/drawingml/2006/main">
              <a:ext uri="{FF2B5EF4-FFF2-40B4-BE49-F238E27FC236}">
                <a16:creationId xmlns:a16="http://schemas.microsoft.com/office/drawing/2014/main" id="{2A136ED4-26FE-47AE-9F2B-D8FADE1F2F57}"/>
              </a:ext>
            </a:extLst>
          </p:cNvPr>
          <p:cNvSpPr>
            <a:spLocks xmlns:a="http://schemas.openxmlformats.org/drawingml/2006/main" noGrp="1"/>
          </p:cNvSpPr>
          <p:nvPr/>
        </p:nvSpPr>
        <p:spPr>
          <a:xfrm xmlns:a="http://schemas.openxmlformats.org/drawingml/2006/main">
            <a:off x="628650" y="1066800"/>
            <a:ext cx="10896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B6676"/>
                </a:solidFill>
                <a:latin typeface="Malgun Gothic"/>
                <a:ea typeface="Malgun Gothic"/>
                <a:cs typeface="Malgun Gothic"/>
              </a:defRPr>
            </a:defPPr>
          </a:lstStyle>
          <a:p xmlns:a="http://schemas.openxmlformats.org/drawingml/2006/main">
            <a:pPr algn="l">
              <a:defRPr sz="1725" b="0">
                <a:solidFill>
                  <a:srgbClr val="5B6676"/>
                </a:solidFill>
                <a:latin typeface="Malgun Gothic"/>
                <a:ea typeface="Malgun Gothic"/>
                <a:cs typeface="Malgun Gothic"/>
              </a:defRPr>
            </a:pPr>
            <a:r>
              <a:rPr sz="1725" b="0">
                <a:solidFill>
                  <a:srgbClr val="5B6676"/>
                </a:solidFill>
                <a:latin typeface="Malgun Gothic"/>
                <a:ea typeface="Malgun Gothic"/>
                <a:cs typeface="Malgun Gothic"/>
              </a:rPr>
              <a:t>같은 </a:t>
            </a:r>
            <a:r>
              <a:rPr sz="1725" b="0">
                <a:solidFill>
                  <a:srgbClr val="5B6676"/>
                </a:solidFill>
                <a:latin typeface="Times New Roman"/>
                <a:ea typeface="Times New Roman"/>
                <a:cs typeface="Times New Roman"/>
              </a:rPr>
              <a:t>10</a:t>
            </a:r>
            <a:r>
              <a:rPr sz="1725" b="0">
                <a:solidFill>
                  <a:srgbClr val="5B6676"/>
                </a:solidFill>
                <a:latin typeface="Malgun Gothic"/>
                <a:ea typeface="Malgun Gothic"/>
                <a:cs typeface="Malgun Gothic"/>
              </a:rPr>
              <a:t>만 건 자료, 고정 질문 </a:t>
            </a:r>
            <a:r>
              <a:rPr sz="1725" b="0">
                <a:solidFill>
                  <a:srgbClr val="5B6676"/>
                </a:solidFill>
                <a:latin typeface="Times New Roman"/>
                <a:ea typeface="Times New Roman"/>
                <a:cs typeface="Times New Roman"/>
              </a:rPr>
              <a:t>50</a:t>
            </a:r>
            <a:r>
              <a:rPr sz="1725" b="0">
                <a:solidFill>
                  <a:srgbClr val="5B6676"/>
                </a:solidFill>
                <a:latin typeface="Malgun Gothic"/>
                <a:ea typeface="Malgun Gothic"/>
                <a:cs typeface="Malgun Gothic"/>
              </a:rPr>
              <a:t>개 중 정답이 있는 </a:t>
            </a:r>
            <a:r>
              <a:rPr sz="1725" b="0">
                <a:solidFill>
                  <a:srgbClr val="5B6676"/>
                </a:solidFill>
                <a:latin typeface="Times New Roman"/>
                <a:ea typeface="Times New Roman"/>
                <a:cs typeface="Times New Roman"/>
              </a:rPr>
              <a:t>44</a:t>
            </a:r>
            <a:r>
              <a:rPr sz="1725" b="0">
                <a:solidFill>
                  <a:srgbClr val="5B6676"/>
                </a:solidFill>
                <a:latin typeface="Malgun Gothic"/>
                <a:ea typeface="Malgun Gothic"/>
                <a:cs typeface="Malgun Gothic"/>
              </a:rPr>
              <a:t>개를 비교했습니다.</a:t>
            </a:r>
          </a:p>
        </p:txBody>
      </p:sp>
      <p:sp>
        <p:nvSpPr>
          <p:cNvPr id="3" name="">
            <a:extLst xmlns:a="http://schemas.openxmlformats.org/drawingml/2006/main">
              <a:ext uri="{FF2B5EF4-FFF2-40B4-BE49-F238E27FC236}">
                <a16:creationId xmlns:a16="http://schemas.microsoft.com/office/drawing/2014/main" id="{FA7105E2-8F31-4E30-AF2B-7A5A5C0B586F}"/>
              </a:ext>
            </a:extLst>
          </p:cNvPr>
          <p:cNvSpPr>
            <a:spLocks xmlns:a="http://schemas.openxmlformats.org/drawingml/2006/main" noGrp="1"/>
          </p:cNvSpPr>
          <p:nvPr/>
        </p:nvSpPr>
        <p:spPr>
          <a:xfrm xmlns:a="http://schemas.openxmlformats.org/drawingml/2006/main">
            <a:off x="628650" y="6429375"/>
            <a:ext cx="10382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5B6676"/>
                </a:solidFill>
                <a:latin typeface="Malgun Gothic"/>
                <a:ea typeface="Malgun Gothic"/>
                <a:cs typeface="Malgun Gothic"/>
              </a:defRPr>
            </a:defPPr>
          </a:lstStyle>
          <a:p xmlns:a="http://schemas.openxmlformats.org/drawingml/2006/main">
            <a:pPr algn="l">
              <a:defRPr sz="1200" b="0">
                <a:solidFill>
                  <a:srgbClr val="5B6676"/>
                </a:solidFill>
                <a:latin typeface="Malgun Gothic"/>
                <a:ea typeface="Malgun Gothic"/>
                <a:cs typeface="Malgun Gothic"/>
              </a:defRPr>
            </a:pPr>
            <a:r>
              <a:rPr sz="1200" b="0">
                <a:solidFill>
                  <a:srgbClr val="5B6676"/>
                </a:solidFill>
                <a:latin typeface="Malgun Gothic"/>
                <a:ea typeface="Malgun Gothic"/>
                <a:cs typeface="Malgun Gothic"/>
              </a:rPr>
              <a:t>근거 </a:t>
            </a:r>
            <a:r>
              <a:rPr sz="1200" b="0">
                <a:solidFill>
                  <a:srgbClr val="5B6676"/>
                </a:solidFill>
                <a:latin typeface="Times New Roman"/>
                <a:ea typeface="Times New Roman"/>
                <a:cs typeface="Times New Roman"/>
              </a:rPr>
              <a:t>E2 </a:t>
            </a:r>
            <a:r>
              <a:rPr sz="1200" b="0">
                <a:solidFill>
                  <a:srgbClr val="5B6676"/>
                </a:solidFill>
                <a:latin typeface="Malgun Gothic"/>
                <a:ea typeface="Malgun Gothic"/>
                <a:cs typeface="Malgun Gothic"/>
              </a:rPr>
              <a:t>· </a:t>
            </a:r>
            <a:r>
              <a:rPr sz="1200" b="0">
                <a:solidFill>
                  <a:srgbClr val="5B6676"/>
                </a:solidFill>
                <a:latin typeface="Times New Roman"/>
                <a:ea typeface="Times New Roman"/>
                <a:cs typeface="Times New Roman"/>
              </a:rPr>
              <a:t>2026.10.07 Mac</a:t>
            </a:r>
            <a:r>
              <a:rPr sz="1200" b="0">
                <a:solidFill>
                  <a:srgbClr val="5B6676"/>
                </a:solidFill>
                <a:latin typeface="Malgun Gothic"/>
                <a:ea typeface="Malgun Gothic"/>
                <a:cs typeface="Malgun Gothic"/>
              </a:rPr>
              <a:t>·실제 임베딩 · 개발 질문 재사용 · 최종 답변·현장 정확도 평가는 아님</a:t>
            </a:r>
          </a:p>
        </p:txBody>
      </p:sp>
      <p:sp>
        <p:nvSpPr>
          <p:cNvPr id="4" name="">
            <a:extLst xmlns:a="http://schemas.openxmlformats.org/drawingml/2006/main">
              <a:ext uri="{FF2B5EF4-FFF2-40B4-BE49-F238E27FC236}">
                <a16:creationId xmlns:a16="http://schemas.microsoft.com/office/drawing/2014/main" id="{EC7A394F-E986-4EC2-B804-8FFAD4978E5A}"/>
              </a:ext>
            </a:extLst>
          </p:cNvPr>
          <p:cNvSpPr>
            <a:spLocks xmlns:a="http://schemas.openxmlformats.org/drawingml/2006/main" noGrp="1"/>
          </p:cNvSpPr>
          <p:nvPr/>
        </p:nvSpPr>
        <p:spPr>
          <a:xfrm xmlns:a="http://schemas.openxmlformats.org/drawingml/2006/main">
            <a:off x="11096625" y="6391275"/>
            <a:ext cx="4572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650" b="0">
                <a:solidFill>
                  <a:srgbClr val="5B6676"/>
                </a:solidFill>
                <a:latin typeface="Malgun Gothic"/>
                <a:ea typeface="Malgun Gothic"/>
                <a:cs typeface="Malgun Gothic"/>
              </a:defRPr>
            </a:defPPr>
          </a:lstStyle>
          <a:p xmlns:a="http://schemas.openxmlformats.org/drawingml/2006/main">
            <a:pPr algn="r">
              <a:defRPr sz="1650" b="0">
                <a:solidFill>
                  <a:srgbClr val="5B6676"/>
                </a:solidFill>
                <a:latin typeface="Malgun Gothic"/>
                <a:ea typeface="Malgun Gothic"/>
                <a:cs typeface="Malgun Gothic"/>
              </a:defRPr>
            </a:pPr>
            <a:r>
              <a:rPr sz="1650" b="0">
                <a:solidFill>
                  <a:srgbClr val="5B6676"/>
                </a:solidFill>
                <a:latin typeface="Times New Roman"/>
                <a:ea typeface="Times New Roman"/>
                <a:cs typeface="Times New Roman"/>
              </a:rPr>
              <a:t>07</a:t>
            </a:r>
          </a:p>
        </p:txBody>
      </p:sp>
      <p:sp>
        <p:nvSpPr>
          <p:cNvPr id="5" name="">
            <a:extLst xmlns:a="http://schemas.openxmlformats.org/drawingml/2006/main">
              <a:ext uri="{FF2B5EF4-FFF2-40B4-BE49-F238E27FC236}">
                <a16:creationId xmlns:a16="http://schemas.microsoft.com/office/drawing/2014/main" id="{D818579F-807D-4066-BDFE-40D84E93937B}"/>
              </a:ext>
            </a:extLst>
          </p:cNvPr>
          <p:cNvSpPr>
            <a:spLocks xmlns:a="http://schemas.openxmlformats.org/drawingml/2006/main" noGrp="1"/>
          </p:cNvSpPr>
          <p:nvPr/>
        </p:nvSpPr>
        <p:spPr>
          <a:xfrm xmlns:a="http://schemas.openxmlformats.org/drawingml/2006/main">
            <a:off x="647700" y="1809750"/>
            <a:ext cx="64293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142238"/>
                </a:solidFill>
                <a:latin typeface="Malgun Gothic"/>
                <a:ea typeface="Malgun Gothic"/>
                <a:cs typeface="Malgun Gothic"/>
              </a:defRPr>
            </a:defPPr>
          </a:lstStyle>
          <a:p xmlns:a="http://schemas.openxmlformats.org/drawingml/2006/main">
            <a:pPr algn="l">
              <a:defRPr sz="1950" b="1">
                <a:solidFill>
                  <a:srgbClr val="142238"/>
                </a:solidFill>
                <a:latin typeface="Malgun Gothic"/>
                <a:ea typeface="Malgun Gothic"/>
                <a:cs typeface="Malgun Gothic"/>
              </a:defRPr>
            </a:pPr>
            <a:r>
              <a:rPr sz="1950" b="1">
                <a:solidFill>
                  <a:srgbClr val="142238"/>
                </a:solidFill>
                <a:latin typeface="Malgun Gothic"/>
                <a:ea typeface="Malgun Gothic"/>
                <a:cs typeface="Malgun Gothic"/>
              </a:rPr>
              <a:t>첫 결과가 정답인 질문 수</a:t>
            </a:r>
          </a:p>
        </p:txBody>
      </p:sp>
      <p:graphicFrame>
        <p:nvGraphicFramePr>
          <p:cNvPr id="6" name="Chart">
            <a:extLst xmlns:a="http://schemas.openxmlformats.org/drawingml/2006/main">
              <a:ext uri="{FF2B5EF4-FFF2-40B4-BE49-F238E27FC236}">
                <a16:creationId xmlns:a16="http://schemas.microsoft.com/office/drawing/2014/main" id="{08945AF1-9D30-4AB6-BA33-52A1FAFE94E7}"/>
              </a:ext>
            </a:extLst>
          </p:cNvPr>
          <p:cNvGraphicFramePr/>
          <p:nvPr/>
        </p:nvGraphicFramePr>
        <p:xfrm>
          <a:off xmlns:a="http://schemas.openxmlformats.org/drawingml/2006/main" x="666750" y="2295525"/>
          <a:ext xmlns:a="http://schemas.openxmlformats.org/drawingml/2006/main" cx="6724650" cy="3143250"/>
        </p:xfrm>
        <a:graphic xmlns:a="http://schemas.openxmlformats.org/drawingml/2006/main">
          <a:graphicData uri="http://schemas.openxmlformats.org/drawingml/2006/chart">
            <c:chart xmlns:r="http://schemas.openxmlformats.org/officeDocument/2006/relationships" xmlns:c="http://schemas.openxmlformats.org/drawingml/2006/chart" r:id="R08c26882f3f44c22"/>
          </a:graphicData>
        </a:graphic>
      </p:graphicFrame>
      <p:sp>
        <p:nvSpPr>
          <p:cNvPr id="7" name="">
            <a:extLst xmlns:a="http://schemas.openxmlformats.org/drawingml/2006/main">
              <a:ext uri="{FF2B5EF4-FFF2-40B4-BE49-F238E27FC236}">
                <a16:creationId xmlns:a16="http://schemas.microsoft.com/office/drawing/2014/main" id="{E1A5ADCD-0C15-4694-A5D1-0A9C09A45F69}"/>
              </a:ext>
            </a:extLst>
          </p:cNvPr>
          <p:cNvSpPr>
            <a:spLocks xmlns:a="http://schemas.openxmlformats.org/drawingml/2006/main" noGrp="1"/>
          </p:cNvSpPr>
          <p:nvPr/>
        </p:nvSpPr>
        <p:spPr>
          <a:xfrm xmlns:a="http://schemas.openxmlformats.org/drawingml/2006/main">
            <a:off x="7943850" y="2057400"/>
            <a:ext cx="34099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1459C7"/>
                </a:solidFill>
                <a:latin typeface="Malgun Gothic"/>
                <a:ea typeface="Malgun Gothic"/>
                <a:cs typeface="Malgun Gothic"/>
              </a:defRPr>
            </a:defPPr>
          </a:lstStyle>
          <a:p xmlns:a="http://schemas.openxmlformats.org/drawingml/2006/main">
            <a:pPr algn="l">
              <a:defRPr sz="2025" b="1">
                <a:solidFill>
                  <a:srgbClr val="1459C7"/>
                </a:solidFill>
                <a:latin typeface="Malgun Gothic"/>
                <a:ea typeface="Malgun Gothic"/>
                <a:cs typeface="Malgun Gothic"/>
              </a:defRPr>
            </a:pPr>
            <a:r>
              <a:rPr sz="2025" b="1">
                <a:solidFill>
                  <a:srgbClr val="1459C7"/>
                </a:solidFill>
                <a:latin typeface="Malgun Gothic"/>
                <a:ea typeface="Malgun Gothic"/>
                <a:cs typeface="Malgun Gothic"/>
              </a:rPr>
              <a:t>현재 결합 검색</a:t>
            </a:r>
          </a:p>
        </p:txBody>
      </p:sp>
      <p:sp>
        <p:nvSpPr>
          <p:cNvPr id="8" name="">
            <a:extLst xmlns:a="http://schemas.openxmlformats.org/drawingml/2006/main">
              <a:ext uri="{FF2B5EF4-FFF2-40B4-BE49-F238E27FC236}">
                <a16:creationId xmlns:a16="http://schemas.microsoft.com/office/drawing/2014/main" id="{89CBD3F6-1C93-4C95-96BD-238B43A4DC5C}"/>
              </a:ext>
            </a:extLst>
          </p:cNvPr>
          <p:cNvSpPr>
            <a:spLocks xmlns:a="http://schemas.openxmlformats.org/drawingml/2006/main" noGrp="1"/>
          </p:cNvSpPr>
          <p:nvPr/>
        </p:nvSpPr>
        <p:spPr>
          <a:xfrm xmlns:a="http://schemas.openxmlformats.org/drawingml/2006/main">
            <a:off x="7943850" y="2571750"/>
            <a:ext cx="3429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75" b="1">
                <a:solidFill>
                  <a:srgbClr val="142238"/>
                </a:solidFill>
                <a:latin typeface="Malgun Gothic"/>
                <a:ea typeface="Malgun Gothic"/>
                <a:cs typeface="Malgun Gothic"/>
              </a:defRPr>
            </a:defPPr>
          </a:lstStyle>
          <a:p xmlns:a="http://schemas.openxmlformats.org/drawingml/2006/main">
            <a:pPr algn="l">
              <a:defRPr sz="2775" b="1">
                <a:solidFill>
                  <a:srgbClr val="142238"/>
                </a:solidFill>
                <a:latin typeface="Malgun Gothic"/>
                <a:ea typeface="Malgun Gothic"/>
                <a:cs typeface="Malgun Gothic"/>
              </a:defRPr>
            </a:pPr>
            <a:r>
              <a:rPr sz="2775" b="1">
                <a:solidFill>
                  <a:srgbClr val="142238"/>
                </a:solidFill>
                <a:latin typeface="Malgun Gothic"/>
                <a:ea typeface="Malgun Gothic"/>
                <a:cs typeface="Malgun Gothic"/>
              </a:rPr>
              <a:t>첫 정답 </a:t>
            </a:r>
            <a:r>
              <a:rPr sz="2775" b="1">
                <a:solidFill>
                  <a:srgbClr val="142238"/>
                </a:solidFill>
                <a:latin typeface="Times New Roman"/>
                <a:ea typeface="Times New Roman"/>
                <a:cs typeface="Times New Roman"/>
              </a:rPr>
              <a:t>7</a:t>
            </a:r>
            <a:r>
              <a:rPr sz="2775" b="1">
                <a:solidFill>
                  <a:srgbClr val="142238"/>
                </a:solidFill>
                <a:latin typeface="Malgun Gothic"/>
                <a:ea typeface="Malgun Gothic"/>
                <a:cs typeface="Malgun Gothic"/>
              </a:rPr>
              <a:t>건 증가</a:t>
            </a:r>
          </a:p>
        </p:txBody>
      </p:sp>
      <p:sp>
        <p:nvSpPr>
          <p:cNvPr id="9" name="">
            <a:extLst xmlns:a="http://schemas.openxmlformats.org/drawingml/2006/main">
              <a:ext uri="{FF2B5EF4-FFF2-40B4-BE49-F238E27FC236}">
                <a16:creationId xmlns:a16="http://schemas.microsoft.com/office/drawing/2014/main" id="{5263A11F-9C91-4F05-A636-12019767D827}"/>
              </a:ext>
            </a:extLst>
          </p:cNvPr>
          <p:cNvSpPr>
            <a:spLocks xmlns:a="http://schemas.openxmlformats.org/drawingml/2006/main" noGrp="1"/>
          </p:cNvSpPr>
          <p:nvPr/>
        </p:nvSpPr>
        <p:spPr>
          <a:xfrm xmlns:a="http://schemas.openxmlformats.org/drawingml/2006/main">
            <a:off x="7943850" y="3162300"/>
            <a:ext cx="33718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B6676"/>
                </a:solidFill>
                <a:latin typeface="Malgun Gothic"/>
                <a:ea typeface="Malgun Gothic"/>
                <a:cs typeface="Malgun Gothic"/>
              </a:defRPr>
            </a:defPPr>
          </a:lstStyle>
          <a:p xmlns:a="http://schemas.openxmlformats.org/drawingml/2006/main">
            <a:pPr algn="l">
              <a:defRPr sz="1800" b="0">
                <a:solidFill>
                  <a:srgbClr val="5B6676"/>
                </a:solidFill>
                <a:latin typeface="Malgun Gothic"/>
                <a:ea typeface="Malgun Gothic"/>
                <a:cs typeface="Malgun Gothic"/>
              </a:defRPr>
            </a:pPr>
            <a:r>
              <a:rPr sz="1800" b="0">
                <a:solidFill>
                  <a:srgbClr val="5B6676"/>
                </a:solidFill>
                <a:latin typeface="Malgun Gothic"/>
                <a:ea typeface="Malgun Gothic"/>
                <a:cs typeface="Malgun Gothic"/>
              </a:rPr>
              <a:t>키워드 단독과 비교한 결과</a:t>
            </a:r>
          </a:p>
        </p:txBody>
      </p:sp>
      <p:sp>
        <p:nvSpPr>
          <p:cNvPr id="10" name="">
            <a:extLst xmlns:a="http://schemas.openxmlformats.org/drawingml/2006/main">
              <a:ext uri="{FF2B5EF4-FFF2-40B4-BE49-F238E27FC236}">
                <a16:creationId xmlns:a16="http://schemas.microsoft.com/office/drawing/2014/main" id="{A8E2D4B7-19ED-4A4C-A384-79DB0B20A8D9}"/>
              </a:ext>
            </a:extLst>
          </p:cNvPr>
          <p:cNvSpPr>
            <a:spLocks xmlns:a="http://schemas.openxmlformats.org/drawingml/2006/main" noGrp="1"/>
          </p:cNvSpPr>
          <p:nvPr/>
        </p:nvSpPr>
        <p:spPr>
          <a:xfrm xmlns:a="http://schemas.openxmlformats.org/drawingml/2006/main">
            <a:off x="7943850" y="4229100"/>
            <a:ext cx="3429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42238"/>
                </a:solidFill>
                <a:latin typeface="Malgun Gothic"/>
                <a:ea typeface="Malgun Gothic"/>
                <a:cs typeface="Malgun Gothic"/>
              </a:defRPr>
            </a:defPPr>
          </a:lstStyle>
          <a:p xmlns:a="http://schemas.openxmlformats.org/drawingml/2006/main">
            <a:pPr algn="l">
              <a:defRPr sz="2175" b="1">
                <a:solidFill>
                  <a:srgbClr val="142238"/>
                </a:solidFill>
                <a:latin typeface="Malgun Gothic"/>
                <a:ea typeface="Malgun Gothic"/>
                <a:cs typeface="Malgun Gothic"/>
              </a:defRPr>
            </a:pPr>
            <a:r>
              <a:rPr sz="2175" b="1">
                <a:solidFill>
                  <a:srgbClr val="142238"/>
                </a:solidFill>
                <a:latin typeface="Malgun Gothic"/>
                <a:ea typeface="Malgun Gothic"/>
                <a:cs typeface="Malgun Gothic"/>
              </a:rPr>
              <a:t>모델 선택은 추가 검증 필요</a:t>
            </a:r>
          </a:p>
        </p:txBody>
      </p:sp>
      <p:sp>
        <p:nvSpPr>
          <p:cNvPr id="11" name="">
            <a:extLst xmlns:a="http://schemas.openxmlformats.org/drawingml/2006/main">
              <a:ext uri="{FF2B5EF4-FFF2-40B4-BE49-F238E27FC236}">
                <a16:creationId xmlns:a16="http://schemas.microsoft.com/office/drawing/2014/main" id="{7B17BEBB-9D11-4480-BD07-3BFF1239579C}"/>
              </a:ext>
            </a:extLst>
          </p:cNvPr>
          <p:cNvSpPr>
            <a:spLocks xmlns:a="http://schemas.openxmlformats.org/drawingml/2006/main" noGrp="1"/>
          </p:cNvSpPr>
          <p:nvPr/>
        </p:nvSpPr>
        <p:spPr>
          <a:xfrm xmlns:a="http://schemas.openxmlformats.org/drawingml/2006/main">
            <a:off x="7943850" y="5076825"/>
            <a:ext cx="3429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B6676"/>
                </a:solidFill>
                <a:latin typeface="Malgun Gothic"/>
                <a:ea typeface="Malgun Gothic"/>
                <a:cs typeface="Malgun Gothic"/>
              </a:defRPr>
            </a:defPPr>
          </a:lstStyle>
          <a:p xmlns:a="http://schemas.openxmlformats.org/drawingml/2006/main">
            <a:pPr algn="l">
              <a:defRPr sz="1800" b="0">
                <a:solidFill>
                  <a:srgbClr val="5B6676"/>
                </a:solidFill>
                <a:latin typeface="Malgun Gothic"/>
                <a:ea typeface="Malgun Gothic"/>
                <a:cs typeface="Malgun Gothic"/>
              </a:defRPr>
            </a:pPr>
            <a:r>
              <a:rPr sz="1800" b="0">
                <a:solidFill>
                  <a:srgbClr val="5B6676"/>
                </a:solidFill>
                <a:latin typeface="Malgun Gothic"/>
                <a:ea typeface="Malgun Gothic"/>
                <a:cs typeface="Malgun Gothic"/>
              </a:rPr>
              <a:t>이 시험에서는 </a:t>
            </a:r>
            <a:r>
              <a:rPr sz="1800" b="0">
                <a:solidFill>
                  <a:srgbClr val="5B6676"/>
                </a:solidFill>
                <a:latin typeface="Times New Roman"/>
                <a:ea typeface="Times New Roman"/>
                <a:cs typeface="Times New Roman"/>
              </a:rPr>
              <a:t>Qwen</a:t>
            </a:r>
            <a:r>
              <a:rPr sz="1800" b="0">
                <a:solidFill>
                  <a:srgbClr val="5B6676"/>
                </a:solidFill>
                <a:latin typeface="Malgun Gothic"/>
                <a:ea typeface="Malgun Gothic"/>
                <a:cs typeface="Malgun Gothic"/>
              </a:rPr>
              <a:t>이 우세</a:t>
            </a:r>
          </a:p>
        </p:txBody>
      </p:sp>
      <p:sp>
        <p:nvSpPr>
          <p:cNvPr id="12" name="">
            <a:extLst xmlns:a="http://schemas.openxmlformats.org/drawingml/2006/main">
              <a:ext uri="{FF2B5EF4-FFF2-40B4-BE49-F238E27FC236}">
                <a16:creationId xmlns:a16="http://schemas.microsoft.com/office/drawing/2014/main" id="{E0E11BAF-3E40-432C-BA4D-259BD3678346}"/>
              </a:ext>
            </a:extLst>
          </p:cNvPr>
          <p:cNvSpPr>
            <a:spLocks xmlns:a="http://schemas.openxmlformats.org/drawingml/2006/main" noGrp="1"/>
          </p:cNvSpPr>
          <p:nvPr/>
        </p:nvSpPr>
        <p:spPr>
          <a:xfrm xmlns:a="http://schemas.openxmlformats.org/drawingml/2006/main">
            <a:off x="676275" y="5762625"/>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B6676"/>
                </a:solidFill>
                <a:latin typeface="Malgun Gothic"/>
                <a:ea typeface="Malgun Gothic"/>
                <a:cs typeface="Malgun Gothic"/>
              </a:defRPr>
            </a:defPPr>
          </a:lstStyle>
          <a:p xmlns:a="http://schemas.openxmlformats.org/drawingml/2006/main">
            <a:pPr algn="l">
              <a:defRPr sz="1725" b="0">
                <a:solidFill>
                  <a:srgbClr val="5B6676"/>
                </a:solidFill>
                <a:latin typeface="Malgun Gothic"/>
                <a:ea typeface="Malgun Gothic"/>
                <a:cs typeface="Malgun Gothic"/>
              </a:defRPr>
            </a:pPr>
            <a:r>
              <a:rPr sz="1725" b="0">
                <a:solidFill>
                  <a:srgbClr val="5B6676"/>
                </a:solidFill>
                <a:latin typeface="Malgun Gothic"/>
                <a:ea typeface="Malgun Gothic"/>
                <a:cs typeface="Malgun Gothic"/>
              </a:rPr>
              <a:t>기존 모델: </a:t>
            </a:r>
            <a:r>
              <a:rPr sz="1725" b="0">
                <a:solidFill>
                  <a:srgbClr val="5B6676"/>
                </a:solidFill>
                <a:latin typeface="Times New Roman"/>
                <a:ea typeface="Times New Roman"/>
                <a:cs typeface="Times New Roman"/>
              </a:rPr>
              <a:t>Qwen3 Embedding 0.6B     </a:t>
            </a:r>
            <a:r>
              <a:rPr sz="1725" b="0">
                <a:solidFill>
                  <a:srgbClr val="5B6676"/>
                </a:solidFill>
                <a:latin typeface="Malgun Gothic"/>
                <a:ea typeface="Malgun Gothic"/>
                <a:cs typeface="Malgun Gothic"/>
              </a:rPr>
              <a:t>현재 모델: </a:t>
            </a:r>
            <a:r>
              <a:rPr sz="1725" b="0">
                <a:solidFill>
                  <a:srgbClr val="5B6676"/>
                </a:solidFill>
                <a:latin typeface="Times New Roman"/>
                <a:ea typeface="Times New Roman"/>
                <a:cs typeface="Times New Roman"/>
              </a:rPr>
              <a:t>EmbeddingGemma 2</a:t>
            </a:r>
          </a:p>
        </p:txBody>
      </p:sp>
    </p:spTree>
    <p:extLst>
      <p:ext uri="{BB962C8B-B14F-4D97-AF65-F5344CB8AC3E}">
        <p14:creationId xmlns:p14="http://schemas.microsoft.com/office/powerpoint/2010/main" val="1234949623"/>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15" name="">
            <a:extLst xmlns:a="http://schemas.openxmlformats.org/drawingml/2006/main">
              <a:ext uri="{FF2B5EF4-FFF2-40B4-BE49-F238E27FC236}">
                <a16:creationId xmlns:a16="http://schemas.microsoft.com/office/drawing/2014/main" id="{C66F8BFB-98B8-4230-AACB-A97557474F78}"/>
              </a:ext>
            </a:extLst>
          </p:cNvPr>
          <p:cNvCxnSpPr>
            <a:stCxn xmlns:a="http://schemas.openxmlformats.org/drawingml/2006/main" id="13" idx="1"/>
            <a:endCxn xmlns:a="http://schemas.openxmlformats.org/drawingml/2006/main" id="12" idx="3"/>
          </p:cNvCxnSpPr>
          <p:nvPr/>
        </p:nvCxnSpPr>
        <p:spPr>
          <a:xfrm xmlns:a="http://schemas.openxmlformats.org/drawingml/2006/main" flipH="1">
            <a:off x="7429500" y="5395913"/>
            <a:ext cx="1590675" cy="0"/>
          </a:xfrm>
          <a:prstGeom xmlns:a="http://schemas.openxmlformats.org/drawingml/2006/main" prst="straightConnector1">
            <a:avLst/>
          </a:prstGeom>
          <a:ln xmlns:a="http://schemas.openxmlformats.org/drawingml/2006/main" w="19050">
            <a:solidFill>
              <a:srgbClr val="5B6676"/>
            </a:solidFill>
            <a:prstDash val="solid"/>
            <a:tailEnd type="triangle" w="sm" len="sm"/>
          </a:ln>
        </p:spPr>
      </p:cxnSp>
      <p:cxnSp>
        <p:nvCxnSpPr>
          <p:cNvPr id="14" name="">
            <a:extLst xmlns:a="http://schemas.openxmlformats.org/drawingml/2006/main">
              <a:ext uri="{FF2B5EF4-FFF2-40B4-BE49-F238E27FC236}">
                <a16:creationId xmlns:a16="http://schemas.microsoft.com/office/drawing/2014/main" id="{75AB722B-AAB0-4671-8792-56D0A9A0F367}"/>
              </a:ext>
            </a:extLst>
          </p:cNvPr>
          <p:cNvCxnSpPr>
            <a:stCxn xmlns:a="http://schemas.openxmlformats.org/drawingml/2006/main" id="11" idx="3"/>
            <a:endCxn xmlns:a="http://schemas.openxmlformats.org/drawingml/2006/main" id="12" idx="1"/>
          </p:cNvCxnSpPr>
          <p:nvPr/>
        </p:nvCxnSpPr>
        <p:spPr>
          <a:xfrm xmlns:a="http://schemas.openxmlformats.org/drawingml/2006/main">
            <a:off x="3114675" y="5395913"/>
            <a:ext cx="1590675" cy="0"/>
          </a:xfrm>
          <a:prstGeom xmlns:a="http://schemas.openxmlformats.org/drawingml/2006/main" prst="straightConnector1">
            <a:avLst/>
          </a:prstGeom>
          <a:ln xmlns:a="http://schemas.openxmlformats.org/drawingml/2006/main" w="19050">
            <a:solidFill>
              <a:srgbClr val="5B6676"/>
            </a:solidFill>
            <a:prstDash val="solid"/>
            <a:tailEnd type="triangle" w="sm" len="sm"/>
          </a:ln>
        </p:spPr>
      </p:cxnSp>
      <p:sp>
        <p:nvSpPr>
          <p:cNvPr id="16" name="">
            <a:extLst xmlns:a="http://schemas.openxmlformats.org/drawingml/2006/main">
              <a:ext uri="{FF2B5EF4-FFF2-40B4-BE49-F238E27FC236}">
                <a16:creationId xmlns:a16="http://schemas.microsoft.com/office/drawing/2014/main" id="{60A75836-863E-4B15-80DB-75CE5B38C7A9}"/>
              </a:ext>
            </a:extLst>
          </p:cNvPr>
          <p:cNvSpPr>
            <a:spLocks xmlns:a="http://schemas.openxmlformats.org/drawingml/2006/main" noGrp="1"/>
          </p:cNvSpPr>
          <p:nvPr/>
        </p:nvSpPr>
        <p:spPr>
          <a:xfrm xmlns:a="http://schemas.openxmlformats.org/drawingml/2006/main">
            <a:off x="609600" y="428625"/>
            <a:ext cx="1095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142238"/>
                </a:solidFill>
                <a:latin typeface="Malgun Gothic"/>
                <a:ea typeface="Malgun Gothic"/>
                <a:cs typeface="Malgun Gothic"/>
              </a:defRPr>
            </a:defPPr>
          </a:lstStyle>
          <a:p xmlns:a="http://schemas.openxmlformats.org/drawingml/2006/main">
            <a:pPr algn="l">
              <a:defRPr sz="3225" b="1">
                <a:solidFill>
                  <a:srgbClr val="142238"/>
                </a:solidFill>
                <a:latin typeface="Malgun Gothic"/>
                <a:ea typeface="Malgun Gothic"/>
                <a:cs typeface="Malgun Gothic"/>
              </a:defRPr>
            </a:pPr>
            <a:r>
              <a:rPr sz="3225" b="1">
                <a:solidFill>
                  <a:srgbClr val="142238"/>
                </a:solidFill>
                <a:latin typeface="Malgun Gothic"/>
                <a:ea typeface="Malgun Gothic"/>
                <a:cs typeface="Malgun Gothic"/>
              </a:rPr>
              <a:t>자료 준비와 질문을 함께 처리하는 운영 구조</a:t>
            </a:r>
          </a:p>
        </p:txBody>
      </p:sp>
      <p:sp>
        <p:nvSpPr>
          <p:cNvPr id="2" name="">
            <a:extLst xmlns:a="http://schemas.openxmlformats.org/drawingml/2006/main">
              <a:ext uri="{FF2B5EF4-FFF2-40B4-BE49-F238E27FC236}">
                <a16:creationId xmlns:a16="http://schemas.microsoft.com/office/drawing/2014/main" id="{149A0892-B648-444D-99A9-34C2C0CCE948}"/>
              </a:ext>
            </a:extLst>
          </p:cNvPr>
          <p:cNvSpPr>
            <a:spLocks xmlns:a="http://schemas.openxmlformats.org/drawingml/2006/main" noGrp="1"/>
          </p:cNvSpPr>
          <p:nvPr/>
        </p:nvSpPr>
        <p:spPr>
          <a:xfrm xmlns:a="http://schemas.openxmlformats.org/drawingml/2006/main">
            <a:off x="628650" y="1066800"/>
            <a:ext cx="10896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B6676"/>
                </a:solidFill>
                <a:latin typeface="Malgun Gothic"/>
                <a:ea typeface="Malgun Gothic"/>
                <a:cs typeface="Malgun Gothic"/>
              </a:defRPr>
            </a:defPPr>
          </a:lstStyle>
          <a:p xmlns:a="http://schemas.openxmlformats.org/drawingml/2006/main">
            <a:pPr algn="l">
              <a:defRPr sz="1725" b="0">
                <a:solidFill>
                  <a:srgbClr val="5B6676"/>
                </a:solidFill>
                <a:latin typeface="Malgun Gothic"/>
                <a:ea typeface="Malgun Gothic"/>
                <a:cs typeface="Malgun Gothic"/>
              </a:defRPr>
            </a:pPr>
            <a:r>
              <a:rPr sz="1725" b="0">
                <a:solidFill>
                  <a:srgbClr val="5B6676"/>
                </a:solidFill>
                <a:latin typeface="Times New Roman"/>
                <a:ea typeface="Times New Roman"/>
                <a:cs typeface="Times New Roman"/>
              </a:rPr>
              <a:t>Windows </a:t>
            </a:r>
            <a:r>
              <a:rPr sz="1725" b="0">
                <a:solidFill>
                  <a:srgbClr val="5B6676"/>
                </a:solidFill>
                <a:latin typeface="Malgun Gothic"/>
                <a:ea typeface="Malgun Gothic"/>
                <a:cs typeface="Malgun Gothic"/>
              </a:rPr>
              <a:t>사내 서버 한 대에 여러 사용자가 브라우저로 접속하는 구성을 목표로 합니다.</a:t>
            </a:r>
          </a:p>
        </p:txBody>
      </p:sp>
      <p:sp>
        <p:nvSpPr>
          <p:cNvPr id="3" name="">
            <a:extLst xmlns:a="http://schemas.openxmlformats.org/drawingml/2006/main">
              <a:ext uri="{FF2B5EF4-FFF2-40B4-BE49-F238E27FC236}">
                <a16:creationId xmlns:a16="http://schemas.microsoft.com/office/drawing/2014/main" id="{B8A5DCF6-6DB8-4696-98EF-4C9760A05440}"/>
              </a:ext>
            </a:extLst>
          </p:cNvPr>
          <p:cNvSpPr>
            <a:spLocks xmlns:a="http://schemas.openxmlformats.org/drawingml/2006/main" noGrp="1"/>
          </p:cNvSpPr>
          <p:nvPr/>
        </p:nvSpPr>
        <p:spPr>
          <a:xfrm xmlns:a="http://schemas.openxmlformats.org/drawingml/2006/main">
            <a:off x="628650" y="6429375"/>
            <a:ext cx="10382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5B6676"/>
                </a:solidFill>
                <a:latin typeface="Malgun Gothic"/>
                <a:ea typeface="Malgun Gothic"/>
                <a:cs typeface="Malgun Gothic"/>
              </a:defRPr>
            </a:defPPr>
          </a:lstStyle>
          <a:p xmlns:a="http://schemas.openxmlformats.org/drawingml/2006/main">
            <a:pPr algn="l">
              <a:defRPr sz="1200" b="0">
                <a:solidFill>
                  <a:srgbClr val="5B6676"/>
                </a:solidFill>
                <a:latin typeface="Malgun Gothic"/>
                <a:ea typeface="Malgun Gothic"/>
                <a:cs typeface="Malgun Gothic"/>
              </a:defRPr>
            </a:pPr>
            <a:r>
              <a:rPr sz="1200" b="0">
                <a:solidFill>
                  <a:srgbClr val="5B6676"/>
                </a:solidFill>
                <a:latin typeface="Malgun Gothic"/>
                <a:ea typeface="Malgun Gothic"/>
                <a:cs typeface="Malgun Gothic"/>
              </a:rPr>
              <a:t>근거 </a:t>
            </a:r>
            <a:r>
              <a:rPr sz="1200" b="0">
                <a:solidFill>
                  <a:srgbClr val="5B6676"/>
                </a:solidFill>
                <a:latin typeface="Times New Roman"/>
                <a:ea typeface="Times New Roman"/>
                <a:cs typeface="Times New Roman"/>
              </a:rPr>
              <a:t>E4</a:t>
            </a:r>
            <a:r>
              <a:rPr sz="1200" b="0">
                <a:solidFill>
                  <a:srgbClr val="5B6676"/>
                </a:solidFill>
                <a:latin typeface="Malgun Gothic"/>
                <a:ea typeface="Malgun Gothic"/>
                <a:cs typeface="Malgun Gothic"/>
              </a:rPr>
              <a:t>·</a:t>
            </a:r>
            <a:r>
              <a:rPr sz="1200" b="0">
                <a:solidFill>
                  <a:srgbClr val="5B6676"/>
                </a:solidFill>
                <a:latin typeface="Times New Roman"/>
                <a:ea typeface="Times New Roman"/>
                <a:cs typeface="Times New Roman"/>
              </a:rPr>
              <a:t>E6 </a:t>
            </a:r>
            <a:r>
              <a:rPr sz="1200" b="0">
                <a:solidFill>
                  <a:srgbClr val="5B6676"/>
                </a:solidFill>
                <a:latin typeface="Malgun Gothic"/>
                <a:ea typeface="Malgun Gothic"/>
                <a:cs typeface="Malgun Gothic"/>
              </a:rPr>
              <a:t>· </a:t>
            </a:r>
            <a:r>
              <a:rPr sz="1200" b="0">
                <a:solidFill>
                  <a:srgbClr val="5B6676"/>
                </a:solidFill>
                <a:latin typeface="Times New Roman"/>
                <a:ea typeface="Times New Roman"/>
                <a:cs typeface="Times New Roman"/>
              </a:rPr>
              <a:t>Mac</a:t>
            </a:r>
            <a:r>
              <a:rPr sz="1200" b="0">
                <a:solidFill>
                  <a:srgbClr val="5B6676"/>
                </a:solidFill>
                <a:latin typeface="Malgun Gothic"/>
                <a:ea typeface="Malgun Gothic"/>
                <a:cs typeface="Malgun Gothic"/>
              </a:rPr>
              <a:t>·모의 모델 검증 · </a:t>
            </a:r>
            <a:r>
              <a:rPr sz="1200" b="0">
                <a:solidFill>
                  <a:srgbClr val="5B6676"/>
                </a:solidFill>
                <a:latin typeface="Times New Roman"/>
                <a:ea typeface="Times New Roman"/>
                <a:cs typeface="Times New Roman"/>
              </a:rPr>
              <a:t>Windows DRM</a:t>
            </a:r>
            <a:r>
              <a:rPr sz="1200" b="0">
                <a:solidFill>
                  <a:srgbClr val="5B6676"/>
                </a:solidFill>
                <a:latin typeface="Malgun Gothic"/>
                <a:ea typeface="Malgun Gothic"/>
                <a:cs typeface="Malgun Gothic"/>
              </a:rPr>
              <a:t>·실제 </a:t>
            </a:r>
            <a:r>
              <a:rPr sz="1200" b="0">
                <a:solidFill>
                  <a:srgbClr val="5B6676"/>
                </a:solidFill>
                <a:latin typeface="Times New Roman"/>
                <a:ea typeface="Times New Roman"/>
                <a:cs typeface="Times New Roman"/>
              </a:rPr>
              <a:t>120B </a:t>
            </a:r>
            <a:r>
              <a:rPr sz="1200" b="0">
                <a:solidFill>
                  <a:srgbClr val="5B6676"/>
                </a:solidFill>
                <a:latin typeface="Malgun Gothic"/>
                <a:ea typeface="Malgun Gothic"/>
                <a:cs typeface="Malgun Gothic"/>
              </a:rPr>
              <a:t>부하와 권한 분리는 후속 검증</a:t>
            </a:r>
          </a:p>
        </p:txBody>
      </p:sp>
      <p:sp>
        <p:nvSpPr>
          <p:cNvPr id="4" name="">
            <a:extLst xmlns:a="http://schemas.openxmlformats.org/drawingml/2006/main">
              <a:ext uri="{FF2B5EF4-FFF2-40B4-BE49-F238E27FC236}">
                <a16:creationId xmlns:a16="http://schemas.microsoft.com/office/drawing/2014/main" id="{69C20844-244C-4279-8C47-84ED58A36476}"/>
              </a:ext>
            </a:extLst>
          </p:cNvPr>
          <p:cNvSpPr>
            <a:spLocks xmlns:a="http://schemas.openxmlformats.org/drawingml/2006/main" noGrp="1"/>
          </p:cNvSpPr>
          <p:nvPr/>
        </p:nvSpPr>
        <p:spPr>
          <a:xfrm xmlns:a="http://schemas.openxmlformats.org/drawingml/2006/main">
            <a:off x="11096625" y="6391275"/>
            <a:ext cx="4572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650" b="0">
                <a:solidFill>
                  <a:srgbClr val="5B6676"/>
                </a:solidFill>
                <a:latin typeface="Malgun Gothic"/>
                <a:ea typeface="Malgun Gothic"/>
                <a:cs typeface="Malgun Gothic"/>
              </a:defRPr>
            </a:defPPr>
          </a:lstStyle>
          <a:p xmlns:a="http://schemas.openxmlformats.org/drawingml/2006/main">
            <a:pPr algn="r">
              <a:defRPr sz="1650" b="0">
                <a:solidFill>
                  <a:srgbClr val="5B6676"/>
                </a:solidFill>
                <a:latin typeface="Malgun Gothic"/>
                <a:ea typeface="Malgun Gothic"/>
                <a:cs typeface="Malgun Gothic"/>
              </a:defRPr>
            </a:pPr>
            <a:r>
              <a:rPr sz="1650" b="0">
                <a:solidFill>
                  <a:srgbClr val="5B6676"/>
                </a:solidFill>
                <a:latin typeface="Times New Roman"/>
                <a:ea typeface="Times New Roman"/>
                <a:cs typeface="Times New Roman"/>
              </a:rPr>
              <a:t>08</a:t>
            </a:r>
          </a:p>
        </p:txBody>
      </p:sp>
      <p:sp>
        <p:nvSpPr>
          <p:cNvPr id="5" name="">
            <a:extLst xmlns:a="http://schemas.openxmlformats.org/drawingml/2006/main">
              <a:ext uri="{FF2B5EF4-FFF2-40B4-BE49-F238E27FC236}">
                <a16:creationId xmlns:a16="http://schemas.microsoft.com/office/drawing/2014/main" id="{7AAACB7A-33DB-4DE6-8E65-59C47B9D403B}"/>
              </a:ext>
            </a:extLst>
          </p:cNvPr>
          <p:cNvSpPr>
            <a:spLocks xmlns:a="http://schemas.openxmlformats.org/drawingml/2006/main" noGrp="1"/>
          </p:cNvSpPr>
          <p:nvPr/>
        </p:nvSpPr>
        <p:spPr>
          <a:xfrm xmlns:a="http://schemas.openxmlformats.org/drawingml/2006/main">
            <a:off x="704850" y="1866900"/>
            <a:ext cx="45529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5175" b="1">
                <a:solidFill>
                  <a:srgbClr val="1459C7"/>
                </a:solidFill>
                <a:latin typeface="Malgun Gothic"/>
                <a:ea typeface="Malgun Gothic"/>
                <a:cs typeface="Malgun Gothic"/>
              </a:defRPr>
            </a:defPPr>
          </a:lstStyle>
          <a:p xmlns:a="http://schemas.openxmlformats.org/drawingml/2006/main">
            <a:pPr algn="l">
              <a:defRPr sz="5175" b="1">
                <a:solidFill>
                  <a:srgbClr val="1459C7"/>
                </a:solidFill>
                <a:latin typeface="Malgun Gothic"/>
                <a:ea typeface="Malgun Gothic"/>
                <a:cs typeface="Malgun Gothic"/>
              </a:defRPr>
            </a:pPr>
            <a:r>
              <a:rPr sz="5175" b="1">
                <a:solidFill>
                  <a:srgbClr val="1459C7"/>
                </a:solidFill>
                <a:latin typeface="Times New Roman"/>
                <a:ea typeface="Times New Roman"/>
                <a:cs typeface="Times New Roman"/>
              </a:rPr>
              <a:t>14 / 14</a:t>
            </a:r>
          </a:p>
        </p:txBody>
      </p:sp>
      <p:sp>
        <p:nvSpPr>
          <p:cNvPr id="6" name="">
            <a:extLst xmlns:a="http://schemas.openxmlformats.org/drawingml/2006/main">
              <a:ext uri="{FF2B5EF4-FFF2-40B4-BE49-F238E27FC236}">
                <a16:creationId xmlns:a16="http://schemas.microsoft.com/office/drawing/2014/main" id="{C1B7EFBB-0BAD-4277-A26A-D04735A7E0C7}"/>
              </a:ext>
            </a:extLst>
          </p:cNvPr>
          <p:cNvSpPr>
            <a:spLocks xmlns:a="http://schemas.openxmlformats.org/drawingml/2006/main" noGrp="1"/>
          </p:cNvSpPr>
          <p:nvPr/>
        </p:nvSpPr>
        <p:spPr>
          <a:xfrm xmlns:a="http://schemas.openxmlformats.org/drawingml/2006/main">
            <a:off x="714375" y="2943225"/>
            <a:ext cx="46672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142238"/>
                </a:solidFill>
                <a:latin typeface="Malgun Gothic"/>
                <a:ea typeface="Malgun Gothic"/>
                <a:cs typeface="Malgun Gothic"/>
              </a:defRPr>
            </a:defPPr>
          </a:lstStyle>
          <a:p xmlns:a="http://schemas.openxmlformats.org/drawingml/2006/main">
            <a:pPr algn="l">
              <a:defRPr sz="2250" b="1">
                <a:solidFill>
                  <a:srgbClr val="142238"/>
                </a:solidFill>
                <a:latin typeface="Malgun Gothic"/>
                <a:ea typeface="Malgun Gothic"/>
                <a:cs typeface="Malgun Gothic"/>
              </a:defRPr>
            </a:pPr>
            <a:r>
              <a:rPr sz="2250" b="1">
                <a:solidFill>
                  <a:srgbClr val="142238"/>
                </a:solidFill>
                <a:latin typeface="Malgun Gothic"/>
                <a:ea typeface="Malgun Gothic"/>
                <a:cs typeface="Malgun Gothic"/>
              </a:rPr>
              <a:t>작업 복구 검사 통과</a:t>
            </a:r>
          </a:p>
        </p:txBody>
      </p:sp>
      <p:sp>
        <p:nvSpPr>
          <p:cNvPr id="7" name="">
            <a:extLst xmlns:a="http://schemas.openxmlformats.org/drawingml/2006/main">
              <a:ext uri="{FF2B5EF4-FFF2-40B4-BE49-F238E27FC236}">
                <a16:creationId xmlns:a16="http://schemas.microsoft.com/office/drawing/2014/main" id="{17265673-6F68-4A90-BE67-E443F873887C}"/>
              </a:ext>
            </a:extLst>
          </p:cNvPr>
          <p:cNvSpPr>
            <a:spLocks xmlns:a="http://schemas.openxmlformats.org/drawingml/2006/main" noGrp="1"/>
          </p:cNvSpPr>
          <p:nvPr/>
        </p:nvSpPr>
        <p:spPr>
          <a:xfrm xmlns:a="http://schemas.openxmlformats.org/drawingml/2006/main">
            <a:off x="723900" y="3514725"/>
            <a:ext cx="48196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5B6676"/>
                </a:solidFill>
                <a:latin typeface="Malgun Gothic"/>
                <a:ea typeface="Malgun Gothic"/>
                <a:cs typeface="Malgun Gothic"/>
              </a:defRPr>
            </a:defPPr>
          </a:lstStyle>
          <a:p xmlns:a="http://schemas.openxmlformats.org/drawingml/2006/main">
            <a:pPr algn="l">
              <a:defRPr sz="2025" b="0">
                <a:solidFill>
                  <a:srgbClr val="5B6676"/>
                </a:solidFill>
                <a:latin typeface="Malgun Gothic"/>
                <a:ea typeface="Malgun Gothic"/>
                <a:cs typeface="Malgun Gothic"/>
              </a:defRPr>
            </a:pPr>
            <a:r>
              <a:rPr sz="2025" b="0">
                <a:solidFill>
                  <a:srgbClr val="5B6676"/>
                </a:solidFill>
                <a:latin typeface="Malgun Gothic"/>
                <a:ea typeface="Malgun Gothic"/>
                <a:cs typeface="Malgun Gothic"/>
              </a:rPr>
              <a:t>종료 후 성공 자료를 재사용</a:t>
            </a:r>
          </a:p>
          <a:p xmlns:a="http://schemas.openxmlformats.org/drawingml/2006/main">
            <a:pPr algn="l">
              <a:defRPr sz="2025" b="0">
                <a:solidFill>
                  <a:srgbClr val="5B6676"/>
                </a:solidFill>
                <a:latin typeface="Malgun Gothic"/>
                <a:ea typeface="Malgun Gothic"/>
                <a:cs typeface="Malgun Gothic"/>
              </a:defRPr>
            </a:pPr>
            <a:r>
              <a:rPr sz="2025" b="0">
                <a:solidFill>
                  <a:srgbClr val="5B6676"/>
                </a:solidFill>
                <a:latin typeface="Malgun Gothic"/>
                <a:ea typeface="Malgun Gothic"/>
                <a:cs typeface="Malgun Gothic"/>
              </a:rPr>
              <a:t>완료 파일을 건너뛰고 이어서 처리</a:t>
            </a:r>
          </a:p>
        </p:txBody>
      </p:sp>
      <p:sp>
        <p:nvSpPr>
          <p:cNvPr id="8" name="">
            <a:extLst xmlns:a="http://schemas.openxmlformats.org/drawingml/2006/main">
              <a:ext uri="{FF2B5EF4-FFF2-40B4-BE49-F238E27FC236}">
                <a16:creationId xmlns:a16="http://schemas.microsoft.com/office/drawing/2014/main" id="{AEBA5008-9B5F-49A7-8A26-A37F0B71C496}"/>
              </a:ext>
            </a:extLst>
          </p:cNvPr>
          <p:cNvSpPr>
            <a:spLocks xmlns:a="http://schemas.openxmlformats.org/drawingml/2006/main" noGrp="1"/>
          </p:cNvSpPr>
          <p:nvPr/>
        </p:nvSpPr>
        <p:spPr>
          <a:xfrm xmlns:a="http://schemas.openxmlformats.org/drawingml/2006/main">
            <a:off x="6848475" y="1866900"/>
            <a:ext cx="46196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5175" b="1">
                <a:solidFill>
                  <a:srgbClr val="1459C7"/>
                </a:solidFill>
                <a:latin typeface="Malgun Gothic"/>
                <a:ea typeface="Malgun Gothic"/>
                <a:cs typeface="Malgun Gothic"/>
              </a:defRPr>
            </a:defPPr>
          </a:lstStyle>
          <a:p xmlns:a="http://schemas.openxmlformats.org/drawingml/2006/main">
            <a:pPr algn="l">
              <a:defRPr sz="5175" b="1">
                <a:solidFill>
                  <a:srgbClr val="1459C7"/>
                </a:solidFill>
                <a:latin typeface="Malgun Gothic"/>
                <a:ea typeface="Malgun Gothic"/>
                <a:cs typeface="Malgun Gothic"/>
              </a:defRPr>
            </a:pPr>
            <a:r>
              <a:rPr sz="5175" b="1">
                <a:solidFill>
                  <a:srgbClr val="1459C7"/>
                </a:solidFill>
                <a:latin typeface="Times New Roman"/>
                <a:ea typeface="Times New Roman"/>
                <a:cs typeface="Times New Roman"/>
              </a:rPr>
              <a:t>7 / 7</a:t>
            </a:r>
          </a:p>
        </p:txBody>
      </p:sp>
      <p:sp>
        <p:nvSpPr>
          <p:cNvPr id="9" name="">
            <a:extLst xmlns:a="http://schemas.openxmlformats.org/drawingml/2006/main">
              <a:ext uri="{FF2B5EF4-FFF2-40B4-BE49-F238E27FC236}">
                <a16:creationId xmlns:a16="http://schemas.microsoft.com/office/drawing/2014/main" id="{AD0D3D6F-ACE7-4721-9ADD-351D0B73EA18}"/>
              </a:ext>
            </a:extLst>
          </p:cNvPr>
          <p:cNvSpPr>
            <a:spLocks xmlns:a="http://schemas.openxmlformats.org/drawingml/2006/main" noGrp="1"/>
          </p:cNvSpPr>
          <p:nvPr/>
        </p:nvSpPr>
        <p:spPr>
          <a:xfrm xmlns:a="http://schemas.openxmlformats.org/drawingml/2006/main">
            <a:off x="6858000" y="2943225"/>
            <a:ext cx="46672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142238"/>
                </a:solidFill>
                <a:latin typeface="Malgun Gothic"/>
                <a:ea typeface="Malgun Gothic"/>
                <a:cs typeface="Malgun Gothic"/>
              </a:defRPr>
            </a:defPPr>
          </a:lstStyle>
          <a:p xmlns:a="http://schemas.openxmlformats.org/drawingml/2006/main">
            <a:pPr algn="l">
              <a:defRPr sz="2250" b="1">
                <a:solidFill>
                  <a:srgbClr val="142238"/>
                </a:solidFill>
                <a:latin typeface="Malgun Gothic"/>
                <a:ea typeface="Malgun Gothic"/>
                <a:cs typeface="Malgun Gothic"/>
              </a:defRPr>
            </a:pPr>
            <a:r>
              <a:rPr sz="2250" b="1">
                <a:solidFill>
                  <a:srgbClr val="142238"/>
                </a:solidFill>
                <a:latin typeface="Malgun Gothic"/>
                <a:ea typeface="Malgun Gothic"/>
                <a:cs typeface="Malgun Gothic"/>
              </a:rPr>
              <a:t>동시 처리 검사 통과</a:t>
            </a:r>
          </a:p>
        </p:txBody>
      </p:sp>
      <p:sp>
        <p:nvSpPr>
          <p:cNvPr id="10" name="">
            <a:extLst xmlns:a="http://schemas.openxmlformats.org/drawingml/2006/main">
              <a:ext uri="{FF2B5EF4-FFF2-40B4-BE49-F238E27FC236}">
                <a16:creationId xmlns:a16="http://schemas.microsoft.com/office/drawing/2014/main" id="{AB80F5E3-3CDD-459F-826F-E9BA5FAE69FF}"/>
              </a:ext>
            </a:extLst>
          </p:cNvPr>
          <p:cNvSpPr>
            <a:spLocks xmlns:a="http://schemas.openxmlformats.org/drawingml/2006/main" noGrp="1"/>
          </p:cNvSpPr>
          <p:nvPr/>
        </p:nvSpPr>
        <p:spPr>
          <a:xfrm xmlns:a="http://schemas.openxmlformats.org/drawingml/2006/main">
            <a:off x="6867525" y="3514725"/>
            <a:ext cx="4638675"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5B6676"/>
                </a:solidFill>
                <a:latin typeface="Malgun Gothic"/>
                <a:ea typeface="Malgun Gothic"/>
                <a:cs typeface="Malgun Gothic"/>
              </a:defRPr>
            </a:defPPr>
          </a:lstStyle>
          <a:p xmlns:a="http://schemas.openxmlformats.org/drawingml/2006/main">
            <a:pPr algn="l">
              <a:defRPr sz="2025" b="0">
                <a:solidFill>
                  <a:srgbClr val="5B6676"/>
                </a:solidFill>
                <a:latin typeface="Malgun Gothic"/>
                <a:ea typeface="Malgun Gothic"/>
                <a:cs typeface="Malgun Gothic"/>
              </a:defRPr>
            </a:pPr>
            <a:r>
              <a:rPr sz="2025" b="0">
                <a:solidFill>
                  <a:srgbClr val="5B6676"/>
                </a:solidFill>
                <a:latin typeface="Malgun Gothic"/>
                <a:ea typeface="Malgun Gothic"/>
                <a:cs typeface="Malgun Gothic"/>
              </a:rPr>
              <a:t>자료 준비 중 질문 접수</a:t>
            </a:r>
          </a:p>
          <a:p xmlns:a="http://schemas.openxmlformats.org/drawingml/2006/main">
            <a:pPr algn="l">
              <a:defRPr sz="2025" b="0">
                <a:solidFill>
                  <a:srgbClr val="5B6676"/>
                </a:solidFill>
                <a:latin typeface="Malgun Gothic"/>
                <a:ea typeface="Malgun Gothic"/>
                <a:cs typeface="Malgun Gothic"/>
              </a:defRPr>
            </a:pPr>
            <a:r>
              <a:rPr sz="2025" b="0">
                <a:solidFill>
                  <a:srgbClr val="5B6676"/>
                </a:solidFill>
                <a:latin typeface="Malgun Gothic"/>
                <a:ea typeface="Malgun Gothic"/>
                <a:cs typeface="Malgun Gothic"/>
              </a:rPr>
              <a:t>검색 시점의 원문으로 답변까지 유지</a:t>
            </a:r>
          </a:p>
        </p:txBody>
      </p:sp>
      <p:sp>
        <p:nvSpPr>
          <p:cNvPr id="11" name="">
            <a:extLst xmlns:a="http://schemas.openxmlformats.org/drawingml/2006/main">
              <a:ext uri="{FF2B5EF4-FFF2-40B4-BE49-F238E27FC236}">
                <a16:creationId xmlns:a16="http://schemas.microsoft.com/office/drawing/2014/main" id="{FBFCEAE8-4DF1-4969-AAA3-5EB189681A76}"/>
              </a:ext>
            </a:extLst>
          </p:cNvPr>
          <p:cNvSpPr>
            <a:spLocks xmlns:a="http://schemas.openxmlformats.org/drawingml/2006/main" noGrp="1"/>
          </p:cNvSpPr>
          <p:nvPr/>
        </p:nvSpPr>
        <p:spPr>
          <a:xfrm xmlns:a="http://schemas.openxmlformats.org/drawingml/2006/main">
            <a:off x="685800" y="5000625"/>
            <a:ext cx="2428875" cy="790575"/>
          </a:xfrm>
          <a:prstGeom xmlns:a="http://schemas.openxmlformats.org/drawingml/2006/main" prst="rect">
            <a:avLst/>
          </a:prstGeom>
          <a:solidFill xmlns:a="http://schemas.openxmlformats.org/drawingml/2006/main">
            <a:srgbClr val="F6F8FB"/>
          </a:solidFill>
          <a:ln xmlns:a="http://schemas.openxmlformats.org/drawingml/2006/main" w="9525">
            <a:solidFill>
              <a:srgbClr val="D8DFE8"/>
            </a:solidFill>
          </a:ln>
        </p:spPr>
        <p:txBody>
          <a:bodyPr xmlns:a="http://schemas.openxmlformats.org/drawingml/2006/main" lIns="114300" tIns="114300" rIns="114300" bIns="114300" anchor="ctr">
            <a:noAutofit/>
          </a:bodyPr>
          <a:lstStyle xmlns:a="http://schemas.openxmlformats.org/drawingml/2006/main">
            <a:defPPr algn="ctr">
              <a:defRPr sz="1950">
                <a:latin typeface="Malgun Gothic"/>
                <a:ea typeface="Malgun Gothic"/>
                <a:cs typeface="Malgun Gothic"/>
              </a:defRPr>
            </a:defPPr>
          </a:lstStyle>
          <a:p xmlns:a="http://schemas.openxmlformats.org/drawingml/2006/main">
            <a:pPr algn="ctr">
              <a:defRPr sz="1950">
                <a:latin typeface="Malgun Gothic"/>
                <a:ea typeface="Malgun Gothic"/>
                <a:cs typeface="Malgun Gothic"/>
              </a:defRPr>
            </a:pPr>
            <a:r>
              <a:rPr sz="1950" b="0">
                <a:solidFill>
                  <a:srgbClr val="142238"/>
                </a:solidFill>
                <a:latin typeface="Malgun Gothic"/>
                <a:ea typeface="Malgun Gothic"/>
                <a:cs typeface="Malgun Gothic"/>
              </a:rPr>
              <a:t>관리자 자료 준비</a:t>
            </a:r>
          </a:p>
        </p:txBody>
      </p:sp>
      <p:sp>
        <p:nvSpPr>
          <p:cNvPr id="12" name="">
            <a:extLst xmlns:a="http://schemas.openxmlformats.org/drawingml/2006/main">
              <a:ext uri="{FF2B5EF4-FFF2-40B4-BE49-F238E27FC236}">
                <a16:creationId xmlns:a16="http://schemas.microsoft.com/office/drawing/2014/main" id="{54ED144D-07A9-475E-9D94-2BFC8526B8CD}"/>
              </a:ext>
            </a:extLst>
          </p:cNvPr>
          <p:cNvSpPr>
            <a:spLocks xmlns:a="http://schemas.openxmlformats.org/drawingml/2006/main" noGrp="1"/>
          </p:cNvSpPr>
          <p:nvPr/>
        </p:nvSpPr>
        <p:spPr>
          <a:xfrm xmlns:a="http://schemas.openxmlformats.org/drawingml/2006/main">
            <a:off x="4705350" y="5000625"/>
            <a:ext cx="2724150" cy="790575"/>
          </a:xfrm>
          <a:prstGeom xmlns:a="http://schemas.openxmlformats.org/drawingml/2006/main" prst="rect">
            <a:avLst/>
          </a:prstGeom>
          <a:solidFill xmlns:a="http://schemas.openxmlformats.org/drawingml/2006/main">
            <a:srgbClr val="EAF1FA"/>
          </a:solidFill>
          <a:ln xmlns:a="http://schemas.openxmlformats.org/drawingml/2006/main" w="9525">
            <a:solidFill>
              <a:srgbClr val="D8DFE8"/>
            </a:solidFill>
          </a:ln>
        </p:spPr>
        <p:txBody>
          <a:bodyPr xmlns:a="http://schemas.openxmlformats.org/drawingml/2006/main" lIns="114300" tIns="114300" rIns="114300" bIns="114300" anchor="ctr">
            <a:noAutofit/>
          </a:bodyPr>
          <a:lstStyle xmlns:a="http://schemas.openxmlformats.org/drawingml/2006/main">
            <a:defPPr algn="ctr">
              <a:defRPr sz="1950">
                <a:latin typeface="Malgun Gothic"/>
                <a:ea typeface="Malgun Gothic"/>
                <a:cs typeface="Malgun Gothic"/>
              </a:defRPr>
            </a:defPPr>
          </a:lstStyle>
          <a:p xmlns:a="http://schemas.openxmlformats.org/drawingml/2006/main">
            <a:pPr algn="ctr">
              <a:defRPr sz="1950">
                <a:latin typeface="Malgun Gothic"/>
                <a:ea typeface="Malgun Gothic"/>
                <a:cs typeface="Malgun Gothic"/>
              </a:defRPr>
            </a:pPr>
            <a:r>
              <a:rPr sz="1950" b="0">
                <a:solidFill>
                  <a:srgbClr val="142238"/>
                </a:solidFill>
                <a:latin typeface="Malgun Gothic"/>
                <a:ea typeface="Malgun Gothic"/>
                <a:cs typeface="Malgun Gothic"/>
              </a:rPr>
              <a:t>사내 서버와 원문 </a:t>
            </a:r>
            <a:r>
              <a:rPr sz="1950" b="0">
                <a:solidFill>
                  <a:srgbClr val="142238"/>
                </a:solidFill>
                <a:latin typeface="Times New Roman"/>
                <a:ea typeface="Times New Roman"/>
                <a:cs typeface="Times New Roman"/>
              </a:rPr>
              <a:t>DB</a:t>
            </a:r>
          </a:p>
        </p:txBody>
      </p:sp>
      <p:sp>
        <p:nvSpPr>
          <p:cNvPr id="13" name="">
            <a:extLst xmlns:a="http://schemas.openxmlformats.org/drawingml/2006/main">
              <a:ext uri="{FF2B5EF4-FFF2-40B4-BE49-F238E27FC236}">
                <a16:creationId xmlns:a16="http://schemas.microsoft.com/office/drawing/2014/main" id="{BD095AB6-79E7-4861-957B-E4103F3076B6}"/>
              </a:ext>
            </a:extLst>
          </p:cNvPr>
          <p:cNvSpPr>
            <a:spLocks xmlns:a="http://schemas.openxmlformats.org/drawingml/2006/main" noGrp="1"/>
          </p:cNvSpPr>
          <p:nvPr/>
        </p:nvSpPr>
        <p:spPr>
          <a:xfrm xmlns:a="http://schemas.openxmlformats.org/drawingml/2006/main">
            <a:off x="9020175" y="5000625"/>
            <a:ext cx="2428875" cy="790575"/>
          </a:xfrm>
          <a:prstGeom xmlns:a="http://schemas.openxmlformats.org/drawingml/2006/main" prst="rect">
            <a:avLst/>
          </a:prstGeom>
          <a:solidFill xmlns:a="http://schemas.openxmlformats.org/drawingml/2006/main">
            <a:srgbClr val="F6F8FB"/>
          </a:solidFill>
          <a:ln xmlns:a="http://schemas.openxmlformats.org/drawingml/2006/main" w="9525">
            <a:solidFill>
              <a:srgbClr val="D8DFE8"/>
            </a:solidFill>
          </a:ln>
        </p:spPr>
        <p:txBody>
          <a:bodyPr xmlns:a="http://schemas.openxmlformats.org/drawingml/2006/main" lIns="114300" tIns="114300" rIns="114300" bIns="114300" anchor="ctr">
            <a:noAutofit/>
          </a:bodyPr>
          <a:lstStyle xmlns:a="http://schemas.openxmlformats.org/drawingml/2006/main">
            <a:defPPr algn="ctr">
              <a:defRPr sz="1950">
                <a:latin typeface="Malgun Gothic"/>
                <a:ea typeface="Malgun Gothic"/>
                <a:cs typeface="Malgun Gothic"/>
              </a:defRPr>
            </a:defPPr>
          </a:lstStyle>
          <a:p xmlns:a="http://schemas.openxmlformats.org/drawingml/2006/main">
            <a:pPr algn="ctr">
              <a:defRPr sz="1950">
                <a:latin typeface="Malgun Gothic"/>
                <a:ea typeface="Malgun Gothic"/>
                <a:cs typeface="Malgun Gothic"/>
              </a:defRPr>
            </a:pPr>
            <a:r>
              <a:rPr sz="1950" b="0">
                <a:solidFill>
                  <a:srgbClr val="142238"/>
                </a:solidFill>
                <a:latin typeface="Malgun Gothic"/>
                <a:ea typeface="Malgun Gothic"/>
                <a:cs typeface="Malgun Gothic"/>
              </a:rPr>
              <a:t>사용자 브라우저</a:t>
            </a:r>
          </a:p>
        </p:txBody>
      </p:sp>
    </p:spTree>
    <p:extLst>
      <p:ext uri="{BB962C8B-B14F-4D97-AF65-F5344CB8AC3E}">
        <p14:creationId xmlns:p14="http://schemas.microsoft.com/office/powerpoint/2010/main" val="1087601795"/>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FD08A96F-2D81-49FC-8558-47A98BDCEB57}"/>
              </a:ext>
            </a:extLst>
          </p:cNvPr>
          <p:cNvSpPr>
            <a:spLocks xmlns:a="http://schemas.openxmlformats.org/drawingml/2006/main" noGrp="1"/>
          </p:cNvSpPr>
          <p:nvPr/>
        </p:nvSpPr>
        <p:spPr>
          <a:xfrm xmlns:a="http://schemas.openxmlformats.org/drawingml/2006/main">
            <a:off x="609600" y="428625"/>
            <a:ext cx="1095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142238"/>
                </a:solidFill>
                <a:latin typeface="Malgun Gothic"/>
                <a:ea typeface="Malgun Gothic"/>
                <a:cs typeface="Malgun Gothic"/>
              </a:defRPr>
            </a:defPPr>
          </a:lstStyle>
          <a:p xmlns:a="http://schemas.openxmlformats.org/drawingml/2006/main">
            <a:pPr algn="l">
              <a:defRPr sz="3225" b="1">
                <a:solidFill>
                  <a:srgbClr val="142238"/>
                </a:solidFill>
                <a:latin typeface="Malgun Gothic"/>
                <a:ea typeface="Malgun Gothic"/>
                <a:cs typeface="Malgun Gothic"/>
              </a:defRPr>
            </a:pPr>
            <a:r>
              <a:rPr sz="3225" b="1">
                <a:solidFill>
                  <a:srgbClr val="142238"/>
                </a:solidFill>
                <a:latin typeface="Malgun Gothic"/>
                <a:ea typeface="Malgun Gothic"/>
                <a:cs typeface="Malgun Gothic"/>
              </a:rPr>
              <a:t>경영 기여는 현장 시범 적용으로 측정</a:t>
            </a:r>
          </a:p>
        </p:txBody>
      </p:sp>
      <p:sp>
        <p:nvSpPr>
          <p:cNvPr id="2" name="">
            <a:extLst xmlns:a="http://schemas.openxmlformats.org/drawingml/2006/main">
              <a:ext uri="{FF2B5EF4-FFF2-40B4-BE49-F238E27FC236}">
                <a16:creationId xmlns:a16="http://schemas.microsoft.com/office/drawing/2014/main" id="{22C90A36-9111-4FB6-AA7C-6EC97279F7E0}"/>
              </a:ext>
            </a:extLst>
          </p:cNvPr>
          <p:cNvSpPr>
            <a:spLocks xmlns:a="http://schemas.openxmlformats.org/drawingml/2006/main" noGrp="1"/>
          </p:cNvSpPr>
          <p:nvPr/>
        </p:nvSpPr>
        <p:spPr>
          <a:xfrm xmlns:a="http://schemas.openxmlformats.org/drawingml/2006/main">
            <a:off x="628650" y="1066800"/>
            <a:ext cx="10896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B6676"/>
                </a:solidFill>
                <a:latin typeface="Malgun Gothic"/>
                <a:ea typeface="Malgun Gothic"/>
                <a:cs typeface="Malgun Gothic"/>
              </a:defRPr>
            </a:defPPr>
          </a:lstStyle>
          <a:p xmlns:a="http://schemas.openxmlformats.org/drawingml/2006/main">
            <a:pPr algn="l">
              <a:defRPr sz="1725" b="0">
                <a:solidFill>
                  <a:srgbClr val="5B6676"/>
                </a:solidFill>
                <a:latin typeface="Malgun Gothic"/>
                <a:ea typeface="Malgun Gothic"/>
                <a:cs typeface="Malgun Gothic"/>
              </a:defRPr>
            </a:pPr>
            <a:r>
              <a:rPr sz="1725" b="0">
                <a:solidFill>
                  <a:srgbClr val="5B6676"/>
                </a:solidFill>
                <a:latin typeface="Malgun Gothic"/>
                <a:ea typeface="Malgun Gothic"/>
                <a:cs typeface="Malgun Gothic"/>
              </a:rPr>
              <a:t>제안 범위: </a:t>
            </a:r>
            <a:r>
              <a:rPr sz="1725" b="0">
                <a:solidFill>
                  <a:srgbClr val="5B6676"/>
                </a:solidFill>
                <a:latin typeface="Times New Roman"/>
                <a:ea typeface="Times New Roman"/>
                <a:cs typeface="Times New Roman"/>
              </a:rPr>
              <a:t>1</a:t>
            </a:r>
            <a:r>
              <a:rPr sz="1725" b="0">
                <a:solidFill>
                  <a:srgbClr val="5B6676"/>
                </a:solidFill>
                <a:latin typeface="Malgun Gothic"/>
                <a:ea typeface="Malgun Gothic"/>
                <a:cs typeface="Malgun Gothic"/>
              </a:rPr>
              <a:t>개 설비군에서 담당자가 정답을 판정한 새 질문 </a:t>
            </a:r>
            <a:r>
              <a:rPr sz="1725" b="0">
                <a:solidFill>
                  <a:srgbClr val="5B6676"/>
                </a:solidFill>
                <a:latin typeface="Times New Roman"/>
                <a:ea typeface="Times New Roman"/>
                <a:cs typeface="Times New Roman"/>
              </a:rPr>
              <a:t>50</a:t>
            </a:r>
            <a:r>
              <a:rPr sz="1725" b="0">
                <a:solidFill>
                  <a:srgbClr val="5B6676"/>
                </a:solidFill>
                <a:latin typeface="Malgun Gothic"/>
                <a:ea typeface="Malgun Gothic"/>
                <a:cs typeface="Malgun Gothic"/>
              </a:rPr>
              <a:t>건으로 시작합니다.</a:t>
            </a:r>
          </a:p>
        </p:txBody>
      </p:sp>
      <p:sp>
        <p:nvSpPr>
          <p:cNvPr id="3" name="">
            <a:extLst xmlns:a="http://schemas.openxmlformats.org/drawingml/2006/main">
              <a:ext uri="{FF2B5EF4-FFF2-40B4-BE49-F238E27FC236}">
                <a16:creationId xmlns:a16="http://schemas.microsoft.com/office/drawing/2014/main" id="{41DF9A92-5F20-45EC-A7BD-6CC68B7CF5BF}"/>
              </a:ext>
            </a:extLst>
          </p:cNvPr>
          <p:cNvSpPr>
            <a:spLocks xmlns:a="http://schemas.openxmlformats.org/drawingml/2006/main" noGrp="1"/>
          </p:cNvSpPr>
          <p:nvPr/>
        </p:nvSpPr>
        <p:spPr>
          <a:xfrm xmlns:a="http://schemas.openxmlformats.org/drawingml/2006/main">
            <a:off x="628650" y="6429375"/>
            <a:ext cx="10382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5B6676"/>
                </a:solidFill>
                <a:latin typeface="Malgun Gothic"/>
                <a:ea typeface="Malgun Gothic"/>
                <a:cs typeface="Malgun Gothic"/>
              </a:defRPr>
            </a:defPPr>
          </a:lstStyle>
          <a:p xmlns:a="http://schemas.openxmlformats.org/drawingml/2006/main">
            <a:pPr algn="l">
              <a:defRPr sz="1200" b="0">
                <a:solidFill>
                  <a:srgbClr val="5B6676"/>
                </a:solidFill>
                <a:latin typeface="Malgun Gothic"/>
                <a:ea typeface="Malgun Gothic"/>
                <a:cs typeface="Malgun Gothic"/>
              </a:defRPr>
            </a:pPr>
            <a:r>
              <a:rPr sz="1200" b="0">
                <a:solidFill>
                  <a:srgbClr val="5B6676"/>
                </a:solidFill>
                <a:latin typeface="Malgun Gothic"/>
                <a:ea typeface="Malgun Gothic"/>
                <a:cs typeface="Malgun Gothic"/>
              </a:rPr>
              <a:t>검증 계획 제안 · 아래 항목은 달성 성과나 확정 목표치가 아님 · 근거 </a:t>
            </a:r>
            <a:r>
              <a:rPr sz="1200" b="0">
                <a:solidFill>
                  <a:srgbClr val="5B6676"/>
                </a:solidFill>
                <a:latin typeface="Times New Roman"/>
                <a:ea typeface="Times New Roman"/>
                <a:cs typeface="Times New Roman"/>
              </a:rPr>
              <a:t>E6</a:t>
            </a:r>
          </a:p>
        </p:txBody>
      </p:sp>
      <p:sp>
        <p:nvSpPr>
          <p:cNvPr id="4" name="">
            <a:extLst xmlns:a="http://schemas.openxmlformats.org/drawingml/2006/main">
              <a:ext uri="{FF2B5EF4-FFF2-40B4-BE49-F238E27FC236}">
                <a16:creationId xmlns:a16="http://schemas.microsoft.com/office/drawing/2014/main" id="{27400B7D-CCCD-4038-A876-1EB506F49160}"/>
              </a:ext>
            </a:extLst>
          </p:cNvPr>
          <p:cNvSpPr>
            <a:spLocks xmlns:a="http://schemas.openxmlformats.org/drawingml/2006/main" noGrp="1"/>
          </p:cNvSpPr>
          <p:nvPr/>
        </p:nvSpPr>
        <p:spPr>
          <a:xfrm xmlns:a="http://schemas.openxmlformats.org/drawingml/2006/main">
            <a:off x="11096625" y="6391275"/>
            <a:ext cx="4572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650" b="0">
                <a:solidFill>
                  <a:srgbClr val="5B6676"/>
                </a:solidFill>
                <a:latin typeface="Malgun Gothic"/>
                <a:ea typeface="Malgun Gothic"/>
                <a:cs typeface="Malgun Gothic"/>
              </a:defRPr>
            </a:defPPr>
          </a:lstStyle>
          <a:p xmlns:a="http://schemas.openxmlformats.org/drawingml/2006/main">
            <a:pPr algn="r">
              <a:defRPr sz="1650" b="0">
                <a:solidFill>
                  <a:srgbClr val="5B6676"/>
                </a:solidFill>
                <a:latin typeface="Malgun Gothic"/>
                <a:ea typeface="Malgun Gothic"/>
                <a:cs typeface="Malgun Gothic"/>
              </a:defRPr>
            </a:pPr>
            <a:r>
              <a:rPr sz="1650" b="0">
                <a:solidFill>
                  <a:srgbClr val="5B6676"/>
                </a:solidFill>
                <a:latin typeface="Times New Roman"/>
                <a:ea typeface="Times New Roman"/>
                <a:cs typeface="Times New Roman"/>
              </a:rPr>
              <a:t>09</a:t>
            </a:r>
          </a:p>
        </p:txBody>
      </p:sp>
      <p:graphicFrame>
        <p:nvGraphicFramePr>
          <p:cNvPr id="5" name="">
            <a:extLst xmlns:a="http://schemas.openxmlformats.org/drawingml/2006/main">
              <a:ext uri="{FF2B5EF4-FFF2-40B4-BE49-F238E27FC236}">
                <a16:creationId xmlns:a16="http://schemas.microsoft.com/office/drawing/2014/main" id="{621D187C-A078-421D-8DB6-4CDC7722329D}"/>
              </a:ext>
            </a:extLst>
          </p:cNvPr>
          <p:cNvGraphicFramePr/>
          <p:nvPr/>
        </p:nvGraphicFramePr>
        <p:xfrm>
          <a:off xmlns:a="http://schemas.openxmlformats.org/drawingml/2006/main" x="638175" y="1847850"/>
          <a:ext xmlns:a="http://schemas.openxmlformats.org/drawingml/2006/main" cx="10934700" cy="3667125"/>
        </p:xfrm>
        <a:graphic xmlns:a="http://schemas.openxmlformats.org/drawingml/2006/main">
          <a:graphicData uri="http://schemas.openxmlformats.org/drawingml/2006/table">
            <a:tbl>
              <a:tblPr/>
              <a:tblGrid>
                <a:gridCol w="3190875"/>
                <a:gridCol w="3695700"/>
                <a:gridCol w="4048125"/>
              </a:tblGrid>
              <a:tr h="504825">
                <a:tc>
                  <a:txBody>
                    <a:bodyPr lIns="133350" tIns="133350" rIns="133350" bIns="133350">
                      <a:noAutofit/>
                    </a:bodyPr>
                    <a:lstStyle/>
                    <a:p>
                      <a:r>
                        <a:rPr sz="1875" b="1">
                          <a:solidFill>
                            <a:srgbClr val="FFFFFF"/>
                          </a:solidFill>
                          <a:latin typeface="Malgun Gothic"/>
                          <a:ea typeface="Malgun Gothic"/>
                          <a:cs typeface="Malgun Gothic"/>
                        </a:rPr>
                        <a:t>기대하는 업무 변화</a:t>
                      </a:r>
                    </a:p>
                  </a:txBody>
                  <a:tcPr marL="91440" marR="91440" marT="45720" marB="45720" anchor="ctr">
                    <a:lnL w="9525">
                      <a:solidFill>
                        <a:srgbClr val="D8DFE8"/>
                      </a:solidFill>
                    </a:lnL>
                    <a:lnR w="9525">
                      <a:solidFill>
                        <a:srgbClr val="D8DFE8"/>
                      </a:solidFill>
                    </a:lnR>
                    <a:lnT w="9525">
                      <a:solidFill>
                        <a:srgbClr val="D8DFE8"/>
                      </a:solidFill>
                    </a:lnT>
                    <a:lnB w="9525">
                      <a:solidFill>
                        <a:srgbClr val="D8DFE8"/>
                      </a:solidFill>
                    </a:lnB>
                    <a:solidFill>
                      <a:srgbClr val="142238"/>
                    </a:solidFill>
                  </a:tcPr>
                </a:tc>
                <a:tc>
                  <a:txBody>
                    <a:bodyPr lIns="133350" tIns="133350" rIns="133350" bIns="133350">
                      <a:noAutofit/>
                    </a:bodyPr>
                    <a:lstStyle/>
                    <a:p>
                      <a:r>
                        <a:rPr sz="1875" b="1">
                          <a:solidFill>
                            <a:srgbClr val="FFFFFF"/>
                          </a:solidFill>
                          <a:latin typeface="Malgun Gothic"/>
                          <a:ea typeface="Malgun Gothic"/>
                          <a:cs typeface="Malgun Gothic"/>
                        </a:rPr>
                        <a:t>측정할 항목</a:t>
                      </a:r>
                    </a:p>
                  </a:txBody>
                  <a:tcPr marL="91440" marR="91440" marT="45720" marB="45720" anchor="ctr">
                    <a:lnR w="9525">
                      <a:solidFill>
                        <a:srgbClr val="D8DFE8"/>
                      </a:solidFill>
                    </a:lnR>
                    <a:lnT w="9525">
                      <a:solidFill>
                        <a:srgbClr val="D8DFE8"/>
                      </a:solidFill>
                    </a:lnT>
                    <a:lnB w="9525">
                      <a:solidFill>
                        <a:srgbClr val="D8DFE8"/>
                      </a:solidFill>
                    </a:lnB>
                    <a:solidFill>
                      <a:srgbClr val="142238"/>
                    </a:solidFill>
                  </a:tcPr>
                </a:tc>
                <a:tc>
                  <a:txBody>
                    <a:bodyPr lIns="133350" tIns="133350" rIns="133350" bIns="133350">
                      <a:noAutofit/>
                    </a:bodyPr>
                    <a:lstStyle/>
                    <a:p>
                      <a:r>
                        <a:rPr sz="1875" b="1">
                          <a:solidFill>
                            <a:srgbClr val="FFFFFF"/>
                          </a:solidFill>
                          <a:latin typeface="Malgun Gothic"/>
                          <a:ea typeface="Malgun Gothic"/>
                          <a:cs typeface="Malgun Gothic"/>
                        </a:rPr>
                        <a:t>비교 방법</a:t>
                      </a:r>
                    </a:p>
                  </a:txBody>
                  <a:tcPr marL="91440" marR="91440" marT="45720" marB="45720" anchor="ctr">
                    <a:lnR w="9525">
                      <a:solidFill>
                        <a:srgbClr val="D8DFE8"/>
                      </a:solidFill>
                    </a:lnR>
                    <a:lnT w="9525">
                      <a:solidFill>
                        <a:srgbClr val="D8DFE8"/>
                      </a:solidFill>
                    </a:lnT>
                    <a:lnB w="9525">
                      <a:solidFill>
                        <a:srgbClr val="D8DFE8"/>
                      </a:solidFill>
                    </a:lnB>
                    <a:solidFill>
                      <a:srgbClr val="142238"/>
                    </a:solidFill>
                  </a:tcPr>
                </a:tc>
              </a:tr>
              <a:tr h="933450">
                <a:tc>
                  <a:txBody>
                    <a:bodyPr lIns="133350" tIns="133350" rIns="133350" bIns="133350">
                      <a:noAutofit/>
                    </a:bodyPr>
                    <a:lstStyle/>
                    <a:p>
                      <a:r>
                        <a:rPr sz="1875" b="0">
                          <a:solidFill>
                            <a:srgbClr val="142238"/>
                          </a:solidFill>
                          <a:latin typeface="Malgun Gothic"/>
                          <a:ea typeface="Malgun Gothic"/>
                          <a:cs typeface="Malgun Gothic"/>
                        </a:rPr>
                        <a:t>사례 탐색 시간 단축</a:t>
                      </a:r>
                    </a:p>
                  </a:txBody>
                  <a:tcPr marL="91440" marR="91440" marT="45720" marB="45720" anchor="ctr">
                    <a:lnL w="9525">
                      <a:solidFill>
                        <a:srgbClr val="D8DFE8"/>
                      </a:solidFill>
                    </a:lnL>
                    <a:lnR w="9525">
                      <a:solidFill>
                        <a:srgbClr val="D8DFE8"/>
                      </a:solidFill>
                    </a:lnR>
                    <a:lnB w="9525">
                      <a:solidFill>
                        <a:srgbClr val="D8DFE8"/>
                      </a:solidFill>
                    </a:lnB>
                    <a:solidFill>
                      <a:srgbClr val="FFFFFF"/>
                    </a:solidFill>
                  </a:tcPr>
                </a:tc>
                <a:tc>
                  <a:txBody>
                    <a:bodyPr lIns="133350" tIns="133350" rIns="133350" bIns="133350">
                      <a:noAutofit/>
                    </a:bodyPr>
                    <a:lstStyle/>
                    <a:p>
                      <a:r>
                        <a:rPr sz="1875" b="0">
                          <a:solidFill>
                            <a:srgbClr val="142238"/>
                          </a:solidFill>
                          <a:latin typeface="Malgun Gothic"/>
                          <a:ea typeface="Malgun Gothic"/>
                          <a:cs typeface="Malgun Gothic"/>
                        </a:rPr>
                        <a:t>정답 근거를 찾는 데 걸린 시간</a:t>
                      </a:r>
                    </a:p>
                  </a:txBody>
                  <a:tcPr marL="91440" marR="91440" marT="45720" marB="45720" anchor="ctr">
                    <a:lnR w="9525">
                      <a:solidFill>
                        <a:srgbClr val="D8DFE8"/>
                      </a:solidFill>
                    </a:lnR>
                    <a:lnB w="9525">
                      <a:solidFill>
                        <a:srgbClr val="D8DFE8"/>
                      </a:solidFill>
                    </a:lnB>
                    <a:solidFill>
                      <a:srgbClr val="FFFFFF"/>
                    </a:solidFill>
                  </a:tcPr>
                </a:tc>
                <a:tc>
                  <a:txBody>
                    <a:bodyPr lIns="133350" tIns="133350" rIns="133350" bIns="133350">
                      <a:noAutofit/>
                    </a:bodyPr>
                    <a:lstStyle/>
                    <a:p>
                      <a:r>
                        <a:rPr sz="1875" b="0">
                          <a:solidFill>
                            <a:srgbClr val="142238"/>
                          </a:solidFill>
                          <a:latin typeface="Malgun Gothic"/>
                          <a:ea typeface="Malgun Gothic"/>
                          <a:cs typeface="Malgun Gothic"/>
                        </a:rPr>
                        <a:t>기존 </a:t>
                      </a:r>
                      <a:r>
                        <a:rPr sz="1875" b="0">
                          <a:solidFill>
                            <a:srgbClr val="142238"/>
                          </a:solidFill>
                          <a:latin typeface="Times New Roman"/>
                          <a:ea typeface="Times New Roman"/>
                          <a:cs typeface="Times New Roman"/>
                        </a:rPr>
                        <a:t>Excel </a:t>
                      </a:r>
                      <a:r>
                        <a:rPr sz="1875" b="0">
                          <a:solidFill>
                            <a:srgbClr val="142238"/>
                          </a:solidFill>
                          <a:latin typeface="Malgun Gothic"/>
                          <a:ea typeface="Malgun Gothic"/>
                          <a:cs typeface="Malgun Gothic"/>
                        </a:rPr>
                        <a:t>검색과 동일 과제 비교</a:t>
                      </a:r>
                    </a:p>
                  </a:txBody>
                  <a:tcPr marL="91440" marR="91440" marT="45720" marB="45720" anchor="ctr">
                    <a:lnR w="9525">
                      <a:solidFill>
                        <a:srgbClr val="D8DFE8"/>
                      </a:solidFill>
                    </a:lnR>
                    <a:lnB w="9525">
                      <a:solidFill>
                        <a:srgbClr val="D8DFE8"/>
                      </a:solidFill>
                    </a:lnB>
                    <a:solidFill>
                      <a:srgbClr val="FFFFFF"/>
                    </a:solidFill>
                  </a:tcPr>
                </a:tc>
              </a:tr>
              <a:tr h="1114425">
                <a:tc>
                  <a:txBody>
                    <a:bodyPr lIns="133350" tIns="133350" rIns="133350" bIns="133350">
                      <a:noAutofit/>
                    </a:bodyPr>
                    <a:lstStyle/>
                    <a:p>
                      <a:r>
                        <a:rPr sz="1875" b="0">
                          <a:solidFill>
                            <a:srgbClr val="142238"/>
                          </a:solidFill>
                          <a:latin typeface="Malgun Gothic"/>
                          <a:ea typeface="Malgun Gothic"/>
                          <a:cs typeface="Malgun Gothic"/>
                        </a:rPr>
                        <a:t>조치 이력의 정확한 재사용</a:t>
                      </a:r>
                    </a:p>
                  </a:txBody>
                  <a:tcPr marL="91440" marR="91440" marT="45720" marB="45720" anchor="ctr">
                    <a:lnL w="9525">
                      <a:solidFill>
                        <a:srgbClr val="D8DFE8"/>
                      </a:solidFill>
                    </a:lnL>
                    <a:lnR w="9525">
                      <a:solidFill>
                        <a:srgbClr val="D8DFE8"/>
                      </a:solidFill>
                    </a:lnR>
                    <a:lnB w="9525">
                      <a:solidFill>
                        <a:srgbClr val="D8DFE8"/>
                      </a:solidFill>
                    </a:lnB>
                    <a:solidFill>
                      <a:srgbClr val="F6F8FB"/>
                    </a:solidFill>
                  </a:tcPr>
                </a:tc>
                <a:tc>
                  <a:txBody>
                    <a:bodyPr lIns="133350" tIns="133350" rIns="133350" bIns="133350">
                      <a:noAutofit/>
                    </a:bodyPr>
                    <a:lstStyle/>
                    <a:p>
                      <a:r>
                        <a:rPr sz="1875" b="0">
                          <a:solidFill>
                            <a:srgbClr val="142238"/>
                          </a:solidFill>
                          <a:latin typeface="Malgun Gothic"/>
                          <a:ea typeface="Malgun Gothic"/>
                          <a:cs typeface="Malgun Gothic"/>
                        </a:rPr>
                        <a:t>상위 </a:t>
                      </a:r>
                      <a:r>
                        <a:rPr sz="1875" b="0">
                          <a:solidFill>
                            <a:srgbClr val="142238"/>
                          </a:solidFill>
                          <a:latin typeface="Times New Roman"/>
                          <a:ea typeface="Times New Roman"/>
                          <a:cs typeface="Times New Roman"/>
                        </a:rPr>
                        <a:t>5</a:t>
                      </a:r>
                      <a:r>
                        <a:rPr sz="1875" b="0">
                          <a:solidFill>
                            <a:srgbClr val="142238"/>
                          </a:solidFill>
                          <a:latin typeface="Malgun Gothic"/>
                          <a:ea typeface="Malgun Gothic"/>
                          <a:cs typeface="Malgun Gothic"/>
                        </a:rPr>
                        <a:t>개 정답 포함률</a:t>
                      </a:r>
                    </a:p>
                    <a:p>
                      <a:r>
                        <a:rPr sz="1875" b="0">
                          <a:solidFill>
                            <a:srgbClr val="142238"/>
                          </a:solidFill>
                          <a:latin typeface="Malgun Gothic"/>
                          <a:ea typeface="Malgun Gothic"/>
                          <a:cs typeface="Malgun Gothic"/>
                        </a:rPr>
                        <a:t>잘못된 조치 안내 건수</a:t>
                      </a:r>
                    </a:p>
                  </a:txBody>
                  <a:tcPr marL="91440" marR="91440" marT="45720" marB="45720" anchor="ctr">
                    <a:lnR w="9525">
                      <a:solidFill>
                        <a:srgbClr val="D8DFE8"/>
                      </a:solidFill>
                    </a:lnR>
                    <a:lnB w="9525">
                      <a:solidFill>
                        <a:srgbClr val="D8DFE8"/>
                      </a:solidFill>
                    </a:lnB>
                    <a:solidFill>
                      <a:srgbClr val="F6F8FB"/>
                    </a:solidFill>
                  </a:tcPr>
                </a:tc>
                <a:tc>
                  <a:txBody>
                    <a:bodyPr lIns="133350" tIns="133350" rIns="133350" bIns="133350">
                      <a:noAutofit/>
                    </a:bodyPr>
                    <a:lstStyle/>
                    <a:p>
                      <a:r>
                        <a:rPr sz="1875" b="0">
                          <a:solidFill>
                            <a:srgbClr val="142238"/>
                          </a:solidFill>
                          <a:latin typeface="Malgun Gothic"/>
                          <a:ea typeface="Malgun Gothic"/>
                          <a:cs typeface="Malgun Gothic"/>
                        </a:rPr>
                        <a:t>개발에 쓰지 않은 질문을</a:t>
                      </a:r>
                    </a:p>
                    <a:p>
                      <a:r>
                        <a:rPr sz="1875" b="0">
                          <a:solidFill>
                            <a:srgbClr val="142238"/>
                          </a:solidFill>
                          <a:latin typeface="Malgun Gothic"/>
                          <a:ea typeface="Malgun Gothic"/>
                          <a:cs typeface="Malgun Gothic"/>
                        </a:rPr>
                        <a:t>담당자가 원문 기준으로 판정</a:t>
                      </a:r>
                    </a:p>
                  </a:txBody>
                  <a:tcPr marL="91440" marR="91440" marT="45720" marB="45720" anchor="ctr">
                    <a:lnR w="9525">
                      <a:solidFill>
                        <a:srgbClr val="D8DFE8"/>
                      </a:solidFill>
                    </a:lnR>
                    <a:lnB w="9525">
                      <a:solidFill>
                        <a:srgbClr val="D8DFE8"/>
                      </a:solidFill>
                    </a:lnB>
                    <a:solidFill>
                      <a:srgbClr val="F6F8FB"/>
                    </a:solidFill>
                  </a:tcPr>
                </a:tc>
              </a:tr>
              <a:tr h="1114425">
                <a:tc>
                  <a:txBody>
                    <a:bodyPr lIns="133350" tIns="133350" rIns="133350" bIns="133350">
                      <a:noAutofit/>
                    </a:bodyPr>
                    <a:lstStyle/>
                    <a:p>
                      <a:r>
                        <a:rPr sz="1875" b="0">
                          <a:solidFill>
                            <a:srgbClr val="142238"/>
                          </a:solidFill>
                          <a:latin typeface="Malgun Gothic"/>
                          <a:ea typeface="Malgun Gothic"/>
                          <a:cs typeface="Malgun Gothic"/>
                        </a:rPr>
                        <a:t>타 설비군으로 확산</a:t>
                      </a:r>
                    </a:p>
                  </a:txBody>
                  <a:tcPr marL="91440" marR="91440" marT="45720" marB="45720" anchor="ctr">
                    <a:lnL w="9525">
                      <a:solidFill>
                        <a:srgbClr val="D8DFE8"/>
                      </a:solidFill>
                    </a:lnL>
                    <a:lnR w="9525">
                      <a:solidFill>
                        <a:srgbClr val="D8DFE8"/>
                      </a:solidFill>
                    </a:lnR>
                    <a:lnB w="9525">
                      <a:solidFill>
                        <a:srgbClr val="D8DFE8"/>
                      </a:solidFill>
                    </a:lnB>
                    <a:solidFill>
                      <a:srgbClr val="FFFFFF"/>
                    </a:solidFill>
                  </a:tcPr>
                </a:tc>
                <a:tc>
                  <a:txBody>
                    <a:bodyPr lIns="133350" tIns="133350" rIns="133350" bIns="133350">
                      <a:noAutofit/>
                    </a:bodyPr>
                    <a:lstStyle/>
                    <a:p>
                      <a:r>
                        <a:rPr sz="1875" b="0">
                          <a:solidFill>
                            <a:srgbClr val="142238"/>
                          </a:solidFill>
                          <a:latin typeface="Malgun Gothic"/>
                          <a:ea typeface="Malgun Gothic"/>
                          <a:cs typeface="Malgun Gothic"/>
                        </a:rPr>
                        <a:t>다른 설비군의 누락·오답</a:t>
                      </a:r>
                    </a:p>
                    <a:p>
                      <a:r>
                        <a:rPr sz="1875" b="0">
                          <a:solidFill>
                            <a:srgbClr val="142238"/>
                          </a:solidFill>
                          <a:latin typeface="Malgun Gothic"/>
                          <a:ea typeface="Malgun Gothic"/>
                          <a:cs typeface="Malgun Gothic"/>
                        </a:rPr>
                        <a:t>이력 재사용 사례 수</a:t>
                      </a:r>
                    </a:p>
                  </a:txBody>
                  <a:tcPr marL="91440" marR="91440" marT="45720" marB="45720" anchor="ctr">
                    <a:lnR w="9525">
                      <a:solidFill>
                        <a:srgbClr val="D8DFE8"/>
                      </a:solidFill>
                    </a:lnR>
                    <a:lnB w="9525">
                      <a:solidFill>
                        <a:srgbClr val="D8DFE8"/>
                      </a:solidFill>
                    </a:lnB>
                    <a:solidFill>
                      <a:srgbClr val="FFFFFF"/>
                    </a:solidFill>
                  </a:tcPr>
                </a:tc>
                <a:tc>
                  <a:txBody>
                    <a:bodyPr lIns="133350" tIns="133350" rIns="133350" bIns="133350">
                      <a:noAutofit/>
                    </a:bodyPr>
                    <a:lstStyle/>
                    <a:p>
                      <a:r>
                        <a:rPr sz="1875" b="0">
                          <a:solidFill>
                            <a:srgbClr val="142238"/>
                          </a:solidFill>
                          <a:latin typeface="Malgun Gothic"/>
                          <a:ea typeface="Malgun Gothic"/>
                          <a:cs typeface="Malgun Gothic"/>
                        </a:rPr>
                        <a:t>설비군을 나누어 결과 확인</a:t>
                      </a:r>
                    </a:p>
                  </a:txBody>
                  <a:tcPr marL="91440" marR="91440" marT="45720" marB="45720" anchor="ctr">
                    <a:lnR w="9525">
                      <a:solidFill>
                        <a:srgbClr val="D8DFE8"/>
                      </a:solidFill>
                    </a:lnR>
                    <a:lnB w="9525">
                      <a:solidFill>
                        <a:srgbClr val="D8DFE8"/>
                      </a:solidFill>
                    </a:lnB>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C7C968EC-1841-42B2-9DE4-9E62D67899D1}"/>
              </a:ext>
            </a:extLst>
          </p:cNvPr>
          <p:cNvSpPr>
            <a:spLocks xmlns:a="http://schemas.openxmlformats.org/drawingml/2006/main" noGrp="1"/>
          </p:cNvSpPr>
          <p:nvPr/>
        </p:nvSpPr>
        <p:spPr>
          <a:xfrm xmlns:a="http://schemas.openxmlformats.org/drawingml/2006/main">
            <a:off x="657225" y="5791200"/>
            <a:ext cx="106584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1459C7"/>
                </a:solidFill>
                <a:latin typeface="Malgun Gothic"/>
                <a:ea typeface="Malgun Gothic"/>
                <a:cs typeface="Malgun Gothic"/>
              </a:defRPr>
            </a:defPPr>
          </a:lstStyle>
          <a:p xmlns:a="http://schemas.openxmlformats.org/drawingml/2006/main">
            <a:pPr algn="l">
              <a:defRPr sz="2250" b="1">
                <a:solidFill>
                  <a:srgbClr val="1459C7"/>
                </a:solidFill>
                <a:latin typeface="Malgun Gothic"/>
                <a:ea typeface="Malgun Gothic"/>
                <a:cs typeface="Malgun Gothic"/>
              </a:defRPr>
            </a:pPr>
            <a:r>
              <a:rPr sz="2250" b="1">
                <a:solidFill>
                  <a:srgbClr val="1459C7"/>
                </a:solidFill>
                <a:latin typeface="Malgun Gothic"/>
                <a:ea typeface="Malgun Gothic"/>
                <a:cs typeface="Malgun Gothic"/>
              </a:rPr>
              <a:t>시간 절감 효과 = 조회 횟수 × 건당 절감 시간</a:t>
            </a:r>
          </a:p>
        </p:txBody>
      </p:sp>
    </p:spTree>
    <p:extLst>
      <p:ext uri="{BB962C8B-B14F-4D97-AF65-F5344CB8AC3E}">
        <p14:creationId xmlns:p14="http://schemas.microsoft.com/office/powerpoint/2010/main" val="460827428"/>
      </p:ext>
    </p:extLst>
  </p:cSld>
</p:sld>
</file>

<file path=ppt/slides/slide10.xml><?xml version="1.0" encoding="utf-8"?>
<p:sld xmlns:p="http://schemas.openxmlformats.org/presentationml/2006/main">
  <p:cSld>
    <p:bg>
      <p:bgPr>
        <a:solidFill xmlns:a="http://schemas.openxmlformats.org/drawingml/2006/main">
          <a:srgbClr val="142238"/>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958881E1-6DAD-40CB-A85B-33D06AFFBC01}"/>
              </a:ext>
            </a:extLst>
          </p:cNvPr>
          <p:cNvSpPr>
            <a:spLocks xmlns:a="http://schemas.openxmlformats.org/drawingml/2006/main" noGrp="1"/>
          </p:cNvSpPr>
          <p:nvPr/>
        </p:nvSpPr>
        <p:spPr>
          <a:xfrm xmlns:a="http://schemas.openxmlformats.org/drawingml/2006/main">
            <a:off x="609600" y="428625"/>
            <a:ext cx="1095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FFFFFF"/>
                </a:solidFill>
                <a:latin typeface="Malgun Gothic"/>
                <a:ea typeface="Malgun Gothic"/>
                <a:cs typeface="Malgun Gothic"/>
              </a:defRPr>
            </a:defPPr>
          </a:lstStyle>
          <a:p xmlns:a="http://schemas.openxmlformats.org/drawingml/2006/main">
            <a:pPr algn="l">
              <a:defRPr sz="3225" b="1">
                <a:solidFill>
                  <a:srgbClr val="FFFFFF"/>
                </a:solidFill>
                <a:latin typeface="Malgun Gothic"/>
                <a:ea typeface="Malgun Gothic"/>
                <a:cs typeface="Malgun Gothic"/>
              </a:defRPr>
            </a:pPr>
            <a:r>
              <a:rPr sz="3225" b="1">
                <a:solidFill>
                  <a:srgbClr val="FFFFFF"/>
                </a:solidFill>
                <a:latin typeface="Malgun Gothic"/>
                <a:ea typeface="Malgun Gothic"/>
                <a:cs typeface="Malgun Gothic"/>
              </a:rPr>
              <a:t>다음 단계는 현장 시범 적용</a:t>
            </a:r>
          </a:p>
        </p:txBody>
      </p:sp>
      <p:sp>
        <p:nvSpPr>
          <p:cNvPr id="2" name="">
            <a:extLst xmlns:a="http://schemas.openxmlformats.org/drawingml/2006/main">
              <a:ext uri="{FF2B5EF4-FFF2-40B4-BE49-F238E27FC236}">
                <a16:creationId xmlns:a16="http://schemas.microsoft.com/office/drawing/2014/main" id="{FE44C083-88B2-425C-97AF-DCE0B14306CC}"/>
              </a:ext>
            </a:extLst>
          </p:cNvPr>
          <p:cNvSpPr>
            <a:spLocks xmlns:a="http://schemas.openxmlformats.org/drawingml/2006/main" noGrp="1"/>
          </p:cNvSpPr>
          <p:nvPr/>
        </p:nvSpPr>
        <p:spPr>
          <a:xfrm xmlns:a="http://schemas.openxmlformats.org/drawingml/2006/main">
            <a:off x="628650" y="1066800"/>
            <a:ext cx="10896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C4D3E7"/>
                </a:solidFill>
                <a:latin typeface="Malgun Gothic"/>
                <a:ea typeface="Malgun Gothic"/>
                <a:cs typeface="Malgun Gothic"/>
              </a:defRPr>
            </a:defPPr>
          </a:lstStyle>
          <a:p xmlns:a="http://schemas.openxmlformats.org/drawingml/2006/main">
            <a:pPr algn="l">
              <a:defRPr sz="1725" b="0">
                <a:solidFill>
                  <a:srgbClr val="C4D3E7"/>
                </a:solidFill>
                <a:latin typeface="Malgun Gothic"/>
                <a:ea typeface="Malgun Gothic"/>
                <a:cs typeface="Malgun Gothic"/>
              </a:defRPr>
            </a:pPr>
            <a:r>
              <a:rPr sz="1725" b="0">
                <a:solidFill>
                  <a:srgbClr val="C4D3E7"/>
                </a:solidFill>
                <a:latin typeface="Times New Roman"/>
                <a:ea typeface="Times New Roman"/>
                <a:cs typeface="Times New Roman"/>
              </a:rPr>
              <a:t>CS </a:t>
            </a:r>
            <a:r>
              <a:rPr sz="1725" b="0">
                <a:solidFill>
                  <a:srgbClr val="C4D3E7"/>
                </a:solidFill>
                <a:latin typeface="Malgun Gothic"/>
                <a:ea typeface="Malgun Gothic"/>
                <a:cs typeface="Malgun Gothic"/>
              </a:rPr>
              <a:t>이력의 재사용을 돕는 서비스로 발전시키겠습니다.</a:t>
            </a:r>
          </a:p>
        </p:txBody>
      </p:sp>
      <p:sp>
        <p:nvSpPr>
          <p:cNvPr id="3" name="">
            <a:extLst xmlns:a="http://schemas.openxmlformats.org/drawingml/2006/main">
              <a:ext uri="{FF2B5EF4-FFF2-40B4-BE49-F238E27FC236}">
                <a16:creationId xmlns:a16="http://schemas.microsoft.com/office/drawing/2014/main" id="{7DE3FE70-9D3F-472B-8EAA-96B6AA8B7AB5}"/>
              </a:ext>
            </a:extLst>
          </p:cNvPr>
          <p:cNvSpPr>
            <a:spLocks xmlns:a="http://schemas.openxmlformats.org/drawingml/2006/main" noGrp="1"/>
          </p:cNvSpPr>
          <p:nvPr/>
        </p:nvSpPr>
        <p:spPr>
          <a:xfrm xmlns:a="http://schemas.openxmlformats.org/drawingml/2006/main">
            <a:off x="628650" y="6429375"/>
            <a:ext cx="10382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BACAE0"/>
                </a:solidFill>
                <a:latin typeface="Malgun Gothic"/>
                <a:ea typeface="Malgun Gothic"/>
                <a:cs typeface="Malgun Gothic"/>
              </a:defRPr>
            </a:defPPr>
          </a:lstStyle>
          <a:p xmlns:a="http://schemas.openxmlformats.org/drawingml/2006/main">
            <a:pPr algn="l">
              <a:defRPr sz="1200" b="0">
                <a:solidFill>
                  <a:srgbClr val="BACAE0"/>
                </a:solidFill>
                <a:latin typeface="Malgun Gothic"/>
                <a:ea typeface="Malgun Gothic"/>
                <a:cs typeface="Malgun Gothic"/>
              </a:defRPr>
            </a:pPr>
            <a:r>
              <a:rPr sz="1200" b="0">
                <a:solidFill>
                  <a:srgbClr val="BACAE0"/>
                </a:solidFill>
                <a:latin typeface="Times New Roman"/>
                <a:ea typeface="Times New Roman"/>
                <a:cs typeface="Times New Roman"/>
              </a:rPr>
              <a:t>2026.10.13 </a:t>
            </a:r>
            <a:r>
              <a:rPr sz="1200" b="0">
                <a:solidFill>
                  <a:srgbClr val="BACAE0"/>
                </a:solidFill>
                <a:latin typeface="Malgun Gothic"/>
                <a:ea typeface="Malgun Gothic"/>
                <a:cs typeface="Malgun Gothic"/>
              </a:rPr>
              <a:t>기준 · </a:t>
            </a:r>
            <a:r>
              <a:rPr sz="1200" b="0">
                <a:solidFill>
                  <a:srgbClr val="BACAE0"/>
                </a:solidFill>
                <a:latin typeface="Times New Roman"/>
                <a:ea typeface="Times New Roman"/>
                <a:cs typeface="Times New Roman"/>
              </a:rPr>
              <a:t>AI </a:t>
            </a:r>
            <a:r>
              <a:rPr sz="1200" b="0">
                <a:solidFill>
                  <a:srgbClr val="BACAE0"/>
                </a:solidFill>
                <a:latin typeface="Malgun Gothic"/>
                <a:ea typeface="Malgun Gothic"/>
                <a:cs typeface="Malgun Gothic"/>
              </a:rPr>
              <a:t>분과 별도 기준 공지 시 평가 항목과 증빙 연결을 조정</a:t>
            </a:r>
          </a:p>
        </p:txBody>
      </p:sp>
      <p:sp>
        <p:nvSpPr>
          <p:cNvPr id="4" name="">
            <a:extLst xmlns:a="http://schemas.openxmlformats.org/drawingml/2006/main">
              <a:ext uri="{FF2B5EF4-FFF2-40B4-BE49-F238E27FC236}">
                <a16:creationId xmlns:a16="http://schemas.microsoft.com/office/drawing/2014/main" id="{EFD967F5-164B-442B-B3A0-CF1BF1536577}"/>
              </a:ext>
            </a:extLst>
          </p:cNvPr>
          <p:cNvSpPr>
            <a:spLocks xmlns:a="http://schemas.openxmlformats.org/drawingml/2006/main" noGrp="1"/>
          </p:cNvSpPr>
          <p:nvPr/>
        </p:nvSpPr>
        <p:spPr>
          <a:xfrm xmlns:a="http://schemas.openxmlformats.org/drawingml/2006/main">
            <a:off x="11096625" y="6391275"/>
            <a:ext cx="4572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650" b="0">
                <a:solidFill>
                  <a:srgbClr val="BACAE0"/>
                </a:solidFill>
                <a:latin typeface="Malgun Gothic"/>
                <a:ea typeface="Malgun Gothic"/>
                <a:cs typeface="Malgun Gothic"/>
              </a:defRPr>
            </a:defPPr>
          </a:lstStyle>
          <a:p xmlns:a="http://schemas.openxmlformats.org/drawingml/2006/main">
            <a:pPr algn="r">
              <a:defRPr sz="1650" b="0">
                <a:solidFill>
                  <a:srgbClr val="BACAE0"/>
                </a:solidFill>
                <a:latin typeface="Malgun Gothic"/>
                <a:ea typeface="Malgun Gothic"/>
                <a:cs typeface="Malgun Gothic"/>
              </a:defRPr>
            </a:pPr>
            <a:r>
              <a:rPr sz="1650" b="0">
                <a:solidFill>
                  <a:srgbClr val="BACAE0"/>
                </a:solidFill>
                <a:latin typeface="Times New Roman"/>
                <a:ea typeface="Times New Roman"/>
                <a:cs typeface="Times New Roman"/>
              </a:rPr>
              <a:t>10</a:t>
            </a:r>
          </a:p>
        </p:txBody>
      </p:sp>
      <p:sp>
        <p:nvSpPr>
          <p:cNvPr id="5" name="">
            <a:extLst xmlns:a="http://schemas.openxmlformats.org/drawingml/2006/main">
              <a:ext uri="{FF2B5EF4-FFF2-40B4-BE49-F238E27FC236}">
                <a16:creationId xmlns:a16="http://schemas.microsoft.com/office/drawing/2014/main" id="{72D8037B-525B-4EA3-A318-852BA1FD0FA9}"/>
              </a:ext>
            </a:extLst>
          </p:cNvPr>
          <p:cNvSpPr>
            <a:spLocks xmlns:a="http://schemas.openxmlformats.org/drawingml/2006/main" noGrp="1"/>
          </p:cNvSpPr>
          <p:nvPr/>
        </p:nvSpPr>
        <p:spPr>
          <a:xfrm xmlns:a="http://schemas.openxmlformats.org/drawingml/2006/main">
            <a:off x="657225" y="2009775"/>
            <a:ext cx="107442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8FB6EF"/>
                </a:solidFill>
                <a:latin typeface="Malgun Gothic"/>
                <a:ea typeface="Malgun Gothic"/>
                <a:cs typeface="Malgun Gothic"/>
              </a:defRPr>
            </a:defPPr>
          </a:lstStyle>
          <a:p xmlns:a="http://schemas.openxmlformats.org/drawingml/2006/main">
            <a:pPr algn="l">
              <a:defRPr sz="2175" b="1">
                <a:solidFill>
                  <a:srgbClr val="8FB6EF"/>
                </a:solidFill>
                <a:latin typeface="Malgun Gothic"/>
                <a:ea typeface="Malgun Gothic"/>
                <a:cs typeface="Malgun Gothic"/>
              </a:defRPr>
            </a:pPr>
            <a:r>
              <a:rPr sz="2175" b="1">
                <a:solidFill>
                  <a:srgbClr val="8FB6EF"/>
                </a:solidFill>
                <a:latin typeface="Malgun Gothic"/>
                <a:ea typeface="Malgun Gothic"/>
                <a:cs typeface="Malgun Gothic"/>
              </a:rPr>
              <a:t>구현한 기능</a:t>
            </a:r>
          </a:p>
        </p:txBody>
      </p:sp>
      <p:sp>
        <p:nvSpPr>
          <p:cNvPr id="6" name="">
            <a:extLst xmlns:a="http://schemas.openxmlformats.org/drawingml/2006/main">
              <a:ext uri="{FF2B5EF4-FFF2-40B4-BE49-F238E27FC236}">
                <a16:creationId xmlns:a16="http://schemas.microsoft.com/office/drawing/2014/main" id="{0307981B-9B59-4445-8A48-144B02B29F8D}"/>
              </a:ext>
            </a:extLst>
          </p:cNvPr>
          <p:cNvSpPr>
            <a:spLocks xmlns:a="http://schemas.openxmlformats.org/drawingml/2006/main" noGrp="1"/>
          </p:cNvSpPr>
          <p:nvPr/>
        </p:nvSpPr>
        <p:spPr>
          <a:xfrm xmlns:a="http://schemas.openxmlformats.org/drawingml/2006/main">
            <a:off x="657225" y="2590800"/>
            <a:ext cx="1075372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850" b="1">
                <a:solidFill>
                  <a:srgbClr val="FFFFFF"/>
                </a:solidFill>
                <a:latin typeface="Malgun Gothic"/>
                <a:ea typeface="Malgun Gothic"/>
                <a:cs typeface="Malgun Gothic"/>
              </a:defRPr>
            </a:defPPr>
          </a:lstStyle>
          <a:p xmlns:a="http://schemas.openxmlformats.org/drawingml/2006/main">
            <a:pPr algn="l">
              <a:defRPr sz="2850" b="1">
                <a:solidFill>
                  <a:srgbClr val="FFFFFF"/>
                </a:solidFill>
                <a:latin typeface="Malgun Gothic"/>
                <a:ea typeface="Malgun Gothic"/>
                <a:cs typeface="Malgun Gothic"/>
              </a:defRPr>
            </a:pPr>
            <a:r>
              <a:rPr sz="2850" b="1">
                <a:solidFill>
                  <a:srgbClr val="FFFFFF"/>
                </a:solidFill>
                <a:latin typeface="Malgun Gothic"/>
                <a:ea typeface="Malgun Gothic"/>
                <a:cs typeface="Malgun Gothic"/>
              </a:rPr>
              <a:t>한국어 현상 검색, 원문 셀 인용, 작업 복구와 동시 질문</a:t>
            </a:r>
          </a:p>
        </p:txBody>
      </p:sp>
      <p:sp>
        <p:nvSpPr>
          <p:cNvPr id="7" name="">
            <a:extLst xmlns:a="http://schemas.openxmlformats.org/drawingml/2006/main">
              <a:ext uri="{FF2B5EF4-FFF2-40B4-BE49-F238E27FC236}">
                <a16:creationId xmlns:a16="http://schemas.microsoft.com/office/drawing/2014/main" id="{FE640181-7015-441D-8197-BBC378D500C7}"/>
              </a:ext>
            </a:extLst>
          </p:cNvPr>
          <p:cNvSpPr>
            <a:spLocks xmlns:a="http://schemas.openxmlformats.org/drawingml/2006/main" noGrp="1"/>
          </p:cNvSpPr>
          <p:nvPr/>
        </p:nvSpPr>
        <p:spPr>
          <a:xfrm xmlns:a="http://schemas.openxmlformats.org/drawingml/2006/main">
            <a:off x="657225" y="3800475"/>
            <a:ext cx="107442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8FB6EF"/>
                </a:solidFill>
                <a:latin typeface="Malgun Gothic"/>
                <a:ea typeface="Malgun Gothic"/>
                <a:cs typeface="Malgun Gothic"/>
              </a:defRPr>
            </a:defPPr>
          </a:lstStyle>
          <a:p xmlns:a="http://schemas.openxmlformats.org/drawingml/2006/main">
            <a:pPr algn="l">
              <a:defRPr sz="2175" b="1">
                <a:solidFill>
                  <a:srgbClr val="8FB6EF"/>
                </a:solidFill>
                <a:latin typeface="Malgun Gothic"/>
                <a:ea typeface="Malgun Gothic"/>
                <a:cs typeface="Malgun Gothic"/>
              </a:defRPr>
            </a:pPr>
            <a:r>
              <a:rPr sz="2175" b="1">
                <a:solidFill>
                  <a:srgbClr val="8FB6EF"/>
                </a:solidFill>
                <a:latin typeface="Malgun Gothic"/>
                <a:ea typeface="Malgun Gothic"/>
                <a:cs typeface="Malgun Gothic"/>
              </a:rPr>
              <a:t>확인할 성과</a:t>
            </a:r>
          </a:p>
        </p:txBody>
      </p:sp>
      <p:sp>
        <p:nvSpPr>
          <p:cNvPr id="8" name="">
            <a:extLst xmlns:a="http://schemas.openxmlformats.org/drawingml/2006/main">
              <a:ext uri="{FF2B5EF4-FFF2-40B4-BE49-F238E27FC236}">
                <a16:creationId xmlns:a16="http://schemas.microsoft.com/office/drawing/2014/main" id="{8478FFBD-A980-4942-BC36-3A5FAF41B70B}"/>
              </a:ext>
            </a:extLst>
          </p:cNvPr>
          <p:cNvSpPr>
            <a:spLocks xmlns:a="http://schemas.openxmlformats.org/drawingml/2006/main" noGrp="1"/>
          </p:cNvSpPr>
          <p:nvPr/>
        </p:nvSpPr>
        <p:spPr>
          <a:xfrm xmlns:a="http://schemas.openxmlformats.org/drawingml/2006/main">
            <a:off x="657225" y="4381500"/>
            <a:ext cx="1075372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FFFFFF"/>
                </a:solidFill>
                <a:latin typeface="Malgun Gothic"/>
                <a:ea typeface="Malgun Gothic"/>
                <a:cs typeface="Malgun Gothic"/>
              </a:defRPr>
            </a:defPPr>
          </a:lstStyle>
          <a:p xmlns:a="http://schemas.openxmlformats.org/drawingml/2006/main">
            <a:pPr algn="l">
              <a:defRPr sz="2700" b="1">
                <a:solidFill>
                  <a:srgbClr val="FFFFFF"/>
                </a:solidFill>
                <a:latin typeface="Malgun Gothic"/>
                <a:ea typeface="Malgun Gothic"/>
                <a:cs typeface="Malgun Gothic"/>
              </a:defRPr>
            </a:pPr>
            <a:r>
              <a:rPr sz="2700" b="1">
                <a:solidFill>
                  <a:srgbClr val="FFFFFF"/>
                </a:solidFill>
                <a:latin typeface="Malgun Gothic"/>
                <a:ea typeface="Malgun Gothic"/>
                <a:cs typeface="Malgun Gothic"/>
              </a:rPr>
              <a:t>실제 조치 정확성, 탐색 시간, </a:t>
            </a:r>
            <a:r>
              <a:rPr sz="2700" b="1">
                <a:solidFill>
                  <a:srgbClr val="FFFFFF"/>
                </a:solidFill>
                <a:latin typeface="Times New Roman"/>
                <a:ea typeface="Times New Roman"/>
                <a:cs typeface="Times New Roman"/>
              </a:rPr>
              <a:t>Windows </a:t>
            </a:r>
            <a:r>
              <a:rPr sz="2700" b="1">
                <a:solidFill>
                  <a:srgbClr val="FFFFFF"/>
                </a:solidFill>
                <a:latin typeface="Malgun Gothic"/>
                <a:ea typeface="Malgun Gothic"/>
                <a:cs typeface="Malgun Gothic"/>
              </a:rPr>
              <a:t>다중 사용자 운영</a:t>
            </a:r>
          </a:p>
        </p:txBody>
      </p:sp>
      <p:sp>
        <p:nvSpPr>
          <p:cNvPr id="9" name="">
            <a:extLst xmlns:a="http://schemas.openxmlformats.org/drawingml/2006/main">
              <a:ext uri="{FF2B5EF4-FFF2-40B4-BE49-F238E27FC236}">
                <a16:creationId xmlns:a16="http://schemas.microsoft.com/office/drawing/2014/main" id="{1CE1B6D5-AB0B-401C-84D2-1F7CB0E32F33}"/>
              </a:ext>
            </a:extLst>
          </p:cNvPr>
          <p:cNvSpPr>
            <a:spLocks xmlns:a="http://schemas.openxmlformats.org/drawingml/2006/main" noGrp="1"/>
          </p:cNvSpPr>
          <p:nvPr/>
        </p:nvSpPr>
        <p:spPr>
          <a:xfrm xmlns:a="http://schemas.openxmlformats.org/drawingml/2006/main">
            <a:off x="666750" y="5638800"/>
            <a:ext cx="107442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D3DEED"/>
                </a:solidFill>
                <a:latin typeface="Malgun Gothic"/>
                <a:ea typeface="Malgun Gothic"/>
                <a:cs typeface="Malgun Gothic"/>
              </a:defRPr>
            </a:defPPr>
          </a:lstStyle>
          <a:p xmlns:a="http://schemas.openxmlformats.org/drawingml/2006/main">
            <a:pPr algn="l">
              <a:defRPr sz="2025" b="0">
                <a:solidFill>
                  <a:srgbClr val="D3DEED"/>
                </a:solidFill>
                <a:latin typeface="Malgun Gothic"/>
                <a:ea typeface="Malgun Gothic"/>
                <a:cs typeface="Malgun Gothic"/>
              </a:defRPr>
            </a:pPr>
            <a:r>
              <a:rPr sz="2025" b="0">
                <a:solidFill>
                  <a:srgbClr val="D3DEED"/>
                </a:solidFill>
                <a:latin typeface="Malgun Gothic"/>
                <a:ea typeface="Malgun Gothic"/>
                <a:cs typeface="Malgun Gothic"/>
              </a:rPr>
              <a:t>시범 설비군과 평가 담당자를 정해 효과를 수치로 확인하겠습니다.</a:t>
            </a:r>
          </a:p>
        </p:txBody>
      </p:sp>
    </p:spTree>
    <p:extLst>
      <p:ext uri="{BB962C8B-B14F-4D97-AF65-F5344CB8AC3E}">
        <p14:creationId xmlns:p14="http://schemas.microsoft.com/office/powerpoint/2010/main" val="149757850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Times New Roman"/>
        <a:ea typeface=""/>
        <a:cs typeface=""/>
      </a:majorFont>
      <a:minorFont>
        <a:latin typeface="Times New Roman"/>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2026-10-13T05:48:32.4590000Z</dcterms:created>
  <dcterms:modified xsi:type="dcterms:W3CDTF">2026-10-13T05:48:32.4590000Z</dcterms:modified>
</coreProperties>
</file>