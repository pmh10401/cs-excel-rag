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e48cf9fc414cdd" /><Relationship Type="http://schemas.openxmlformats.org/officeDocument/2006/relationships/extended-properties" Target="/docProps/app.xml" Id="R650557ed5d0d4843" /><Relationship Type="http://schemas.openxmlformats.org/officeDocument/2006/relationships/officeDocument" Target="/ppt/presentation.xml" Id="R6089fe0180954f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abea95a2b4ed6"/>
  </p:sldMasterIdLst>
  <p:notesMasterIdLst>
    <p:notesMasterId xmlns:r="http://schemas.openxmlformats.org/officeDocument/2006/relationships" r:id="R17ef6caae6374dad"/>
  </p:notesMasterIdLst>
  <p:sldIdLst>
    <p:sldId xmlns:r="http://schemas.openxmlformats.org/officeDocument/2006/relationships" id="256" r:id="R3f2215c62b3c484b"/>
    <p:sldId xmlns:r="http://schemas.openxmlformats.org/officeDocument/2006/relationships" id="257" r:id="R87fe795e9f144fd7"/>
    <p:sldId xmlns:r="http://schemas.openxmlformats.org/officeDocument/2006/relationships" id="258" r:id="Rbb019c39fcc84fdb"/>
    <p:sldId xmlns:r="http://schemas.openxmlformats.org/officeDocument/2006/relationships" id="259" r:id="R4abbfb018f8f4bff"/>
    <p:sldId xmlns:r="http://schemas.openxmlformats.org/officeDocument/2006/relationships" id="260" r:id="Rcaea000c286740e7"/>
    <p:sldId xmlns:r="http://schemas.openxmlformats.org/officeDocument/2006/relationships" id="261" r:id="R062850f8c2bf40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f973342184214" /><Relationship Type="http://schemas.openxmlformats.org/officeDocument/2006/relationships/slideMaster" Target="/ppt/slideMasters/slideMaster1.xml" Id="R845abea95a2b4ed6" /><Relationship Type="http://schemas.openxmlformats.org/officeDocument/2006/relationships/notesMaster" Target="/ppt/notesMasters/notesMaster1.xml" Id="R17ef6caae6374dad" /><Relationship Type="http://schemas.openxmlformats.org/officeDocument/2006/relationships/presProps" Target="/ppt/presProps.xml" Id="Re06fc629f9614e33" /><Relationship Type="http://schemas.openxmlformats.org/officeDocument/2006/relationships/tableStyles" Target="/ppt/tableStyles.xml" Id="R473a88749ed94d9f" /><Relationship Type="http://schemas.openxmlformats.org/officeDocument/2006/relationships/slide" Target="/ppt/slides/slide1.xml" Id="R3f2215c62b3c484b" /><Relationship Type="http://schemas.openxmlformats.org/officeDocument/2006/relationships/slide" Target="/ppt/slides/slide2.xml" Id="R87fe795e9f144fd7" /><Relationship Type="http://schemas.openxmlformats.org/officeDocument/2006/relationships/slide" Target="/ppt/slides/slide3.xml" Id="Rbb019c39fcc84fdb" /><Relationship Type="http://schemas.openxmlformats.org/officeDocument/2006/relationships/slide" Target="/ppt/slides/slide4.xml" Id="R4abbfb018f8f4bff" /><Relationship Type="http://schemas.openxmlformats.org/officeDocument/2006/relationships/slide" Target="/ppt/slides/slide5.xml" Id="Rcaea000c286740e7" /><Relationship Type="http://schemas.openxmlformats.org/officeDocument/2006/relationships/slide" Target="/ppt/slides/slide6.xml" Id="R062850f8c2bf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410d56c4f46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6acb42be84f01" /><Relationship Type="http://schemas.openxmlformats.org/officeDocument/2006/relationships/notesMaster" Target="/ppt/notesMasters/notesMaster1.xml" Id="R1eebd1449e3d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d762ed5ddb4dbd" /><Relationship Type="http://schemas.openxmlformats.org/officeDocument/2006/relationships/notesMaster" Target="/ppt/notesMasters/notesMaster1.xml" Id="R01116fa51e53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7af94f1e504cf4" /><Relationship Type="http://schemas.openxmlformats.org/officeDocument/2006/relationships/notesMaster" Target="/ppt/notesMasters/notesMaster1.xml" Id="Rc598870d1b9f45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e0622dbd07438e" /><Relationship Type="http://schemas.openxmlformats.org/officeDocument/2006/relationships/notesMaster" Target="/ppt/notesMasters/notesMaster1.xml" Id="R0962b1ee602149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4e5184b46b4499" /><Relationship Type="http://schemas.openxmlformats.org/officeDocument/2006/relationships/notesMaster" Target="/ppt/notesMasters/notesMaster1.xml" Id="R66e51bc66408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8dc7ace0b34e87" /><Relationship Type="http://schemas.openxmlformats.org/officeDocument/2006/relationships/notesMaster" Target="/ppt/notesMasters/notesMaster1.xml" Id="R048dca2204c3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별첨 증빙. 본문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장과 분리한 참고 자료입니다.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모델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revision 5a195dc147926b63b1d139691ed4480ca9f92c0e.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커뮤니티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MLX 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비트 변환본이며 공급자의 원본 런타임 결과와 구분합니다. 기존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contrast-01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~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08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전체, 결과를 보고 문항을 선별하지 않았습니다. 후보 순서 편향과 반복 안정성은 시험하지 않았습니다.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E7. 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조건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대조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https://github.com/pmh10401/cs-excel-rag/blob/main/docs/Clef-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발표-조건비교-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20261014.md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기존 개발 질문의 유사 현상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전부. 저장된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Gemma 2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 후보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 고정. 현재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프롬프트,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MLX GPU 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비트. 소규모 검색 순서 진단이며 최종 답변·현장 정확도는 평가하지 않음.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E8. Cloudflare Clef-flash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모델 카드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https://huggingface.co/Cloudflare/clef-flash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상태와 질문 스키마를 읽어 허용 선택지의 확률을 출력하는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9B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판단 모델. 공급자 벤치마크와 지연을 본 시스템 성과로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별첨 증빙. 본문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장과 분리한 참고 자료입니다.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호출 시간은 모델 적재·추론·응답 처리를 포함합니다. 각 호출에서 모델을 새로 적재했으며 실제 서비스의 전체 응답 시간이나 순수 추론 시간으로 해석하지 않습니다. 순수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worker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추론은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5.073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~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7.375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초였습니다. 한국어 개발 질문의 특정 소규모 유형으로, 독립적인 현장 평가가 아닙니다.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E7. 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조건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대조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https://github.com/pmh10401/cs-excel-rag/blob/main/docs/Clef-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발표-조건비교-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20261014.md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기존 개발 질문의 유사 현상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전부. 저장된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Gemma 2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 후보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 고정. 현재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프롬프트,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MLX GPU 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비트. 소규모 검색 순서 진단이며 최종 답변·현장 정확도는 평가하지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별첨 증빙. 본문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장과 분리한 참고 자료입니다.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원문 위치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cslist_100000.xlsx / CSList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!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BR17341.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현상은 같은 행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AK17341,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제목은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B17341.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이 원문은 가상 데이터이며 실제 설비 처방이나 조치 성공률을 입증하지 않습니다. 모델은 관련성 순서를 반환했고 선택 이유의 자연어 설명은 반환하지 않았습니다.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E7. 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조건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대조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https://github.com/pmh10401/cs-excel-rag/blob/main/docs/Clef-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발표-조건비교-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20261014.md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기존 개발 질문의 유사 현상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전부. 저장된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Gemma 2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 후보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 고정. 현재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프롬프트,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MLX GPU 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비트. 소규모 검색 순서 진단이며 최종 답변·현장 정확도는 평가하지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별첨 증빙. 본문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장과 분리한 참고 자료입니다.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표는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windows-demo/relation_sample.xlsx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의 네 원문 행에서 발췌했습니다. 그래프는 이름 역할별 공통 노드만 병합하며 상세 원문을 합치지 않습니다. 관계 보완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41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중 정답있는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34,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정답없는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3,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숫자·부정 등 보호조건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문항입니다. 그래프 표시의 편의성 자체를 검색 품질 개선으로 해석하지 않습니다.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E1.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제품 구조와 원문 보존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전체-프로그램-플로우.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현 구조, 원문·상세·셀 인용, 선택적 번역·재정렬. 실제 정확도나 특허 신규성 증거가 아님.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E3.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원문 관계 보완 비교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관계검색-비교-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20261007.md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2,000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합성 상세,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41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중 정답있는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개. 첫 정답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32/34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와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34/34.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정답없는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중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개는 두방식 모두 유사후보를 반환.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별첨 증빙. 본문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장과 분리한 참고 자료입니다.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첫 정답은 검색 첫 후보가 사전에 고정한 사례 유형과 일치하는지 평가합니다. 공급자 벤치마크, 다른 산업 평가와 본 시스템의 수치를 혼용하지 않습니다. 비용 절감,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MTTR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개선, 선진사 비교와 특허성은 확인되지 않았습니다.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E2. 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만 합성 자료 검색 비교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임베딩-품질비교-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20261007.md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고정 개발 질문 중 정답 있는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44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개. 키워드 첫 정답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28/44, Qwen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39/44, EmbeddingGemma 2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35/44.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최종 답변은 평가하지 않음.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E3.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원문 관계 보완 비교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관계검색-비교-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20261007.md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2,000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합성 상세,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41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중 정답있는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개. 첫 정답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32/34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와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34/34.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정답없는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중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개는 두방식 모두 유사후보를 반환.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E4.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작업 복구와 동시 질문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임원보고서.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Mac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·모의 모델. 작업 복구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건과 동시 처리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 통과.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Windows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실기기/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DRM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및 실제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120B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부하 미확인.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E7. 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조건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대조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https://github.com/pmh10401/cs-excel-rag/blob/main/docs/Clef-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발표-조건비교-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20261014.md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기존 개발 질문의 유사 현상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전부. 저장된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Gemma 2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 후보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 고정. 현재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프롬프트,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MLX GPU 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비트. 소규모 검색 순서 진단이며 최종 답변·현장 정확도는 평가하지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별첨 증빙. 본문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장과 분리한 참고 자료입니다.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현장 시험은 제안이며 아직 시행하지 않았습니다. 같은 담당자가 같은 질문을 반복할 때의 학습 효과를 줄이도록 조건과 제시 순서를 교대하고, 개발에 사용하지 않은 질문으로 평가해야 합니다. 새 모델에 테스트 정답을 전달하지 않습니다.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E1.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제품 구조와 원문 보존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전체-프로그램-플로우.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현 구조, 원문·상세·셀 인용, 선택적 번역·재정렬. 실제 정확도나 특허 신규성 증거가 아님.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E6.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제품화 목표와 남은 검증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https://github.com/pmh10401/cs-excel-rag/blob/df5fb7e036d74d2eff9180f6f2f99ab9ad33b2e9/docs/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제품화-설계-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20261013.md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Windows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사내서버+여러브라우저 목표. 사용자·관리자권한,운영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API,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현장정확도,실제부하 확인 필요. 문서 최초설계의 후속범위 중 동시질문은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E4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로 상태갱신.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E7. 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조건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대조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https://github.com/pmh10401/cs-excel-rag/blob/main/docs/Clef-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발표-조건비교-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20261014.md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기존 개발 질문의 유사 현상 구분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 전부. 저장된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Gemma 2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결합 후보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 고정. 현재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Clef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프롬프트,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MLX GPU 8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비트. 소규모 검색 순서 진단이며 최종 답변·현장 정확도는 평가하지 않음.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E8. Cloudflare Clef-flash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모델 카드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https://huggingface.co/Cloudflare/clef-flash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상태와 질문 스키마를 읽어 허용 선택지의 확률을 출력하는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9B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판단 모델. 공급자 벤치마크와 지연을 본 시스템 성과로 사용하지 않음.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E9. Sentence Transformers Retrieve 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&amp;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Re-Rank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https://www.sbert.net/examples/sentence_transformer/applications/retrieve_rerank/README.html</a:t>
            </a:r>
            <a:b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</a:b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검색 후 재정렬 자체는 기존에 널리 사용되는 구조. 여기서는 재정렬 없는 기본 </a:t>
            </a:r>
            <a:r>
              <a:rPr sz="12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RAG</a:t>
            </a:r>
            <a:r>
              <a:rPr sz="12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를 비교 대상으로 한정하며 다른 재정렬 모델 대비 우위는 검증하지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195c7f3f24f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85e2b56f84b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8817375f143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3ad04c3394e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d05cda43b44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34bcea2bf41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8EE4F4-ADF0-4DE2-9731-786320472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868B2C-D4CD-4065-88C0-3753C1D3CA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14A435-1985-4EA9-BAE1-EC12BDB2A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B95DE0-A1BE-44C6-A107-6A4555E31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C73897-E895-46AC-9966-825E901E68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5C6F6A-216A-489C-90F1-1A67A5DD9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E6BCE0-08B8-4814-BFA4-8E66B73E9E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C0A614-9951-4B6E-8D1F-9D494799B1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C1A866-4864-48AF-B965-ABD738F32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11000D-5172-41C9-A9CA-2DFF160C81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2f1e234894651" /><Relationship Type="http://schemas.openxmlformats.org/officeDocument/2006/relationships/slideLayout" Target="/ppt/slideLayouts/slideLayout1.xml" Id="R428540c636d94ce5" /><Relationship Type="http://schemas.openxmlformats.org/officeDocument/2006/relationships/slideLayout" Target="/ppt/slideLayouts/slideLayout2.xml" Id="R3a97bc60d91647d8" /><Relationship Type="http://schemas.openxmlformats.org/officeDocument/2006/relationships/slideLayout" Target="/ppt/slideLayouts/slideLayout3.xml" Id="Ra926154bc9d04ee2" /><Relationship Type="http://schemas.openxmlformats.org/officeDocument/2006/relationships/slideLayout" Target="/ppt/slideLayouts/slideLayout4.xml" Id="Rc51270edb4644904" /><Relationship Type="http://schemas.openxmlformats.org/officeDocument/2006/relationships/slideLayout" Target="/ppt/slideLayouts/slideLayout5.xml" Id="R04fbc89b4bb34f2c" /><Relationship Type="http://schemas.openxmlformats.org/officeDocument/2006/relationships/slideLayout" Target="/ppt/slideLayouts/slideLayout6.xml" Id="Rf27beeaf42a6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540c636d94ce5"/>
    <p:sldLayoutId xmlns:r="http://schemas.openxmlformats.org/officeDocument/2006/relationships" id="2147483650" r:id="R3a97bc60d91647d8"/>
    <p:sldLayoutId xmlns:r="http://schemas.openxmlformats.org/officeDocument/2006/relationships" id="2147483651" r:id="Ra926154bc9d04ee2"/>
    <p:sldLayoutId xmlns:r="http://schemas.openxmlformats.org/officeDocument/2006/relationships" id="2147483652" r:id="Rc51270edb4644904"/>
    <p:sldLayoutId xmlns:r="http://schemas.openxmlformats.org/officeDocument/2006/relationships" id="2147483653" r:id="R04fbc89b4bb34f2c"/>
    <p:sldLayoutId xmlns:r="http://schemas.openxmlformats.org/officeDocument/2006/relationships" id="2147483654" r:id="Rf27beeaf42a6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4be1d76594942" /><Relationship Type="http://schemas.openxmlformats.org/officeDocument/2006/relationships/notesSlide" Target="/ppt/notesSlides/notesSlide1.xml" Id="R6f3dd20d8f4c49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ed01c7225493d" /><Relationship Type="http://schemas.openxmlformats.org/officeDocument/2006/relationships/notesSlide" Target="/ppt/notesSlides/notesSlide2.xml" Id="Ref4e8089d973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ecb4359374243" /><Relationship Type="http://schemas.openxmlformats.org/officeDocument/2006/relationships/notesSlide" Target="/ppt/notesSlides/notesSlide3.xml" Id="R1790e13532ef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cc2920b0547d2" /><Relationship Type="http://schemas.openxmlformats.org/officeDocument/2006/relationships/notesSlide" Target="/ppt/notesSlides/notesSlide4.xml" Id="Rfced38c05d1d4b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3cfa588a64601" /><Relationship Type="http://schemas.openxmlformats.org/officeDocument/2006/relationships/notesSlide" Target="/ppt/notesSlides/notesSlide5.xml" Id="Rb4cb8529d02749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e9c8f4e114a59" /><Relationship Type="http://schemas.openxmlformats.org/officeDocument/2006/relationships/notesSlide" Target="/ppt/notesSlides/notesSlide6.xml" Id="Rd48469d7b3474e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EED51-20E9-472B-A7F4-E15BFDCF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A1  Clef 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비교 조건과 재현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88231-E977-436E-A9FB-E2D3005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개 질문은 기존 개발 평가의 “유사 현상 구분” 유형 전부이며, 실행 전에 목록을 고정했습니다.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615A5-6A98-4D2D-B6A4-DC03FCF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A1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4F1C5-CA09-4F3F-9996-E6C019B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6EC95-E9E8-4DE6-9FEC-896659C27EA6}"/>
              </a:ext>
            </a:extLst>
          </p:cNvPr>
          <p:cNvGraphicFramePr/>
          <p:nvPr/>
        </p:nvGraphicFramePr>
        <p:xfrm>
          <a:off xmlns:a="http://schemas.openxmlformats.org/drawingml/2006/main" x="628650" y="1800225"/>
          <a:ext xmlns:a="http://schemas.openxmlformats.org/drawingml/2006/main" cx="10934700" cy="4505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3550"/>
                <a:gridCol w="9201150"/>
              </a:tblGrid>
              <a:tr h="4572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고정한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809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2026.10.07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EmbeddingGemma 2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 검색 상위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질문·후보 원문·정답 기준을 그대로 사용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ragkit/clef.py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 프롬프트·응답 검사 사용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MLX GPU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clef-flash-8bit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각 문항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회, 순차 적재·해제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09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후보 정답 여부와 상위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정답 포함 여부 재계산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라벨은 모델에 전달하지 않음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분리한 범위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HTTP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대신 기존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GPU worker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를 직접 호출한 시험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검색·번역·답변 생성·학습·운영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DB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없음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09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보존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8/8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적용, 오류·누락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잘림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토큰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내용·원문·기존 결과와 코드 해시 일치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836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172EB-F2F5-4D9B-BB9B-A965EEA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A2  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전체 </a:t>
            </a: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문항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736E6-2E00-4A35-95AC-875EA0C6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정답은 질문에 맞는 합성 사례 유형입니다. 조치의 성공이나 최종 답변의 진실성을 뜻하지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C46DA-C247-4687-8657-BC967255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A2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4897-6619-4EC3-BF73-AD16D33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C7CE2-7057-4ADD-88F2-07AC52D3DDC8}"/>
              </a:ext>
            </a:extLst>
          </p:cNvPr>
          <p:cNvGraphicFramePr/>
          <p:nvPr/>
        </p:nvGraphicFramePr>
        <p:xfrm>
          <a:off xmlns:a="http://schemas.openxmlformats.org/drawingml/2006/main" x="628650" y="1781175"/>
          <a:ext xmlns:a="http://schemas.openxmlformats.org/drawingml/2006/main" cx="10934700" cy="3990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00600"/>
                <a:gridCol w="1428750"/>
                <a:gridCol w="1428750"/>
                <a:gridCol w="1952625"/>
                <a:gridCol w="1323975"/>
              </a:tblGrid>
              <a:tr h="4095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조건 요약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첫 정답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 첫 정답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전·후 상위 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 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흐름 정상 / 척 환수 고온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35.9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N2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밸브 닫힘 / 후단 압력 상승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31.1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진공 형성 정상 / 대기압 복귀 지연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32.2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배기 정상 / 컵 문 이동 시 경보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30.6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저압 아님 / 계기 낮게 표시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30.0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 문제 없음 / 가장자리 홈 미검출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32.1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누르지 않은 비상 정지 접점 단절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29.5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구동 정상 / 전원 차단 때 팔 처짐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30.1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42926-5B49-47D9-A5E8-74C0E8A8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72175"/>
            <a:ext cx="1083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합계: 첫 정답 </a:t>
            </a:r>
            <a:r>
              <a:rPr sz="2025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5/8 </a:t>
            </a: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2025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8/8 </a:t>
            </a: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· 상위 </a:t>
            </a:r>
            <a:r>
              <a:rPr sz="2025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개 정답 포함 </a:t>
            </a:r>
            <a:r>
              <a:rPr sz="2025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8/8 </a:t>
            </a: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2025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092547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62AB0-FA33-4AA8-8305-A446FC9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A3  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냉각수 질문의 후보 순서와 원문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DF352-B68F-40FB-9279-00A68B94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후보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개의 내용과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ID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는 동일합니다. 기존에도 정답 사례가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위와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위에 있었습니다.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2B45D-1CDB-4EF0-A881-2746F0E6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A3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9511F-8585-47A3-926C-09B0BDF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D6545-D924-4D13-AE9D-EFC854D2FF12}"/>
              </a:ext>
            </a:extLst>
          </p:cNvPr>
          <p:cNvGraphicFramePr/>
          <p:nvPr/>
        </p:nvGraphicFramePr>
        <p:xfrm>
          <a:off xmlns:a="http://schemas.openxmlformats.org/drawingml/2006/main" x="628650" y="1781175"/>
          <a:ext xmlns:a="http://schemas.openxmlformats.org/drawingml/2006/main" cx="109347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14700"/>
                <a:gridCol w="3609975"/>
                <a:gridCol w="1971675"/>
                <a:gridCol w="2038350"/>
              </a:tblGrid>
              <a:tr h="428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 유형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전 순위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후 순위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4572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CS-2026-01622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냉각수 저유량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CS-2026-82420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 쿨링 라인 고온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CS-2026-01322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냉각수 저유량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CS-2026-17340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 쿨링 라인 고온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CS-2026-00942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냉각수 저유량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A9695-C84C-4E7A-9119-746A86C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10829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새 </a:t>
            </a:r>
            <a:r>
              <a:rPr sz="1950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9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위의 근거: </a:t>
            </a:r>
            <a:r>
              <a:rPr sz="1950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CS-2026-17340 / </a:t>
            </a:r>
            <a:r>
              <a:rPr sz="19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작업</a:t>
            </a:r>
            <a:r>
              <a:rPr sz="1950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2 / </a:t>
            </a:r>
            <a:r>
              <a:rPr sz="19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조치내용(</a:t>
            </a:r>
            <a:r>
              <a:rPr sz="1950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0B49A-CE57-4582-BCF5-535A8B39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29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“냉매 배관 용접 보수 및 냉매 전량 완충, 펌프 오버홀 진행. 테스트 런 </a:t>
            </a:r>
            <a:r>
              <a:rPr sz="2025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sz="2025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분 동안 </a:t>
            </a:r>
            <a:r>
              <a:rPr sz="2025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22</a:t>
            </a:r>
            <a:r>
              <a:rPr sz="2025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도 유지.”</a:t>
            </a:r>
          </a:p>
        </p:txBody>
      </p:sp>
    </p:spTree>
    <p:extLst>
      <p:ext uri="{BB962C8B-B14F-4D97-AF65-F5344CB8AC3E}">
        <p14:creationId xmlns:p14="http://schemas.microsoft.com/office/powerpoint/2010/main" val="657338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7368A-974E-4E61-A98F-E3E6E1F3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A4  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원문 관계의 구조와 별도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EED87-8D9D-4D07-8BE3-8CCA24A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관계는 원문 이름·역할·상세/작업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ID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·셀 위치를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SQLite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에 보관합니다. 관계 추출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LLM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은 쓰지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04DE7-F587-4B43-A594-C87B6F1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A4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FF5A2-7E24-40CC-92E0-2786FD6D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2C71A-6813-43FD-B751-C9EDF76C1D6E}"/>
              </a:ext>
            </a:extLst>
          </p:cNvPr>
          <p:cNvGraphicFramePr/>
          <p:nvPr/>
        </p:nvGraphicFramePr>
        <p:xfrm>
          <a:off xmlns:a="http://schemas.openxmlformats.org/drawingml/2006/main" x="628650" y="1781175"/>
          <a:ext xmlns:a="http://schemas.openxmlformats.org/drawingml/2006/main" cx="10934700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6100"/>
                <a:gridCol w="4638675"/>
                <a:gridCol w="3209925"/>
              </a:tblGrid>
              <a:tr h="419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원문 상세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/ 모듈 / 부품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5905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CS-DEMO-001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구동벨트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세정장비 / 회전모듈 / 구동벨트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 예정, 결과 미기록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CS-DEMO-001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회전척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세정장비 / 회전모듈 / 회전척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정렬 후 진동 감소, 장기 재발 미확인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05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CS-DEMO-002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베어링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세정장비 / 회전모듈 / 베어링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 후 진동 재발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CS-DEMO-003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회전척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도포장비 / 회전모듈 / 회전척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 정렬 후 정상화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C48E8-ED17-4A2C-927D-DBF6956E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29200"/>
            <a:ext cx="10839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별도 관계 검색 비교: 첫 정답 </a:t>
            </a:r>
            <a:r>
              <a:rPr sz="2250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32/34 </a:t>
            </a:r>
            <a:r>
              <a:rPr sz="225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2250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34/34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370CD-1574-4312-B534-79EB6555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00700"/>
            <a:ext cx="10839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2,000 </a:t>
            </a: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합성 상세·정답 있는 </a:t>
            </a:r>
            <a:r>
              <a:rPr sz="18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34</a:t>
            </a: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문항 기준. </a:t>
            </a:r>
            <a:r>
              <a:rPr sz="18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Clef 8</a:t>
            </a: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문항 비교와 표본이 다릅니다.</a:t>
            </a:r>
          </a:p>
          <a:p xmlns:a="http://schemas.openxmlformats.org/drawingml/2006/main">
            <a:pPr algn="l">
              <a:def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정답 없는 별도 </a:t>
            </a:r>
            <a:r>
              <a:rPr sz="18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문항 중 </a:t>
            </a:r>
            <a:r>
              <a:rPr sz="18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개는 여전히 유사 후보를 반환했습니다.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66402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57D59-E73A-47BD-B46C-2CE144AB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A5  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검증 수치의 범위와 남은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CA93-F621-46E0-B1F7-C8BB1DF2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서로 다른 시험의 분모를 합치거나, 검색 순위를 최종 답변 정확도로 바꾸어 설명하지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795E2-12E9-4C36-A4CF-851FFF3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A5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613F2-FBE6-4763-A583-758307F8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18198-472D-4907-84EB-48A9ECE2722E}"/>
              </a:ext>
            </a:extLst>
          </p:cNvPr>
          <p:cNvGraphicFramePr/>
          <p:nvPr/>
        </p:nvGraphicFramePr>
        <p:xfrm>
          <a:off xmlns:a="http://schemas.openxmlformats.org/drawingml/2006/main" x="628650" y="1781175"/>
          <a:ext xmlns:a="http://schemas.openxmlformats.org/drawingml/2006/main" cx="109347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9925"/>
                <a:gridCol w="3333750"/>
                <a:gridCol w="4391025"/>
              </a:tblGrid>
              <a:tr h="4476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 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9906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Clef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판단 ·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2026.10.14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정답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5/8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8/8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상위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포함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8/8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8/8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개발 유형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개, 후보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유지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답변 생성·현장 평가 없음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 합성 검색 ·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2026.10.07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정답: 키워드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28/44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Qwen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39/44, Gemma 2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개발 질문의 정답 있는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44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Qwen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이 시험에서 우세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9906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관계 검색 ·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2026.10.07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정답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32/34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34/34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없는 질문의 오검색 남음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2,000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상세의 별도 시험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보기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 효과 측정과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복구·동시 질문 ·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2026.10.13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14/14,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처리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7/7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·모의 모델 기능 검사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부하·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DRM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433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90DDC-D625-4D82-9320-BB8F1DFD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A6  </a:t>
            </a:r>
            <a:r>
              <a:rPr sz="3150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기술별 출처와 현장 평가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474B5-A8D3-4122-AEF5-AE7CED00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전체 문서 링크와 실행 조건은 발표자 노트와 함께 제공한 원고에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A176-7145-4E93-9B83-0E4B60B9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A6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509BE-2287-4DA9-8794-40A5CEC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CF95A-88B9-44D0-A988-53533894814B}"/>
              </a:ext>
            </a:extLst>
          </p:cNvPr>
          <p:cNvGraphicFramePr/>
          <p:nvPr/>
        </p:nvGraphicFramePr>
        <p:xfrm>
          <a:off xmlns:a="http://schemas.openxmlformats.org/drawingml/2006/main" x="628650" y="1781175"/>
          <a:ext xmlns:a="http://schemas.openxmlformats.org/drawingml/2006/main" cx="109347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6025"/>
                <a:gridCol w="4600575"/>
                <a:gridCol w="3848100"/>
              </a:tblGrid>
              <a:tr h="4667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설명한 기술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자료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판단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10858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Clef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 판단 구조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Cloudflare/clef-flash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카드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ragkit/clef.py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GPU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재정렬 모델, 후보 순서 편향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현장 문항으로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관계와 상세 경계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ragkit/relations.py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 가상 샘플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관계검색-비교-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20261007.md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담당자가 실제 이름 표기와 연결 확인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원인·성공을 추정하지 않는지 점검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10858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운영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전체-프로그램-플로우.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md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제품화-설계-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20261013.md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 기능 검사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 DRM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·모델 대기·권한 구분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관리자와 여러 사용자 시범 운영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2D69F-22CA-46D2-8C34-C211993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67375"/>
            <a:ext cx="1083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제안: 한 설비군의 새 질문 </a:t>
            </a:r>
            <a:r>
              <a:rPr sz="2025" b="1">
                <a:solidFill>
                  <a:srgbClr val="1459C7"/>
                </a:solidFill>
                <a:latin typeface="Times New Roman"/>
                <a:ea typeface="Times New Roman"/>
                <a:cs typeface="Times New Roman"/>
              </a:rPr>
              <a:t>50</a:t>
            </a: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개, 원문 기준 정답을 담당자가 사전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5E34B-3940-4B91-9FB2-C30F96E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245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기존 </a:t>
            </a: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Excel </a:t>
            </a: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검색·</a:t>
            </a: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Clef </a:t>
            </a: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미적용·적용을 비교하고 탐색 시간·오조치 안내·근거 부족 응답을 함께 판정</a:t>
            </a:r>
          </a:p>
        </p:txBody>
      </p:sp>
    </p:spTree>
    <p:extLst>
      <p:ext uri="{BB962C8B-B14F-4D97-AF65-F5344CB8AC3E}">
        <p14:creationId xmlns:p14="http://schemas.microsoft.com/office/powerpoint/2010/main" val="505121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2026-10-13T23:33:59.2750000Z</dcterms:created>
  <dcterms:modified xsi:type="dcterms:W3CDTF">2026-10-13T23:33:59.2750000Z</dcterms:modified>
</coreProperties>
</file>