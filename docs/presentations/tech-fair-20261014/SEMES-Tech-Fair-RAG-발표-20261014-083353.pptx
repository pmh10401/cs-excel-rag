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f0a0361fb24e3c" /><Relationship Type="http://schemas.openxmlformats.org/officeDocument/2006/relationships/extended-properties" Target="/docProps/app.xml" Id="R21202045aa894ef4" /><Relationship Type="http://schemas.openxmlformats.org/officeDocument/2006/relationships/officeDocument" Target="/ppt/presentation.xml" Id="R877ac4adf244405b" /></Relationships>
</file>

<file path=ppt/presentation.xml><?xml version="1.0" encoding="utf-8"?>
<p:presentation xmlns:p="http://schemas.openxmlformats.org/presentationml/2006/main">
  <p:sldMasterIdLst>
    <p:sldMasterId xmlns:r="http://schemas.openxmlformats.org/officeDocument/2006/relationships" id="2147483648" r:id="R80529721c5844664"/>
  </p:sldMasterIdLst>
  <p:notesMasterIdLst>
    <p:notesMasterId xmlns:r="http://schemas.openxmlformats.org/officeDocument/2006/relationships" r:id="R46d00d04f65542c6"/>
  </p:notesMasterIdLst>
  <p:sldIdLst>
    <p:sldId xmlns:r="http://schemas.openxmlformats.org/officeDocument/2006/relationships" id="256" r:id="R13bc6d6a598a47f2"/>
    <p:sldId xmlns:r="http://schemas.openxmlformats.org/officeDocument/2006/relationships" id="257" r:id="R9cf5729feb054369"/>
    <p:sldId xmlns:r="http://schemas.openxmlformats.org/officeDocument/2006/relationships" id="258" r:id="R73007f4311054b45"/>
    <p:sldId xmlns:r="http://schemas.openxmlformats.org/officeDocument/2006/relationships" id="259" r:id="Rac9291effa9844ff"/>
    <p:sldId xmlns:r="http://schemas.openxmlformats.org/officeDocument/2006/relationships" id="260" r:id="R412476a20ce547a7"/>
    <p:sldId xmlns:r="http://schemas.openxmlformats.org/officeDocument/2006/relationships" id="261" r:id="R27059b81d45f468a"/>
    <p:sldId xmlns:r="http://schemas.openxmlformats.org/officeDocument/2006/relationships" id="262" r:id="R6fbe59112a674f5b"/>
    <p:sldId xmlns:r="http://schemas.openxmlformats.org/officeDocument/2006/relationships" id="263" r:id="R2195119b8a3c40da"/>
    <p:sldId xmlns:r="http://schemas.openxmlformats.org/officeDocument/2006/relationships" id="264" r:id="R5febf42e08704707"/>
    <p:sldId xmlns:r="http://schemas.openxmlformats.org/officeDocument/2006/relationships" id="265" r:id="R68cc92456ef340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39d5d09d9c499e" /><Relationship Type="http://schemas.openxmlformats.org/officeDocument/2006/relationships/slideMaster" Target="/ppt/slideMasters/slideMaster1.xml" Id="R80529721c5844664" /><Relationship Type="http://schemas.openxmlformats.org/officeDocument/2006/relationships/notesMaster" Target="/ppt/notesMasters/notesMaster1.xml" Id="R46d00d04f65542c6" /><Relationship Type="http://schemas.openxmlformats.org/officeDocument/2006/relationships/presProps" Target="/ppt/presProps.xml" Id="R0cfbeacdc98d4923" /><Relationship Type="http://schemas.openxmlformats.org/officeDocument/2006/relationships/tableStyles" Target="/ppt/tableStyles.xml" Id="Re70357e1e9064a31" /><Relationship Type="http://schemas.openxmlformats.org/officeDocument/2006/relationships/slide" Target="/ppt/slides/slide1.xml" Id="R13bc6d6a598a47f2" /><Relationship Type="http://schemas.openxmlformats.org/officeDocument/2006/relationships/slide" Target="/ppt/slides/slide2.xml" Id="R9cf5729feb054369" /><Relationship Type="http://schemas.openxmlformats.org/officeDocument/2006/relationships/slide" Target="/ppt/slides/slide3.xml" Id="R73007f4311054b45" /><Relationship Type="http://schemas.openxmlformats.org/officeDocument/2006/relationships/slide" Target="/ppt/slides/slide4.xml" Id="Rac9291effa9844ff" /><Relationship Type="http://schemas.openxmlformats.org/officeDocument/2006/relationships/slide" Target="/ppt/slides/slide5.xml" Id="R412476a20ce547a7" /><Relationship Type="http://schemas.openxmlformats.org/officeDocument/2006/relationships/slide" Target="/ppt/slides/slide6.xml" Id="R27059b81d45f468a" /><Relationship Type="http://schemas.openxmlformats.org/officeDocument/2006/relationships/slide" Target="/ppt/slides/slide7.xml" Id="R6fbe59112a674f5b" /><Relationship Type="http://schemas.openxmlformats.org/officeDocument/2006/relationships/slide" Target="/ppt/slides/slide8.xml" Id="R2195119b8a3c40da" /><Relationship Type="http://schemas.openxmlformats.org/officeDocument/2006/relationships/slide" Target="/ppt/slides/slide9.xml" Id="R5febf42e08704707" /><Relationship Type="http://schemas.openxmlformats.org/officeDocument/2006/relationships/slide" Target="/ppt/slides/slide10.xml" Id="R68cc92456ef340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466164dd7d49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f4dde5f6f24436" /><Relationship Type="http://schemas.openxmlformats.org/officeDocument/2006/relationships/notesMaster" Target="/ppt/notesMasters/notesMaster1.xml" Id="R0ee815dd806040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09c2eb00f144ea" /><Relationship Type="http://schemas.openxmlformats.org/officeDocument/2006/relationships/notesMaster" Target="/ppt/notesMasters/notesMaster1.xml" Id="R128119ac16fe41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d684c820a64ffc" /><Relationship Type="http://schemas.openxmlformats.org/officeDocument/2006/relationships/notesMaster" Target="/ppt/notesMasters/notesMaster1.xml" Id="Rcc7a5038a1bf49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c97baf6afe4371" /><Relationship Type="http://schemas.openxmlformats.org/officeDocument/2006/relationships/notesMaster" Target="/ppt/notesMasters/notesMaster1.xml" Id="Rbd587476ee1f42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56386aeb1a4c16" /><Relationship Type="http://schemas.openxmlformats.org/officeDocument/2006/relationships/notesMaster" Target="/ppt/notesMasters/notesMaster1.xml" Id="Rab6d329a210b4b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ddc5c4881f4ae6" /><Relationship Type="http://schemas.openxmlformats.org/officeDocument/2006/relationships/notesMaster" Target="/ppt/notesMasters/notesMaster1.xml" Id="Rff5653862a974a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2c21ed0d964e25" /><Relationship Type="http://schemas.openxmlformats.org/officeDocument/2006/relationships/notesMaster" Target="/ppt/notesMasters/notesMaster1.xml" Id="R6dcccdd0fe2447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55707481394d28" /><Relationship Type="http://schemas.openxmlformats.org/officeDocument/2006/relationships/notesMaster" Target="/ppt/notesMasters/notesMaster1.xml" Id="Rc294adb3a7be45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8368becd1c4d30" /><Relationship Type="http://schemas.openxmlformats.org/officeDocument/2006/relationships/notesMaster" Target="/ppt/notesMasters/notesMaster1.xml" Id="Rd6eb455e398841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8b59be2710437f" /><Relationship Type="http://schemas.openxmlformats.org/officeDocument/2006/relationships/notesMaster" Target="/ppt/notesMasters/notesMaster1.xml" Id="Rc5658a0612ca4d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20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안녕하십니까. </a:t>
            </a:r>
            <a:r>
              <a:rPr sz="1200" b="0">
                <a:solidFill>
                  <a:srgbClr val="142238"/>
                </a:solidFill>
                <a:latin typeface="Times New Roman"/>
                <a:ea typeface="Times New Roman"/>
                <a:cs typeface="Times New Roman"/>
              </a:rPr>
              <a:t>photo sw </a:t>
            </a:r>
            <a:r>
              <a:rPr sz="1200" b="0">
                <a:solidFill>
                  <a:srgbClr val="142238"/>
                </a:solidFill>
                <a:latin typeface="Malgun Gothic"/>
                <a:ea typeface="Malgun Gothic"/>
                <a:cs typeface="Malgun Gothic"/>
              </a:rPr>
              <a:t>그룹 박민호입니다. 문제 현상으로 과거 </a:t>
            </a:r>
            <a:r>
              <a:rPr sz="1200" b="0">
                <a:solidFill>
                  <a:srgbClr val="142238"/>
                </a:solidFill>
                <a:latin typeface="Times New Roman"/>
                <a:ea typeface="Times New Roman"/>
                <a:cs typeface="Times New Roman"/>
              </a:rPr>
              <a:t>CS</a:t>
            </a:r>
            <a:r>
              <a:rPr sz="1200" b="0">
                <a:solidFill>
                  <a:srgbClr val="142238"/>
                </a:solidFill>
                <a:latin typeface="Malgun Gothic"/>
                <a:ea typeface="Malgun Gothic"/>
                <a:cs typeface="Malgun Gothic"/>
              </a:rPr>
              <a:t>를 찾고, 어떤 조건에서 어떤 조치를 했는지 원문까지 확인하는 서비스입니다. </a:t>
            </a: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로 사례의 순서를 보완하고, 관계 그래프로 설비와 부품의 연결을 보여주는 구조를 설명하겠습니다.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E7. Clef </a:t>
            </a:r>
            <a:r>
              <a:rPr sz="1200" b="0">
                <a:solidFill>
                  <a:srgbClr val="142238"/>
                </a:solidFill>
                <a:latin typeface="Malgun Gothic"/>
                <a:ea typeface="Malgun Gothic"/>
                <a:cs typeface="Malgun Gothic"/>
              </a:rPr>
              <a:t>조건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문항 대조 (</a:t>
            </a:r>
            <a:r>
              <a:rPr sz="1200" b="0">
                <a:solidFill>
                  <a:srgbClr val="142238"/>
                </a:solidFill>
                <a:latin typeface="Times New Roman"/>
                <a:ea typeface="Times New Roman"/>
                <a:cs typeface="Times New Roman"/>
              </a:rPr>
              <a:t>2026-10-14)</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https://github.com/pmh10401/cs-excel-rag/blob/main/docs/Clef-</a:t>
            </a:r>
            <a:r>
              <a:rPr sz="1200" b="0">
                <a:solidFill>
                  <a:srgbClr val="142238"/>
                </a:solidFill>
                <a:latin typeface="Malgun Gothic"/>
                <a:ea typeface="Malgun Gothic"/>
                <a:cs typeface="Malgun Gothic"/>
              </a:rPr>
              <a:t>발표-조건비교-</a:t>
            </a:r>
            <a:r>
              <a:rPr sz="1200" b="0">
                <a:solidFill>
                  <a:srgbClr val="142238"/>
                </a:solidFill>
                <a:latin typeface="Times New Roman"/>
                <a:ea typeface="Times New Roman"/>
                <a:cs typeface="Times New Roman"/>
              </a:rPr>
              <a:t>20261014.md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기존 개발 질문의 유사 현상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개 전부. 저장된 </a:t>
            </a:r>
            <a:r>
              <a:rPr sz="1200" b="0">
                <a:solidFill>
                  <a:srgbClr val="142238"/>
                </a:solidFill>
                <a:latin typeface="Times New Roman"/>
                <a:ea typeface="Times New Roman"/>
                <a:cs typeface="Times New Roman"/>
              </a:rPr>
              <a:t>Gemma 2 </a:t>
            </a:r>
            <a:r>
              <a:rPr sz="1200" b="0">
                <a:solidFill>
                  <a:srgbClr val="142238"/>
                </a:solidFill>
                <a:latin typeface="Malgun Gothic"/>
                <a:ea typeface="Malgun Gothic"/>
                <a:cs typeface="Malgun Gothic"/>
              </a:rPr>
              <a:t>결합 후보</a:t>
            </a:r>
            <a:r>
              <a:rPr sz="1200" b="0">
                <a:solidFill>
                  <a:srgbClr val="142238"/>
                </a:solidFill>
                <a:latin typeface="Times New Roman"/>
                <a:ea typeface="Times New Roman"/>
                <a:cs typeface="Times New Roman"/>
              </a:rPr>
              <a:t>5</a:t>
            </a:r>
            <a:r>
              <a:rPr sz="1200" b="0">
                <a:solidFill>
                  <a:srgbClr val="142238"/>
                </a:solidFill>
                <a:latin typeface="Malgun Gothic"/>
                <a:ea typeface="Malgun Gothic"/>
                <a:cs typeface="Malgun Gothic"/>
              </a:rPr>
              <a:t>건 고정. 현재 </a:t>
            </a:r>
            <a:r>
              <a:rPr sz="1200" b="0">
                <a:solidFill>
                  <a:srgbClr val="142238"/>
                </a:solidFill>
                <a:latin typeface="Times New Roman"/>
                <a:ea typeface="Times New Roman"/>
                <a:cs typeface="Times New Roman"/>
              </a:rPr>
              <a:t>Clef </a:t>
            </a:r>
            <a:r>
              <a:rPr sz="1200" b="0">
                <a:solidFill>
                  <a:srgbClr val="142238"/>
                </a:solidFill>
                <a:latin typeface="Malgun Gothic"/>
                <a:ea typeface="Malgun Gothic"/>
                <a:cs typeface="Malgun Gothic"/>
              </a:rPr>
              <a:t>프롬프트, </a:t>
            </a:r>
            <a:r>
              <a:rPr sz="1200" b="0">
                <a:solidFill>
                  <a:srgbClr val="142238"/>
                </a:solidFill>
                <a:latin typeface="Times New Roman"/>
                <a:ea typeface="Times New Roman"/>
                <a:cs typeface="Times New Roman"/>
              </a:rPr>
              <a:t>MLX GPU 8</a:t>
            </a:r>
            <a:r>
              <a:rPr sz="1200" b="0">
                <a:solidFill>
                  <a:srgbClr val="142238"/>
                </a:solidFill>
                <a:latin typeface="Malgun Gothic"/>
                <a:ea typeface="Malgun Gothic"/>
                <a:cs typeface="Malgun Gothic"/>
              </a:rPr>
              <a:t>비트. 소규모 검색 순서 진단이며 최종 답변·현장 정확도는 평가하지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평가 기준에 대한 답부터 말씀드리겠습니다. 기술적으로는 비슷한 단어를 가진 사례 중 질문의 실제 조건에 맞는 사례를 먼저 보여주는 기능을 더했습니다. 같은 여덟 개발 질문과 같은 후보를 비교했을 때 첫 사례가 정답인 질문은 다섯 개에서 여덟 개로 늘었습니다. 업무 측면에서는 과거 조치와 날짜, 원문을 한 화면에서 확인하고 공통 부품의 다른 이력으로 이동할 수 있습니다. 다만 탐색 시간 절감이나 양산 성과는 아직 측정하지 않았습니다. 독창적인 개발 기여는 접수 하나에 여러 상세가 있는 </a:t>
            </a: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자료의 경계를 지키면서 후보 판단과 원문 관계를 결합한 점입니다. 공개 모델이나 재정렬 자체를 새로 발명했다고 주장하지 않습니다. 모든 비교 조건과 남은 한계는 별첨에 제시했습니다.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E7. Clef </a:t>
            </a:r>
            <a:r>
              <a:rPr sz="1200" b="0">
                <a:solidFill>
                  <a:srgbClr val="142238"/>
                </a:solidFill>
                <a:latin typeface="Malgun Gothic"/>
                <a:ea typeface="Malgun Gothic"/>
                <a:cs typeface="Malgun Gothic"/>
              </a:rPr>
              <a:t>조건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문항 대조 (</a:t>
            </a:r>
            <a:r>
              <a:rPr sz="1200" b="0">
                <a:solidFill>
                  <a:srgbClr val="142238"/>
                </a:solidFill>
                <a:latin typeface="Times New Roman"/>
                <a:ea typeface="Times New Roman"/>
                <a:cs typeface="Times New Roman"/>
              </a:rPr>
              <a:t>2026-10-14)</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https://github.com/pmh10401/cs-excel-rag/blob/main/docs/Clef-</a:t>
            </a:r>
            <a:r>
              <a:rPr sz="1200" b="0">
                <a:solidFill>
                  <a:srgbClr val="142238"/>
                </a:solidFill>
                <a:latin typeface="Malgun Gothic"/>
                <a:ea typeface="Malgun Gothic"/>
                <a:cs typeface="Malgun Gothic"/>
              </a:rPr>
              <a:t>발표-조건비교-</a:t>
            </a:r>
            <a:r>
              <a:rPr sz="1200" b="0">
                <a:solidFill>
                  <a:srgbClr val="142238"/>
                </a:solidFill>
                <a:latin typeface="Times New Roman"/>
                <a:ea typeface="Times New Roman"/>
                <a:cs typeface="Times New Roman"/>
              </a:rPr>
              <a:t>20261014.md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기존 개발 질문의 유사 현상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개 전부. 저장된 </a:t>
            </a:r>
            <a:r>
              <a:rPr sz="1200" b="0">
                <a:solidFill>
                  <a:srgbClr val="142238"/>
                </a:solidFill>
                <a:latin typeface="Times New Roman"/>
                <a:ea typeface="Times New Roman"/>
                <a:cs typeface="Times New Roman"/>
              </a:rPr>
              <a:t>Gemma 2 </a:t>
            </a:r>
            <a:r>
              <a:rPr sz="1200" b="0">
                <a:solidFill>
                  <a:srgbClr val="142238"/>
                </a:solidFill>
                <a:latin typeface="Malgun Gothic"/>
                <a:ea typeface="Malgun Gothic"/>
                <a:cs typeface="Malgun Gothic"/>
              </a:rPr>
              <a:t>결합 후보</a:t>
            </a:r>
            <a:r>
              <a:rPr sz="1200" b="0">
                <a:solidFill>
                  <a:srgbClr val="142238"/>
                </a:solidFill>
                <a:latin typeface="Times New Roman"/>
                <a:ea typeface="Times New Roman"/>
                <a:cs typeface="Times New Roman"/>
              </a:rPr>
              <a:t>5</a:t>
            </a:r>
            <a:r>
              <a:rPr sz="1200" b="0">
                <a:solidFill>
                  <a:srgbClr val="142238"/>
                </a:solidFill>
                <a:latin typeface="Malgun Gothic"/>
                <a:ea typeface="Malgun Gothic"/>
                <a:cs typeface="Malgun Gothic"/>
              </a:rPr>
              <a:t>건 고정. 현재 </a:t>
            </a:r>
            <a:r>
              <a:rPr sz="1200" b="0">
                <a:solidFill>
                  <a:srgbClr val="142238"/>
                </a:solidFill>
                <a:latin typeface="Times New Roman"/>
                <a:ea typeface="Times New Roman"/>
                <a:cs typeface="Times New Roman"/>
              </a:rPr>
              <a:t>Clef </a:t>
            </a:r>
            <a:r>
              <a:rPr sz="1200" b="0">
                <a:solidFill>
                  <a:srgbClr val="142238"/>
                </a:solidFill>
                <a:latin typeface="Malgun Gothic"/>
                <a:ea typeface="Malgun Gothic"/>
                <a:cs typeface="Malgun Gothic"/>
              </a:rPr>
              <a:t>프롬프트, </a:t>
            </a:r>
            <a:r>
              <a:rPr sz="1200" b="0">
                <a:solidFill>
                  <a:srgbClr val="142238"/>
                </a:solidFill>
                <a:latin typeface="Times New Roman"/>
                <a:ea typeface="Times New Roman"/>
                <a:cs typeface="Times New Roman"/>
              </a:rPr>
              <a:t>MLX GPU 8</a:t>
            </a:r>
            <a:r>
              <a:rPr sz="1200" b="0">
                <a:solidFill>
                  <a:srgbClr val="142238"/>
                </a:solidFill>
                <a:latin typeface="Malgun Gothic"/>
                <a:ea typeface="Malgun Gothic"/>
                <a:cs typeface="Malgun Gothic"/>
              </a:rPr>
              <a:t>비트. 소규모 검색 순서 진단이며 최종 답변·현장 정확도는 평가하지 않음.</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E8. Cloudflare Clef-flash </a:t>
            </a:r>
            <a:r>
              <a:rPr sz="1200" b="0">
                <a:solidFill>
                  <a:srgbClr val="142238"/>
                </a:solidFill>
                <a:latin typeface="Malgun Gothic"/>
                <a:ea typeface="Malgun Gothic"/>
                <a:cs typeface="Malgun Gothic"/>
              </a:rPr>
              <a:t>모델 카드 (</a:t>
            </a:r>
            <a:r>
              <a:rPr sz="1200" b="0">
                <a:solidFill>
                  <a:srgbClr val="142238"/>
                </a:solidFill>
                <a:latin typeface="Times New Roman"/>
                <a:ea typeface="Times New Roman"/>
                <a:cs typeface="Times New Roman"/>
              </a:rPr>
              <a:t>2026-10-14 </a:t>
            </a:r>
            <a:r>
              <a:rPr sz="1200" b="0">
                <a:solidFill>
                  <a:srgbClr val="142238"/>
                </a:solidFill>
                <a:latin typeface="Malgun Gothic"/>
                <a:ea typeface="Malgun Gothic"/>
                <a:cs typeface="Malgun Gothic"/>
              </a:rPr>
              <a:t>열람)</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https://huggingface.co/Cloudflare/clef-flash</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상태와 질문 스키마를 읽어 허용 선택지의 확률을 출력하는 </a:t>
            </a:r>
            <a:r>
              <a:rPr sz="1200" b="0">
                <a:solidFill>
                  <a:srgbClr val="142238"/>
                </a:solidFill>
                <a:latin typeface="Times New Roman"/>
                <a:ea typeface="Times New Roman"/>
                <a:cs typeface="Times New Roman"/>
              </a:rPr>
              <a:t>9B </a:t>
            </a:r>
            <a:r>
              <a:rPr sz="1200" b="0">
                <a:solidFill>
                  <a:srgbClr val="142238"/>
                </a:solidFill>
                <a:latin typeface="Malgun Gothic"/>
                <a:ea typeface="Malgun Gothic"/>
                <a:cs typeface="Malgun Gothic"/>
              </a:rPr>
              <a:t>판단 모델. 공급자 벤치마크와 지연을 본 시스템 성과로 사용하지 않음.</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E9. Sentence Transformers Retrieve </a:t>
            </a:r>
            <a:r>
              <a:rPr sz="1200" b="0">
                <a:solidFill>
                  <a:srgbClr val="142238"/>
                </a:solidFill>
                <a:latin typeface="Malgun Gothic"/>
                <a:ea typeface="Malgun Gothic"/>
                <a:cs typeface="Malgun Gothic"/>
              </a:rPr>
              <a:t>&amp; </a:t>
            </a:r>
            <a:r>
              <a:rPr sz="1200" b="0">
                <a:solidFill>
                  <a:srgbClr val="142238"/>
                </a:solidFill>
                <a:latin typeface="Times New Roman"/>
                <a:ea typeface="Times New Roman"/>
                <a:cs typeface="Times New Roman"/>
              </a:rPr>
              <a:t>Re-Rank (2026-10-14 </a:t>
            </a:r>
            <a:r>
              <a:rPr sz="1200" b="0">
                <a:solidFill>
                  <a:srgbClr val="142238"/>
                </a:solidFill>
                <a:latin typeface="Malgun Gothic"/>
                <a:ea typeface="Malgun Gothic"/>
                <a:cs typeface="Malgun Gothic"/>
              </a:rPr>
              <a:t>열람)</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https://www.sbert.net/examples/sentence_transformer/applications/retrieve_rerank/README.html</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검색 후 재정렬 자체는 기존에 널리 사용되는 구조. 여기서는 재정렬 없는 기본 </a:t>
            </a:r>
            <a:r>
              <a:rPr sz="1200" b="0">
                <a:solidFill>
                  <a:srgbClr val="142238"/>
                </a:solidFill>
                <a:latin typeface="Times New Roman"/>
                <a:ea typeface="Times New Roman"/>
                <a:cs typeface="Times New Roman"/>
              </a:rPr>
              <a:t>RAG</a:t>
            </a:r>
            <a:r>
              <a:rPr sz="1200" b="0">
                <a:solidFill>
                  <a:srgbClr val="142238"/>
                </a:solidFill>
                <a:latin typeface="Malgun Gothic"/>
                <a:ea typeface="Malgun Gothic"/>
                <a:cs typeface="Malgun Gothic"/>
              </a:rPr>
              <a:t>를 비교 대상으로 한정하며 다른 재정렬 모델 대비 우위는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55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차이를 실제 대조 사례로 보겠습니다. 질문에는 냉각수 흐름이 충분하다고 적혀 있고 문제는 환수 온도 상승입니다. 기존 결합 검색의 첫 사례는 저유량 알람과 스트레이너 세척 기록이었습니다. </a:t>
            </a: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를 적용하면 기존 네 번째였던 척 쿨링 라인 고온 경보 기록이 맨 앞으로 옵니다. 그 기록에는 냉매 배관 보수와 펌프 오버홀을 했고, 테스트 런 십오 분 동안 이십이 도를 유지했다는 원문이 있습니다. 같은 다섯 후보에서 순서만 바꾼 결과입니다. 정답 사례가 기존 두 번째에도 있었으므로 새 근거를 발견했다고 설명하지 않습니다. 이 사례는 합성 자료이며 현재 설비에 같은 조치를 바로 하라는 처방도 아닙니다.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E7. Clef </a:t>
            </a:r>
            <a:r>
              <a:rPr sz="1200" b="0">
                <a:solidFill>
                  <a:srgbClr val="142238"/>
                </a:solidFill>
                <a:latin typeface="Malgun Gothic"/>
                <a:ea typeface="Malgun Gothic"/>
                <a:cs typeface="Malgun Gothic"/>
              </a:rPr>
              <a:t>조건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문항 대조 (</a:t>
            </a:r>
            <a:r>
              <a:rPr sz="1200" b="0">
                <a:solidFill>
                  <a:srgbClr val="142238"/>
                </a:solidFill>
                <a:latin typeface="Times New Roman"/>
                <a:ea typeface="Times New Roman"/>
                <a:cs typeface="Times New Roman"/>
              </a:rPr>
              <a:t>2026-10-14)</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https://github.com/pmh10401/cs-excel-rag/blob/main/docs/Clef-</a:t>
            </a:r>
            <a:r>
              <a:rPr sz="1200" b="0">
                <a:solidFill>
                  <a:srgbClr val="142238"/>
                </a:solidFill>
                <a:latin typeface="Malgun Gothic"/>
                <a:ea typeface="Malgun Gothic"/>
                <a:cs typeface="Malgun Gothic"/>
              </a:rPr>
              <a:t>발표-조건비교-</a:t>
            </a:r>
            <a:r>
              <a:rPr sz="1200" b="0">
                <a:solidFill>
                  <a:srgbClr val="142238"/>
                </a:solidFill>
                <a:latin typeface="Times New Roman"/>
                <a:ea typeface="Times New Roman"/>
                <a:cs typeface="Times New Roman"/>
              </a:rPr>
              <a:t>20261014.md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기존 개발 질문의 유사 현상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개 전부. 저장된 </a:t>
            </a:r>
            <a:r>
              <a:rPr sz="1200" b="0">
                <a:solidFill>
                  <a:srgbClr val="142238"/>
                </a:solidFill>
                <a:latin typeface="Times New Roman"/>
                <a:ea typeface="Times New Roman"/>
                <a:cs typeface="Times New Roman"/>
              </a:rPr>
              <a:t>Gemma 2 </a:t>
            </a:r>
            <a:r>
              <a:rPr sz="1200" b="0">
                <a:solidFill>
                  <a:srgbClr val="142238"/>
                </a:solidFill>
                <a:latin typeface="Malgun Gothic"/>
                <a:ea typeface="Malgun Gothic"/>
                <a:cs typeface="Malgun Gothic"/>
              </a:rPr>
              <a:t>결합 후보</a:t>
            </a:r>
            <a:r>
              <a:rPr sz="1200" b="0">
                <a:solidFill>
                  <a:srgbClr val="142238"/>
                </a:solidFill>
                <a:latin typeface="Times New Roman"/>
                <a:ea typeface="Times New Roman"/>
                <a:cs typeface="Times New Roman"/>
              </a:rPr>
              <a:t>5</a:t>
            </a:r>
            <a:r>
              <a:rPr sz="1200" b="0">
                <a:solidFill>
                  <a:srgbClr val="142238"/>
                </a:solidFill>
                <a:latin typeface="Malgun Gothic"/>
                <a:ea typeface="Malgun Gothic"/>
                <a:cs typeface="Malgun Gothic"/>
              </a:rPr>
              <a:t>건 고정. 현재 </a:t>
            </a:r>
            <a:r>
              <a:rPr sz="1200" b="0">
                <a:solidFill>
                  <a:srgbClr val="142238"/>
                </a:solidFill>
                <a:latin typeface="Times New Roman"/>
                <a:ea typeface="Times New Roman"/>
                <a:cs typeface="Times New Roman"/>
              </a:rPr>
              <a:t>Clef </a:t>
            </a:r>
            <a:r>
              <a:rPr sz="1200" b="0">
                <a:solidFill>
                  <a:srgbClr val="142238"/>
                </a:solidFill>
                <a:latin typeface="Malgun Gothic"/>
                <a:ea typeface="Malgun Gothic"/>
                <a:cs typeface="Malgun Gothic"/>
              </a:rPr>
              <a:t>프롬프트, </a:t>
            </a:r>
            <a:r>
              <a:rPr sz="1200" b="0">
                <a:solidFill>
                  <a:srgbClr val="142238"/>
                </a:solidFill>
                <a:latin typeface="Times New Roman"/>
                <a:ea typeface="Times New Roman"/>
                <a:cs typeface="Times New Roman"/>
              </a:rPr>
              <a:t>MLX GPU 8</a:t>
            </a:r>
            <a:r>
              <a:rPr sz="1200" b="0">
                <a:solidFill>
                  <a:srgbClr val="142238"/>
                </a:solidFill>
                <a:latin typeface="Malgun Gothic"/>
                <a:ea typeface="Malgun Gothic"/>
                <a:cs typeface="Malgun Gothic"/>
              </a:rPr>
              <a:t>비트. 소규모 검색 순서 진단이며 최종 답변·현장 정확도는 평가하지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구조는 자료 준비와 질문 처리로 나뉩니다. 관리자가 </a:t>
            </a:r>
            <a:r>
              <a:rPr sz="1200" b="0">
                <a:solidFill>
                  <a:srgbClr val="142238"/>
                </a:solidFill>
                <a:latin typeface="Times New Roman"/>
                <a:ea typeface="Times New Roman"/>
                <a:cs typeface="Times New Roman"/>
              </a:rPr>
              <a:t>Excel</a:t>
            </a:r>
            <a:r>
              <a:rPr sz="1200" b="0">
                <a:solidFill>
                  <a:srgbClr val="142238"/>
                </a:solidFill>
                <a:latin typeface="Malgun Gothic"/>
                <a:ea typeface="Malgun Gothic"/>
                <a:cs typeface="Malgun Gothic"/>
              </a:rPr>
              <a:t>을 읽으면 </a:t>
            </a: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번호와 상세, 작업, 셀 위치를 원문 그대로 저장합니다. 문장 정리와 번역은 </a:t>
            </a:r>
            <a:r>
              <a:rPr sz="1200" b="0">
                <a:solidFill>
                  <a:srgbClr val="142238"/>
                </a:solidFill>
                <a:latin typeface="Times New Roman"/>
                <a:ea typeface="Times New Roman"/>
                <a:cs typeface="Times New Roman"/>
              </a:rPr>
              <a:t>LLM</a:t>
            </a:r>
            <a:r>
              <a:rPr sz="1200" b="0">
                <a:solidFill>
                  <a:srgbClr val="142238"/>
                </a:solidFill>
                <a:latin typeface="Malgun Gothic"/>
                <a:ea typeface="Malgun Gothic"/>
                <a:cs typeface="Malgun Gothic"/>
              </a:rPr>
              <a:t>이 수행하지만 검색을 돕는 보조 자료로 보관합니다. 키워드는 </a:t>
            </a:r>
            <a:r>
              <a:rPr sz="1200" b="0">
                <a:solidFill>
                  <a:srgbClr val="142238"/>
                </a:solidFill>
                <a:latin typeface="Times New Roman"/>
                <a:ea typeface="Times New Roman"/>
                <a:cs typeface="Times New Roman"/>
              </a:rPr>
              <a:t>SQLite FTS5, </a:t>
            </a:r>
            <a:r>
              <a:rPr sz="1200" b="0">
                <a:solidFill>
                  <a:srgbClr val="142238"/>
                </a:solidFill>
                <a:latin typeface="Malgun Gothic"/>
                <a:ea typeface="Malgun Gothic"/>
                <a:cs typeface="Malgun Gothic"/>
              </a:rPr>
              <a:t>의미 검색은 </a:t>
            </a:r>
            <a:r>
              <a:rPr sz="1200" b="0">
                <a:solidFill>
                  <a:srgbClr val="142238"/>
                </a:solidFill>
                <a:latin typeface="Times New Roman"/>
                <a:ea typeface="Times New Roman"/>
                <a:cs typeface="Times New Roman"/>
              </a:rPr>
              <a:t>FAISS</a:t>
            </a:r>
            <a:r>
              <a:rPr sz="1200" b="0">
                <a:solidFill>
                  <a:srgbClr val="142238"/>
                </a:solidFill>
                <a:latin typeface="Malgun Gothic"/>
                <a:ea typeface="Malgun Gothic"/>
                <a:cs typeface="Malgun Gothic"/>
              </a:rPr>
              <a:t>를 사용하고 원문 열의 설비와 부품 이름을 관계로 연결합니다. 질문이 들어오면 후보를 검색하고 선택적으로 </a:t>
            </a: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가 그 순서를 보완합니다. 답변 </a:t>
            </a:r>
            <a:r>
              <a:rPr sz="1200" b="0">
                <a:solidFill>
                  <a:srgbClr val="142238"/>
                </a:solidFill>
                <a:latin typeface="Times New Roman"/>
                <a:ea typeface="Times New Roman"/>
                <a:cs typeface="Times New Roman"/>
              </a:rPr>
              <a:t>LLM</a:t>
            </a:r>
            <a:r>
              <a:rPr sz="1200" b="0">
                <a:solidFill>
                  <a:srgbClr val="142238"/>
                </a:solidFill>
                <a:latin typeface="Malgun Gothic"/>
                <a:ea typeface="Malgun Gothic"/>
                <a:cs typeface="Malgun Gothic"/>
              </a:rPr>
              <a:t>은 한국어 설명을 작성하며 마지막에는 원문 셀 기준으로 인용과 숫자, 날짜 등을 검사합니다. 화면에서는 답변과 인용, 관계 그래프를 함께 확인합니다. 자료 준비 상태는 별도로 저장하고, 질문이 진행되는 동안 원문이 갱신되어도 그 질문은 검색 당시 원문을 유지합니다. </a:t>
            </a: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사내 서버가 운영 목표이며 지금 보여드리는 </a:t>
            </a:r>
            <a:r>
              <a:rPr sz="1200" b="0">
                <a:solidFill>
                  <a:srgbClr val="142238"/>
                </a:solidFill>
                <a:latin typeface="Times New Roman"/>
                <a:ea typeface="Times New Roman"/>
                <a:cs typeface="Times New Roman"/>
              </a:rPr>
              <a:t>GPU </a:t>
            </a:r>
            <a:r>
              <a:rPr sz="1200" b="0">
                <a:solidFill>
                  <a:srgbClr val="142238"/>
                </a:solidFill>
                <a:latin typeface="Malgun Gothic"/>
                <a:ea typeface="Malgun Gothic"/>
                <a:cs typeface="Malgun Gothic"/>
              </a:rPr>
              <a:t>실측은 </a:t>
            </a:r>
            <a:r>
              <a:rPr sz="1200" b="0">
                <a:solidFill>
                  <a:srgbClr val="142238"/>
                </a:solidFill>
                <a:latin typeface="Times New Roman"/>
                <a:ea typeface="Times New Roman"/>
                <a:cs typeface="Times New Roman"/>
              </a:rPr>
              <a:t>Mac </a:t>
            </a:r>
            <a:r>
              <a:rPr sz="1200" b="0">
                <a:solidFill>
                  <a:srgbClr val="142238"/>
                </a:solidFill>
                <a:latin typeface="Malgun Gothic"/>
                <a:ea typeface="Malgun Gothic"/>
                <a:cs typeface="Malgun Gothic"/>
              </a:rPr>
              <a:t>환경입니다.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E5. </a:t>
            </a:r>
            <a:r>
              <a:rPr sz="1200" b="0">
                <a:solidFill>
                  <a:srgbClr val="142238"/>
                </a:solidFill>
                <a:latin typeface="Malgun Gothic"/>
                <a:ea typeface="Malgun Gothic"/>
                <a:cs typeface="Malgun Gothic"/>
              </a:rPr>
              <a:t>모델 실행과 사용자 화면 (</a:t>
            </a:r>
            <a:r>
              <a:rPr sz="1200" b="0">
                <a:solidFill>
                  <a:srgbClr val="142238"/>
                </a:solidFill>
                <a:latin typeface="Times New Roman"/>
                <a:ea typeface="Times New Roman"/>
                <a:cs typeface="Times New Roman"/>
              </a:rPr>
              <a:t>2026-10-08)</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https://github.com/pmh10401/cs-excel-rag/blob/df5fb7e036d74d2eff9180f6f2f99ab9ad33b2e9/docs/Clef-</a:t>
            </a:r>
            <a:r>
              <a:rPr sz="1200" b="0">
                <a:solidFill>
                  <a:srgbClr val="142238"/>
                </a:solidFill>
                <a:latin typeface="Malgun Gothic"/>
                <a:ea typeface="Malgun Gothic"/>
                <a:cs typeface="Malgun Gothic"/>
              </a:rPr>
              <a:t>테스트-</a:t>
            </a:r>
            <a:r>
              <a:rPr sz="1200" b="0">
                <a:solidFill>
                  <a:srgbClr val="142238"/>
                </a:solidFill>
                <a:latin typeface="Times New Roman"/>
                <a:ea typeface="Times New Roman"/>
                <a:cs typeface="Times New Roman"/>
              </a:rPr>
              <a:t>RAG-20261008.md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Clef MLX </a:t>
            </a:r>
            <a:r>
              <a:rPr sz="1200" b="0">
                <a:solidFill>
                  <a:srgbClr val="142238"/>
                </a:solidFill>
                <a:latin typeface="Malgun Gothic"/>
                <a:ea typeface="Malgun Gothic"/>
                <a:cs typeface="Malgun Gothic"/>
              </a:rPr>
              <a:t>실제</a:t>
            </a: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연결. 동일질문 반복기능확인. 한국어현장품질향상 및 </a:t>
            </a:r>
            <a:r>
              <a:rPr sz="1200" b="0">
                <a:solidFill>
                  <a:srgbClr val="142238"/>
                </a:solidFill>
                <a:latin typeface="Times New Roman"/>
                <a:ea typeface="Times New Roman"/>
                <a:cs typeface="Times New Roman"/>
              </a:rPr>
              <a:t>Windows GPU </a:t>
            </a:r>
            <a:r>
              <a:rPr sz="1200" b="0">
                <a:solidFill>
                  <a:srgbClr val="142238"/>
                </a:solidFill>
                <a:latin typeface="Malgun Gothic"/>
                <a:ea typeface="Malgun Gothic"/>
                <a:cs typeface="Malgun Gothic"/>
              </a:rPr>
              <a:t>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E6. </a:t>
            </a:r>
            <a:r>
              <a:rPr sz="1200" b="0">
                <a:solidFill>
                  <a:srgbClr val="142238"/>
                </a:solidFill>
                <a:latin typeface="Malgun Gothic"/>
                <a:ea typeface="Malgun Gothic"/>
                <a:cs typeface="Malgun Gothic"/>
              </a:rPr>
              <a:t>제품화 목표와 남은 검증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제품화-설계-</a:t>
            </a:r>
            <a:r>
              <a:rPr sz="1200" b="0">
                <a:solidFill>
                  <a:srgbClr val="142238"/>
                </a:solidFill>
                <a:latin typeface="Times New Roman"/>
                <a:ea typeface="Times New Roman"/>
                <a:cs typeface="Times New Roman"/>
              </a:rPr>
              <a:t>20261013.md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사내서버+여러브라우저 목표. 사용자·관리자권한,운영</a:t>
            </a:r>
            <a:r>
              <a:rPr sz="1200" b="0">
                <a:solidFill>
                  <a:srgbClr val="142238"/>
                </a:solidFill>
                <a:latin typeface="Times New Roman"/>
                <a:ea typeface="Times New Roman"/>
                <a:cs typeface="Times New Roman"/>
              </a:rPr>
              <a:t>API,</a:t>
            </a:r>
            <a:r>
              <a:rPr sz="1200" b="0">
                <a:solidFill>
                  <a:srgbClr val="142238"/>
                </a:solidFill>
                <a:latin typeface="Malgun Gothic"/>
                <a:ea typeface="Malgun Gothic"/>
                <a:cs typeface="Malgun Gothic"/>
              </a:rPr>
              <a:t>현장정확도,실제부하 확인 필요. 문서 최초설계의 후속범위 중 동시질문은</a:t>
            </a:r>
            <a:r>
              <a:rPr sz="1200" b="0">
                <a:solidFill>
                  <a:srgbClr val="142238"/>
                </a:solidFill>
                <a:latin typeface="Times New Roman"/>
                <a:ea typeface="Times New Roman"/>
                <a:cs typeface="Times New Roman"/>
              </a:rPr>
              <a:t>E4</a:t>
            </a:r>
            <a:r>
              <a:rPr sz="1200" b="0">
                <a:solidFill>
                  <a:srgbClr val="142238"/>
                </a:solidFill>
                <a:latin typeface="Malgun Gothic"/>
                <a:ea typeface="Malgun Gothic"/>
                <a:cs typeface="Malgun Gothic"/>
              </a:rPr>
              <a:t>로 상태갱신.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55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여기서 비교하는 기본 </a:t>
            </a:r>
            <a:r>
              <a:rPr sz="1200" b="0">
                <a:solidFill>
                  <a:srgbClr val="142238"/>
                </a:solidFill>
                <a:latin typeface="Times New Roman"/>
                <a:ea typeface="Times New Roman"/>
                <a:cs typeface="Times New Roman"/>
              </a:rPr>
              <a:t>RAG</a:t>
            </a:r>
            <a:r>
              <a:rPr sz="1200" b="0">
                <a:solidFill>
                  <a:srgbClr val="142238"/>
                </a:solidFill>
                <a:latin typeface="Malgun Gothic"/>
                <a:ea typeface="Malgun Gothic"/>
                <a:cs typeface="Malgun Gothic"/>
              </a:rPr>
              <a:t>는 검색 점수 순서로 문서를 답변 모델에 전달하는 구성입니다. 모든 </a:t>
            </a:r>
            <a:r>
              <a:rPr sz="1200" b="0">
                <a:solidFill>
                  <a:srgbClr val="142238"/>
                </a:solidFill>
                <a:latin typeface="Times New Roman"/>
                <a:ea typeface="Times New Roman"/>
                <a:cs typeface="Times New Roman"/>
              </a:rPr>
              <a:t>RAG </a:t>
            </a:r>
            <a:r>
              <a:rPr sz="1200" b="0">
                <a:solidFill>
                  <a:srgbClr val="142238"/>
                </a:solidFill>
                <a:latin typeface="Malgun Gothic"/>
                <a:ea typeface="Malgun Gothic"/>
                <a:cs typeface="Malgun Gothic"/>
              </a:rPr>
              <a:t>제품이 단순하다는 뜻은 아닙니다. 첫 차이는 자료 단위입니다. 같은 </a:t>
            </a:r>
            <a:r>
              <a:rPr sz="1200" b="0">
                <a:solidFill>
                  <a:srgbClr val="142238"/>
                </a:solidFill>
                <a:latin typeface="Times New Roman"/>
                <a:ea typeface="Times New Roman"/>
                <a:cs typeface="Times New Roman"/>
              </a:rPr>
              <a:t>CS</a:t>
            </a:r>
            <a:r>
              <a:rPr sz="1200" b="0">
                <a:solidFill>
                  <a:srgbClr val="142238"/>
                </a:solidFill>
                <a:latin typeface="Malgun Gothic"/>
                <a:ea typeface="Malgun Gothic"/>
                <a:cs typeface="Malgun Gothic"/>
              </a:rPr>
              <a:t>라도 부품별 상세와 작업을 구분하고, 실제 셀까지 근거를 연결합니다. 둘째는 검색 이후의 판단입니다. </a:t>
            </a: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가 질문과 후보 원문을 함께 읽고 정해진 후보 안에서 순서를 바꿉니다. 셋째는 원문 관계입니다. 함께 기록된 설비와 부품으로 후보를 보완하고 공통 노드를 묶어 다른 이력을 보여줍니다. 답변 뒤에는 원문과 숫자, 날짜 검사가 이어지고 자료 준비와 질문을 동시에 운영할 수 있습니다. 차별점은 이 요소들을 </a:t>
            </a: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데이터의 구조와 실제 사용 흐름에 맞게 결합한 데 있습니다.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E8. Cloudflare Clef-flash </a:t>
            </a:r>
            <a:r>
              <a:rPr sz="1200" b="0">
                <a:solidFill>
                  <a:srgbClr val="142238"/>
                </a:solidFill>
                <a:latin typeface="Malgun Gothic"/>
                <a:ea typeface="Malgun Gothic"/>
                <a:cs typeface="Malgun Gothic"/>
              </a:rPr>
              <a:t>모델 카드 (</a:t>
            </a:r>
            <a:r>
              <a:rPr sz="1200" b="0">
                <a:solidFill>
                  <a:srgbClr val="142238"/>
                </a:solidFill>
                <a:latin typeface="Times New Roman"/>
                <a:ea typeface="Times New Roman"/>
                <a:cs typeface="Times New Roman"/>
              </a:rPr>
              <a:t>2026-10-14 </a:t>
            </a:r>
            <a:r>
              <a:rPr sz="1200" b="0">
                <a:solidFill>
                  <a:srgbClr val="142238"/>
                </a:solidFill>
                <a:latin typeface="Malgun Gothic"/>
                <a:ea typeface="Malgun Gothic"/>
                <a:cs typeface="Malgun Gothic"/>
              </a:rPr>
              <a:t>열람)</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https://huggingface.co/Cloudflare/clef-flash</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상태와 질문 스키마를 읽어 허용 선택지의 확률을 출력하는 </a:t>
            </a:r>
            <a:r>
              <a:rPr sz="1200" b="0">
                <a:solidFill>
                  <a:srgbClr val="142238"/>
                </a:solidFill>
                <a:latin typeface="Times New Roman"/>
                <a:ea typeface="Times New Roman"/>
                <a:cs typeface="Times New Roman"/>
              </a:rPr>
              <a:t>9B </a:t>
            </a:r>
            <a:r>
              <a:rPr sz="1200" b="0">
                <a:solidFill>
                  <a:srgbClr val="142238"/>
                </a:solidFill>
                <a:latin typeface="Malgun Gothic"/>
                <a:ea typeface="Malgun Gothic"/>
                <a:cs typeface="Malgun Gothic"/>
              </a:rPr>
              <a:t>판단 모델. 공급자 벤치마크와 지연을 본 시스템 성과로 사용하지 않음.</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E9. Sentence Transformers Retrieve </a:t>
            </a:r>
            <a:r>
              <a:rPr sz="1200" b="0">
                <a:solidFill>
                  <a:srgbClr val="142238"/>
                </a:solidFill>
                <a:latin typeface="Malgun Gothic"/>
                <a:ea typeface="Malgun Gothic"/>
                <a:cs typeface="Malgun Gothic"/>
              </a:rPr>
              <a:t>&amp; </a:t>
            </a:r>
            <a:r>
              <a:rPr sz="1200" b="0">
                <a:solidFill>
                  <a:srgbClr val="142238"/>
                </a:solidFill>
                <a:latin typeface="Times New Roman"/>
                <a:ea typeface="Times New Roman"/>
                <a:cs typeface="Times New Roman"/>
              </a:rPr>
              <a:t>Re-Rank (2026-10-14 </a:t>
            </a:r>
            <a:r>
              <a:rPr sz="1200" b="0">
                <a:solidFill>
                  <a:srgbClr val="142238"/>
                </a:solidFill>
                <a:latin typeface="Malgun Gothic"/>
                <a:ea typeface="Malgun Gothic"/>
                <a:cs typeface="Malgun Gothic"/>
              </a:rPr>
              <a:t>열람)</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https://www.sbert.net/examples/sentence_transformer/applications/retrieve_rerank/README.html</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검색 후 재정렬 자체는 기존에 널리 사용되는 구조. 여기서는 재정렬 없는 기본 </a:t>
            </a:r>
            <a:r>
              <a:rPr sz="1200" b="0">
                <a:solidFill>
                  <a:srgbClr val="142238"/>
                </a:solidFill>
                <a:latin typeface="Times New Roman"/>
                <a:ea typeface="Times New Roman"/>
                <a:cs typeface="Times New Roman"/>
              </a:rPr>
              <a:t>RAG</a:t>
            </a:r>
            <a:r>
              <a:rPr sz="1200" b="0">
                <a:solidFill>
                  <a:srgbClr val="142238"/>
                </a:solidFill>
                <a:latin typeface="Malgun Gothic"/>
                <a:ea typeface="Malgun Gothic"/>
                <a:cs typeface="Malgun Gothic"/>
              </a:rPr>
              <a:t>를 비교 대상으로 한정하며 다른 재정렬 모델 대비 우위는 검증하지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는 일반 답변 모델처럼 긴 문장을 작성하지 않습니다. 질문과 다섯 후보의 원문을 함께 읽고, 허용한 선택지의 상대 점수를 출력합니다. 시스템은 이 점수로 같은 후보의 순서만 바꿉니다. 기존 개발 질문 중 유사 현상을 구분하는 여덟 문항을 모두 고정해 비교했습니다. 첫 후보가 정답인 질문은 다섯 개에서 여덟 개로 늘었고 악화는 없었습니다. 그러나 상위 세 개 안에 정답이 들어 있는 질문은 적용 전후 모두 여덟 개였습니다. 확인한 효과는 이미 찾은 정답을 앞에 두는 것입니다. 모델 적재를 포함한 호출은 문항당 약 삼십 초가 걸렸으므로 속도 향상이라고 설명하지 않습니다. 이 점수는 조치 성공 확률도 아니며, 최종 답변 정확도는 별도의 평가가 필요합니다.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E7. Clef </a:t>
            </a:r>
            <a:r>
              <a:rPr sz="1200" b="0">
                <a:solidFill>
                  <a:srgbClr val="142238"/>
                </a:solidFill>
                <a:latin typeface="Malgun Gothic"/>
                <a:ea typeface="Malgun Gothic"/>
                <a:cs typeface="Malgun Gothic"/>
              </a:rPr>
              <a:t>조건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문항 대조 (</a:t>
            </a:r>
            <a:r>
              <a:rPr sz="1200" b="0">
                <a:solidFill>
                  <a:srgbClr val="142238"/>
                </a:solidFill>
                <a:latin typeface="Times New Roman"/>
                <a:ea typeface="Times New Roman"/>
                <a:cs typeface="Times New Roman"/>
              </a:rPr>
              <a:t>2026-10-14)</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https://github.com/pmh10401/cs-excel-rag/blob/main/docs/Clef-</a:t>
            </a:r>
            <a:r>
              <a:rPr sz="1200" b="0">
                <a:solidFill>
                  <a:srgbClr val="142238"/>
                </a:solidFill>
                <a:latin typeface="Malgun Gothic"/>
                <a:ea typeface="Malgun Gothic"/>
                <a:cs typeface="Malgun Gothic"/>
              </a:rPr>
              <a:t>발표-조건비교-</a:t>
            </a:r>
            <a:r>
              <a:rPr sz="1200" b="0">
                <a:solidFill>
                  <a:srgbClr val="142238"/>
                </a:solidFill>
                <a:latin typeface="Times New Roman"/>
                <a:ea typeface="Times New Roman"/>
                <a:cs typeface="Times New Roman"/>
              </a:rPr>
              <a:t>20261014.md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기존 개발 질문의 유사 현상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개 전부. 저장된 </a:t>
            </a:r>
            <a:r>
              <a:rPr sz="1200" b="0">
                <a:solidFill>
                  <a:srgbClr val="142238"/>
                </a:solidFill>
                <a:latin typeface="Times New Roman"/>
                <a:ea typeface="Times New Roman"/>
                <a:cs typeface="Times New Roman"/>
              </a:rPr>
              <a:t>Gemma 2 </a:t>
            </a:r>
            <a:r>
              <a:rPr sz="1200" b="0">
                <a:solidFill>
                  <a:srgbClr val="142238"/>
                </a:solidFill>
                <a:latin typeface="Malgun Gothic"/>
                <a:ea typeface="Malgun Gothic"/>
                <a:cs typeface="Malgun Gothic"/>
              </a:rPr>
              <a:t>결합 후보</a:t>
            </a:r>
            <a:r>
              <a:rPr sz="1200" b="0">
                <a:solidFill>
                  <a:srgbClr val="142238"/>
                </a:solidFill>
                <a:latin typeface="Times New Roman"/>
                <a:ea typeface="Times New Roman"/>
                <a:cs typeface="Times New Roman"/>
              </a:rPr>
              <a:t>5</a:t>
            </a:r>
            <a:r>
              <a:rPr sz="1200" b="0">
                <a:solidFill>
                  <a:srgbClr val="142238"/>
                </a:solidFill>
                <a:latin typeface="Malgun Gothic"/>
                <a:ea typeface="Malgun Gothic"/>
                <a:cs typeface="Malgun Gothic"/>
              </a:rPr>
              <a:t>건 고정. 현재 </a:t>
            </a:r>
            <a:r>
              <a:rPr sz="1200" b="0">
                <a:solidFill>
                  <a:srgbClr val="142238"/>
                </a:solidFill>
                <a:latin typeface="Times New Roman"/>
                <a:ea typeface="Times New Roman"/>
                <a:cs typeface="Times New Roman"/>
              </a:rPr>
              <a:t>Clef </a:t>
            </a:r>
            <a:r>
              <a:rPr sz="1200" b="0">
                <a:solidFill>
                  <a:srgbClr val="142238"/>
                </a:solidFill>
                <a:latin typeface="Malgun Gothic"/>
                <a:ea typeface="Malgun Gothic"/>
                <a:cs typeface="Malgun Gothic"/>
              </a:rPr>
              <a:t>프롬프트, </a:t>
            </a:r>
            <a:r>
              <a:rPr sz="1200" b="0">
                <a:solidFill>
                  <a:srgbClr val="142238"/>
                </a:solidFill>
                <a:latin typeface="Times New Roman"/>
                <a:ea typeface="Times New Roman"/>
                <a:cs typeface="Times New Roman"/>
              </a:rPr>
              <a:t>MLX GPU 8</a:t>
            </a:r>
            <a:r>
              <a:rPr sz="1200" b="0">
                <a:solidFill>
                  <a:srgbClr val="142238"/>
                </a:solidFill>
                <a:latin typeface="Malgun Gothic"/>
                <a:ea typeface="Malgun Gothic"/>
                <a:cs typeface="Malgun Gothic"/>
              </a:rPr>
              <a:t>비트. 소규모 검색 순서 진단이며 최종 답변·현장 정확도는 평가하지 않음.</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E8. Cloudflare Clef-flash </a:t>
            </a:r>
            <a:r>
              <a:rPr sz="1200" b="0">
                <a:solidFill>
                  <a:srgbClr val="142238"/>
                </a:solidFill>
                <a:latin typeface="Malgun Gothic"/>
                <a:ea typeface="Malgun Gothic"/>
                <a:cs typeface="Malgun Gothic"/>
              </a:rPr>
              <a:t>모델 카드 (</a:t>
            </a:r>
            <a:r>
              <a:rPr sz="1200" b="0">
                <a:solidFill>
                  <a:srgbClr val="142238"/>
                </a:solidFill>
                <a:latin typeface="Times New Roman"/>
                <a:ea typeface="Times New Roman"/>
                <a:cs typeface="Times New Roman"/>
              </a:rPr>
              <a:t>2026-10-14 </a:t>
            </a:r>
            <a:r>
              <a:rPr sz="1200" b="0">
                <a:solidFill>
                  <a:srgbClr val="142238"/>
                </a:solidFill>
                <a:latin typeface="Malgun Gothic"/>
                <a:ea typeface="Malgun Gothic"/>
                <a:cs typeface="Malgun Gothic"/>
              </a:rPr>
              <a:t>열람)</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https://huggingface.co/Cloudflare/clef-flash</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상태와 질문 스키마를 읽어 허용 선택지의 확률을 출력하는 </a:t>
            </a:r>
            <a:r>
              <a:rPr sz="1200" b="0">
                <a:solidFill>
                  <a:srgbClr val="142238"/>
                </a:solidFill>
                <a:latin typeface="Times New Roman"/>
                <a:ea typeface="Times New Roman"/>
                <a:cs typeface="Times New Roman"/>
              </a:rPr>
              <a:t>9B </a:t>
            </a:r>
            <a:r>
              <a:rPr sz="1200" b="0">
                <a:solidFill>
                  <a:srgbClr val="142238"/>
                </a:solidFill>
                <a:latin typeface="Malgun Gothic"/>
                <a:ea typeface="Malgun Gothic"/>
                <a:cs typeface="Malgun Gothic"/>
              </a:rPr>
              <a:t>판단 모델. 공급자 벤치마크와 지연을 본 시스템 성과로 사용하지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그래프는 문서 목록만으로 보기 어려운 공통점을 보여줍니다. 이 예시는 가상 샘플 네 행 중 같은 </a:t>
            </a: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번호를 가진 두 상세입니다. 세정장비와 회전모듈은 공통 노드로 한 번만 나타나지만 구동벨트 기록과 회전척 기록은 따로 유지합니다. 상세를 선택하면 해당 날짜와 현상, 원인, 조치 원문을 확인합니다. 구동벨트는 교체 예정이고 회전척은 정렬 후 진동 감소가 기록되어 있습니다. 둘을 합쳐 교체가 성공했다고 해석하면 안 됩니다. 관계 기능에는 두 가지가 있습니다. 관계 후보 보완은 같은 상세에 함께 적힌 이름으로 검색 후보를 보완합니다. 관계 보기는 이미 반환한 사례들의 연결을 보여주며 순위를 바꾸지 않습니다. 원문의 동시 기록을 시각화한 것이므로 고장 인과관계를 자동 발견한 그래프는 아닙니다.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E3. </a:t>
            </a:r>
            <a:r>
              <a:rPr sz="1200" b="0">
                <a:solidFill>
                  <a:srgbClr val="142238"/>
                </a:solidFill>
                <a:latin typeface="Malgun Gothic"/>
                <a:ea typeface="Malgun Gothic"/>
                <a:cs typeface="Malgun Gothic"/>
              </a:rPr>
              <a:t>원문 관계 보완 비교 (</a:t>
            </a:r>
            <a:r>
              <a:rPr sz="1200" b="0">
                <a:solidFill>
                  <a:srgbClr val="142238"/>
                </a:solidFill>
                <a:latin typeface="Times New Roman"/>
                <a:ea typeface="Times New Roman"/>
                <a:cs typeface="Times New Roman"/>
              </a:rPr>
              <a:t>2026-10-07)</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관계검색-비교-</a:t>
            </a:r>
            <a:r>
              <a:rPr sz="1200" b="0">
                <a:solidFill>
                  <a:srgbClr val="142238"/>
                </a:solidFill>
                <a:latin typeface="Times New Roman"/>
                <a:ea typeface="Times New Roman"/>
                <a:cs typeface="Times New Roman"/>
              </a:rPr>
              <a:t>20261007.md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2,000 </a:t>
            </a:r>
            <a:r>
              <a:rPr sz="1200" b="0">
                <a:solidFill>
                  <a:srgbClr val="142238"/>
                </a:solidFill>
                <a:latin typeface="Malgun Gothic"/>
                <a:ea typeface="Malgun Gothic"/>
                <a:cs typeface="Malgun Gothic"/>
              </a:rPr>
              <a:t>합성 상세,</a:t>
            </a:r>
            <a:r>
              <a:rPr sz="1200" b="0">
                <a:solidFill>
                  <a:srgbClr val="142238"/>
                </a:solidFill>
                <a:latin typeface="Times New Roman"/>
                <a:ea typeface="Times New Roman"/>
                <a:cs typeface="Times New Roman"/>
              </a:rPr>
              <a:t>41</a:t>
            </a:r>
            <a:r>
              <a:rPr sz="1200" b="0">
                <a:solidFill>
                  <a:srgbClr val="142238"/>
                </a:solidFill>
                <a:latin typeface="Malgun Gothic"/>
                <a:ea typeface="Malgun Gothic"/>
                <a:cs typeface="Malgun Gothic"/>
              </a:rPr>
              <a:t>문항 중 정답있는</a:t>
            </a:r>
            <a:r>
              <a:rPr sz="1200" b="0">
                <a:solidFill>
                  <a:srgbClr val="142238"/>
                </a:solidFill>
                <a:latin typeface="Times New Roman"/>
                <a:ea typeface="Times New Roman"/>
                <a:cs typeface="Times New Roman"/>
              </a:rPr>
              <a:t>34</a:t>
            </a:r>
            <a:r>
              <a:rPr sz="1200" b="0">
                <a:solidFill>
                  <a:srgbClr val="142238"/>
                </a:solidFill>
                <a:latin typeface="Malgun Gothic"/>
                <a:ea typeface="Malgun Gothic"/>
                <a:cs typeface="Malgun Gothic"/>
              </a:rPr>
              <a:t>개. 첫 정답</a:t>
            </a:r>
            <a:r>
              <a:rPr sz="1200" b="0">
                <a:solidFill>
                  <a:srgbClr val="142238"/>
                </a:solidFill>
                <a:latin typeface="Times New Roman"/>
                <a:ea typeface="Times New Roman"/>
                <a:cs typeface="Times New Roman"/>
              </a:rPr>
              <a:t>32/34</a:t>
            </a:r>
            <a:r>
              <a:rPr sz="1200" b="0">
                <a:solidFill>
                  <a:srgbClr val="142238"/>
                </a:solidFill>
                <a:latin typeface="Malgun Gothic"/>
                <a:ea typeface="Malgun Gothic"/>
                <a:cs typeface="Malgun Gothic"/>
              </a:rPr>
              <a:t>와</a:t>
            </a:r>
            <a:r>
              <a:rPr sz="1200" b="0">
                <a:solidFill>
                  <a:srgbClr val="142238"/>
                </a:solidFill>
                <a:latin typeface="Times New Roman"/>
                <a:ea typeface="Times New Roman"/>
                <a:cs typeface="Times New Roman"/>
              </a:rPr>
              <a:t>34/34. </a:t>
            </a:r>
            <a:r>
              <a:rPr sz="1200" b="0">
                <a:solidFill>
                  <a:srgbClr val="142238"/>
                </a:solidFill>
                <a:latin typeface="Malgun Gothic"/>
                <a:ea typeface="Malgun Gothic"/>
                <a:cs typeface="Malgun Gothic"/>
              </a:rPr>
              <a:t>정답없는</a:t>
            </a:r>
            <a:r>
              <a:rPr sz="1200" b="0">
                <a:solidFill>
                  <a:srgbClr val="142238"/>
                </a:solidFill>
                <a:latin typeface="Times New Roman"/>
                <a:ea typeface="Times New Roman"/>
                <a:cs typeface="Times New Roman"/>
              </a:rPr>
              <a:t>3</a:t>
            </a:r>
            <a:r>
              <a:rPr sz="1200" b="0">
                <a:solidFill>
                  <a:srgbClr val="142238"/>
                </a:solidFill>
                <a:latin typeface="Malgun Gothic"/>
                <a:ea typeface="Malgun Gothic"/>
                <a:cs typeface="Malgun Gothic"/>
              </a:rPr>
              <a:t>개 중</a:t>
            </a:r>
            <a:r>
              <a:rPr sz="1200" b="0">
                <a:solidFill>
                  <a:srgbClr val="142238"/>
                </a:solidFill>
                <a:latin typeface="Times New Roman"/>
                <a:ea typeface="Times New Roman"/>
                <a:cs typeface="Times New Roman"/>
              </a:rPr>
              <a:t>2</a:t>
            </a:r>
            <a:r>
              <a:rPr sz="1200" b="0">
                <a:solidFill>
                  <a:srgbClr val="142238"/>
                </a:solidFill>
                <a:latin typeface="Malgun Gothic"/>
                <a:ea typeface="Malgun Gothic"/>
                <a:cs typeface="Malgun Gothic"/>
              </a:rPr>
              <a:t>개는 두방식 모두 유사후보를 반환.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55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가 더 관련 있는 사례를 선택했다고 해서 그 이후 답변이 자동으로 사실이 되는 것은 아닙니다. 답변 </a:t>
            </a:r>
            <a:r>
              <a:rPr sz="1200" b="0">
                <a:solidFill>
                  <a:srgbClr val="142238"/>
                </a:solidFill>
                <a:latin typeface="Times New Roman"/>
                <a:ea typeface="Times New Roman"/>
                <a:cs typeface="Times New Roman"/>
              </a:rPr>
              <a:t>LLM</a:t>
            </a:r>
            <a:r>
              <a:rPr sz="1200" b="0">
                <a:solidFill>
                  <a:srgbClr val="142238"/>
                </a:solidFill>
                <a:latin typeface="Malgun Gothic"/>
                <a:ea typeface="Malgun Gothic"/>
                <a:cs typeface="Malgun Gothic"/>
              </a:rPr>
              <a:t>과 원문 검사 단계를 구분합니다. 여기서 근거의 주소는 접수번호만이 아니라 작업 이와 조치내용 이라는 셀까지 내려갑니다. 원문에는 배관 보수와 펌프 오버홀, 십오 분 동안 이십이 도 유지가 기록되어 있습니다. 설명도 그 범위까지여야 합니다. 완전히 해결했다거나 장기 재발이 없었다는 결론은 이 셀에서 얻을 수 없습니다. 같은 </a:t>
            </a:r>
            <a:r>
              <a:rPr sz="1200" b="0">
                <a:solidFill>
                  <a:srgbClr val="142238"/>
                </a:solidFill>
                <a:latin typeface="Times New Roman"/>
                <a:ea typeface="Times New Roman"/>
                <a:cs typeface="Times New Roman"/>
              </a:rPr>
              <a:t>CS</a:t>
            </a:r>
            <a:r>
              <a:rPr sz="1200" b="0">
                <a:solidFill>
                  <a:srgbClr val="142238"/>
                </a:solidFill>
                <a:latin typeface="Malgun Gothic"/>
                <a:ea typeface="Malgun Gothic"/>
                <a:cs typeface="Malgun Gothic"/>
              </a:rPr>
              <a:t>의 다른 상세나 다른 작업을 섞지 않도록 근거를 분리합니다. 현재의 인용과 수치 검사만으로 모든 의미 오류를 차단한다고 주장하지 않으며, 실제 설비에 적용할 조치는 담당자가 원문과 조건을 보고 판단합니다.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E7. Clef </a:t>
            </a:r>
            <a:r>
              <a:rPr sz="1200" b="0">
                <a:solidFill>
                  <a:srgbClr val="142238"/>
                </a:solidFill>
                <a:latin typeface="Malgun Gothic"/>
                <a:ea typeface="Malgun Gothic"/>
                <a:cs typeface="Malgun Gothic"/>
              </a:rPr>
              <a:t>조건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문항 대조 (</a:t>
            </a:r>
            <a:r>
              <a:rPr sz="1200" b="0">
                <a:solidFill>
                  <a:srgbClr val="142238"/>
                </a:solidFill>
                <a:latin typeface="Times New Roman"/>
                <a:ea typeface="Times New Roman"/>
                <a:cs typeface="Times New Roman"/>
              </a:rPr>
              <a:t>2026-10-14)</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https://github.com/pmh10401/cs-excel-rag/blob/main/docs/Clef-</a:t>
            </a:r>
            <a:r>
              <a:rPr sz="1200" b="0">
                <a:solidFill>
                  <a:srgbClr val="142238"/>
                </a:solidFill>
                <a:latin typeface="Malgun Gothic"/>
                <a:ea typeface="Malgun Gothic"/>
                <a:cs typeface="Malgun Gothic"/>
              </a:rPr>
              <a:t>발표-조건비교-</a:t>
            </a:r>
            <a:r>
              <a:rPr sz="1200" b="0">
                <a:solidFill>
                  <a:srgbClr val="142238"/>
                </a:solidFill>
                <a:latin typeface="Times New Roman"/>
                <a:ea typeface="Times New Roman"/>
                <a:cs typeface="Times New Roman"/>
              </a:rPr>
              <a:t>20261014.md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기존 개발 질문의 유사 현상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개 전부. 저장된 </a:t>
            </a:r>
            <a:r>
              <a:rPr sz="1200" b="0">
                <a:solidFill>
                  <a:srgbClr val="142238"/>
                </a:solidFill>
                <a:latin typeface="Times New Roman"/>
                <a:ea typeface="Times New Roman"/>
                <a:cs typeface="Times New Roman"/>
              </a:rPr>
              <a:t>Gemma 2 </a:t>
            </a:r>
            <a:r>
              <a:rPr sz="1200" b="0">
                <a:solidFill>
                  <a:srgbClr val="142238"/>
                </a:solidFill>
                <a:latin typeface="Malgun Gothic"/>
                <a:ea typeface="Malgun Gothic"/>
                <a:cs typeface="Malgun Gothic"/>
              </a:rPr>
              <a:t>결합 후보</a:t>
            </a:r>
            <a:r>
              <a:rPr sz="1200" b="0">
                <a:solidFill>
                  <a:srgbClr val="142238"/>
                </a:solidFill>
                <a:latin typeface="Times New Roman"/>
                <a:ea typeface="Times New Roman"/>
                <a:cs typeface="Times New Roman"/>
              </a:rPr>
              <a:t>5</a:t>
            </a:r>
            <a:r>
              <a:rPr sz="1200" b="0">
                <a:solidFill>
                  <a:srgbClr val="142238"/>
                </a:solidFill>
                <a:latin typeface="Malgun Gothic"/>
                <a:ea typeface="Malgun Gothic"/>
                <a:cs typeface="Malgun Gothic"/>
              </a:rPr>
              <a:t>건 고정. 현재 </a:t>
            </a:r>
            <a:r>
              <a:rPr sz="1200" b="0">
                <a:solidFill>
                  <a:srgbClr val="142238"/>
                </a:solidFill>
                <a:latin typeface="Times New Roman"/>
                <a:ea typeface="Times New Roman"/>
                <a:cs typeface="Times New Roman"/>
              </a:rPr>
              <a:t>Clef </a:t>
            </a:r>
            <a:r>
              <a:rPr sz="1200" b="0">
                <a:solidFill>
                  <a:srgbClr val="142238"/>
                </a:solidFill>
                <a:latin typeface="Malgun Gothic"/>
                <a:ea typeface="Malgun Gothic"/>
                <a:cs typeface="Malgun Gothic"/>
              </a:rPr>
              <a:t>프롬프트, </a:t>
            </a:r>
            <a:r>
              <a:rPr sz="1200" b="0">
                <a:solidFill>
                  <a:srgbClr val="142238"/>
                </a:solidFill>
                <a:latin typeface="Times New Roman"/>
                <a:ea typeface="Times New Roman"/>
                <a:cs typeface="Times New Roman"/>
              </a:rPr>
              <a:t>MLX GPU 8</a:t>
            </a:r>
            <a:r>
              <a:rPr sz="1200" b="0">
                <a:solidFill>
                  <a:srgbClr val="142238"/>
                </a:solidFill>
                <a:latin typeface="Malgun Gothic"/>
                <a:ea typeface="Malgun Gothic"/>
                <a:cs typeface="Malgun Gothic"/>
              </a:rPr>
              <a:t>비트. 소규모 검색 순서 진단이며 최종 답변·현장 정확도는 평가하지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사용자는 모델의 이름보다 자신의 업무가 어떻게 달라지는지 알아야 합니다. 관리자는 여러 파일을 등록하고 중단되면 성공한 부분을 보존한 채 이어서 처리합니다. 사용자는 자료 준비 중에도 이미 등록된 자료에 질문하고 과거 조치와 원문을 확인합니다. 그래프에서는 공통 부품의 다른 설비 기록으로 이동해 비교할 수 있습니다. 관련된 작업 복구 검사 열네 건과 동시 처리 검사 일곱 건을 통과했습니다. 이 숫자는 기능 검사 수이며 동시 사용자 수나 현장 정답률은 아닙니다. 현장에서는 수동 재작업 시간, 정답 근거를 찾는 시간, 다른 조건의 조치가 섞이는지 등을 측정해야 합니다.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의 </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입력과 실제 백이십 </a:t>
            </a:r>
            <a:r>
              <a:rPr sz="1200" b="0">
                <a:solidFill>
                  <a:srgbClr val="142238"/>
                </a:solidFill>
                <a:latin typeface="Times New Roman"/>
                <a:ea typeface="Times New Roman"/>
                <a:cs typeface="Times New Roman"/>
              </a:rPr>
              <a:t>B </a:t>
            </a:r>
            <a:r>
              <a:rPr sz="1200" b="0">
                <a:solidFill>
                  <a:srgbClr val="142238"/>
                </a:solidFill>
                <a:latin typeface="Malgun Gothic"/>
                <a:ea typeface="Malgun Gothic"/>
                <a:cs typeface="Malgun Gothic"/>
              </a:rPr>
              <a:t>모델 대기 시간, 권한 구분도 적용 전에 확인하겠습니다.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E6. </a:t>
            </a:r>
            <a:r>
              <a:rPr sz="1200" b="0">
                <a:solidFill>
                  <a:srgbClr val="142238"/>
                </a:solidFill>
                <a:latin typeface="Malgun Gothic"/>
                <a:ea typeface="Malgun Gothic"/>
                <a:cs typeface="Malgun Gothic"/>
              </a:rPr>
              <a:t>제품화 목표와 남은 검증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제품화-설계-</a:t>
            </a:r>
            <a:r>
              <a:rPr sz="1200" b="0">
                <a:solidFill>
                  <a:srgbClr val="142238"/>
                </a:solidFill>
                <a:latin typeface="Times New Roman"/>
                <a:ea typeface="Times New Roman"/>
                <a:cs typeface="Times New Roman"/>
              </a:rPr>
              <a:t>20261013.md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사내서버+여러브라우저 목표. 사용자·관리자권한,운영</a:t>
            </a:r>
            <a:r>
              <a:rPr sz="1200" b="0">
                <a:solidFill>
                  <a:srgbClr val="142238"/>
                </a:solidFill>
                <a:latin typeface="Times New Roman"/>
                <a:ea typeface="Times New Roman"/>
                <a:cs typeface="Times New Roman"/>
              </a:rPr>
              <a:t>API,</a:t>
            </a:r>
            <a:r>
              <a:rPr sz="1200" b="0">
                <a:solidFill>
                  <a:srgbClr val="142238"/>
                </a:solidFill>
                <a:latin typeface="Malgun Gothic"/>
                <a:ea typeface="Malgun Gothic"/>
                <a:cs typeface="Malgun Gothic"/>
              </a:rPr>
              <a:t>현장정확도,실제부하 확인 필요. 문서 최초설계의 후속범위 중 동시질문은</a:t>
            </a:r>
            <a:r>
              <a:rPr sz="1200" b="0">
                <a:solidFill>
                  <a:srgbClr val="142238"/>
                </a:solidFill>
                <a:latin typeface="Times New Roman"/>
                <a:ea typeface="Times New Roman"/>
                <a:cs typeface="Times New Roman"/>
              </a:rPr>
              <a:t>E4</a:t>
            </a:r>
            <a:r>
              <a:rPr sz="1200" b="0">
                <a:solidFill>
                  <a:srgbClr val="142238"/>
                </a:solidFill>
                <a:latin typeface="Malgun Gothic"/>
                <a:ea typeface="Malgun Gothic"/>
                <a:cs typeface="Malgun Gothic"/>
              </a:rPr>
              <a:t>로 상태갱신.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45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이 서비스의 차이는 </a:t>
            </a: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업무에 맞춘 근거 선택과 확인 과정입니다. </a:t>
            </a: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는 같은 후보 안에서 질문 조건에 맞는 사례를 앞에 두고, 그래프는 공통 부품의 다른 이력을 연결하며, 원문 셀은 조치와 수치의 출처를 확인하게 합니다. 소규모 개발 비교와 운영 기능 검증은 완료했습니다. 이제 한 설비군에서 개발에 쓰지 않은 현장 질문 오십 개를 정하고, 기존 </a:t>
            </a:r>
            <a:r>
              <a:rPr sz="1200" b="0">
                <a:solidFill>
                  <a:srgbClr val="142238"/>
                </a:solidFill>
                <a:latin typeface="Times New Roman"/>
                <a:ea typeface="Times New Roman"/>
                <a:cs typeface="Times New Roman"/>
              </a:rPr>
              <a:t>Excel </a:t>
            </a:r>
            <a:r>
              <a:rPr sz="1200" b="0">
                <a:solidFill>
                  <a:srgbClr val="142238"/>
                </a:solidFill>
                <a:latin typeface="Malgun Gothic"/>
                <a:ea typeface="Malgun Gothic"/>
                <a:cs typeface="Malgun Gothic"/>
              </a:rPr>
              <a:t>검색과 </a:t>
            </a:r>
            <a:r>
              <a:rPr sz="1200" b="0">
                <a:solidFill>
                  <a:srgbClr val="142238"/>
                </a:solidFill>
                <a:latin typeface="Times New Roman"/>
                <a:ea typeface="Times New Roman"/>
                <a:cs typeface="Times New Roman"/>
              </a:rPr>
              <a:t>Clef </a:t>
            </a:r>
            <a:r>
              <a:rPr sz="1200" b="0">
                <a:solidFill>
                  <a:srgbClr val="142238"/>
                </a:solidFill>
                <a:latin typeface="Malgun Gothic"/>
                <a:ea typeface="Malgun Gothic"/>
                <a:cs typeface="Malgun Gothic"/>
              </a:rPr>
              <a:t>적용 전후를 비교할 것을 제안합니다. 정답 근거를 찾는 시간과 잘못된 조치 안내를 함께 측정해 양산 적용과 다른 설비 확산을 결정하겠습니다. 감사합니다.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E3. </a:t>
            </a:r>
            <a:r>
              <a:rPr sz="1200" b="0">
                <a:solidFill>
                  <a:srgbClr val="142238"/>
                </a:solidFill>
                <a:latin typeface="Malgun Gothic"/>
                <a:ea typeface="Malgun Gothic"/>
                <a:cs typeface="Malgun Gothic"/>
              </a:rPr>
              <a:t>원문 관계 보완 비교 (</a:t>
            </a:r>
            <a:r>
              <a:rPr sz="1200" b="0">
                <a:solidFill>
                  <a:srgbClr val="142238"/>
                </a:solidFill>
                <a:latin typeface="Times New Roman"/>
                <a:ea typeface="Times New Roman"/>
                <a:cs typeface="Times New Roman"/>
              </a:rPr>
              <a:t>2026-10-07)</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관계검색-비교-</a:t>
            </a:r>
            <a:r>
              <a:rPr sz="1200" b="0">
                <a:solidFill>
                  <a:srgbClr val="142238"/>
                </a:solidFill>
                <a:latin typeface="Times New Roman"/>
                <a:ea typeface="Times New Roman"/>
                <a:cs typeface="Times New Roman"/>
              </a:rPr>
              <a:t>20261007.md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2,000 </a:t>
            </a:r>
            <a:r>
              <a:rPr sz="1200" b="0">
                <a:solidFill>
                  <a:srgbClr val="142238"/>
                </a:solidFill>
                <a:latin typeface="Malgun Gothic"/>
                <a:ea typeface="Malgun Gothic"/>
                <a:cs typeface="Malgun Gothic"/>
              </a:rPr>
              <a:t>합성 상세,</a:t>
            </a:r>
            <a:r>
              <a:rPr sz="1200" b="0">
                <a:solidFill>
                  <a:srgbClr val="142238"/>
                </a:solidFill>
                <a:latin typeface="Times New Roman"/>
                <a:ea typeface="Times New Roman"/>
                <a:cs typeface="Times New Roman"/>
              </a:rPr>
              <a:t>41</a:t>
            </a:r>
            <a:r>
              <a:rPr sz="1200" b="0">
                <a:solidFill>
                  <a:srgbClr val="142238"/>
                </a:solidFill>
                <a:latin typeface="Malgun Gothic"/>
                <a:ea typeface="Malgun Gothic"/>
                <a:cs typeface="Malgun Gothic"/>
              </a:rPr>
              <a:t>문항 중 정답있는</a:t>
            </a:r>
            <a:r>
              <a:rPr sz="1200" b="0">
                <a:solidFill>
                  <a:srgbClr val="142238"/>
                </a:solidFill>
                <a:latin typeface="Times New Roman"/>
                <a:ea typeface="Times New Roman"/>
                <a:cs typeface="Times New Roman"/>
              </a:rPr>
              <a:t>34</a:t>
            </a:r>
            <a:r>
              <a:rPr sz="1200" b="0">
                <a:solidFill>
                  <a:srgbClr val="142238"/>
                </a:solidFill>
                <a:latin typeface="Malgun Gothic"/>
                <a:ea typeface="Malgun Gothic"/>
                <a:cs typeface="Malgun Gothic"/>
              </a:rPr>
              <a:t>개. 첫 정답</a:t>
            </a:r>
            <a:r>
              <a:rPr sz="1200" b="0">
                <a:solidFill>
                  <a:srgbClr val="142238"/>
                </a:solidFill>
                <a:latin typeface="Times New Roman"/>
                <a:ea typeface="Times New Roman"/>
                <a:cs typeface="Times New Roman"/>
              </a:rPr>
              <a:t>32/34</a:t>
            </a:r>
            <a:r>
              <a:rPr sz="1200" b="0">
                <a:solidFill>
                  <a:srgbClr val="142238"/>
                </a:solidFill>
                <a:latin typeface="Malgun Gothic"/>
                <a:ea typeface="Malgun Gothic"/>
                <a:cs typeface="Malgun Gothic"/>
              </a:rPr>
              <a:t>와</a:t>
            </a:r>
            <a:r>
              <a:rPr sz="1200" b="0">
                <a:solidFill>
                  <a:srgbClr val="142238"/>
                </a:solidFill>
                <a:latin typeface="Times New Roman"/>
                <a:ea typeface="Times New Roman"/>
                <a:cs typeface="Times New Roman"/>
              </a:rPr>
              <a:t>34/34. </a:t>
            </a:r>
            <a:r>
              <a:rPr sz="1200" b="0">
                <a:solidFill>
                  <a:srgbClr val="142238"/>
                </a:solidFill>
                <a:latin typeface="Malgun Gothic"/>
                <a:ea typeface="Malgun Gothic"/>
                <a:cs typeface="Malgun Gothic"/>
              </a:rPr>
              <a:t>정답없는</a:t>
            </a:r>
            <a:r>
              <a:rPr sz="1200" b="0">
                <a:solidFill>
                  <a:srgbClr val="142238"/>
                </a:solidFill>
                <a:latin typeface="Times New Roman"/>
                <a:ea typeface="Times New Roman"/>
                <a:cs typeface="Times New Roman"/>
              </a:rPr>
              <a:t>3</a:t>
            </a:r>
            <a:r>
              <a:rPr sz="1200" b="0">
                <a:solidFill>
                  <a:srgbClr val="142238"/>
                </a:solidFill>
                <a:latin typeface="Malgun Gothic"/>
                <a:ea typeface="Malgun Gothic"/>
                <a:cs typeface="Malgun Gothic"/>
              </a:rPr>
              <a:t>개 중</a:t>
            </a:r>
            <a:r>
              <a:rPr sz="1200" b="0">
                <a:solidFill>
                  <a:srgbClr val="142238"/>
                </a:solidFill>
                <a:latin typeface="Times New Roman"/>
                <a:ea typeface="Times New Roman"/>
                <a:cs typeface="Times New Roman"/>
              </a:rPr>
              <a:t>2</a:t>
            </a:r>
            <a:r>
              <a:rPr sz="1200" b="0">
                <a:solidFill>
                  <a:srgbClr val="142238"/>
                </a:solidFill>
                <a:latin typeface="Malgun Gothic"/>
                <a:ea typeface="Malgun Gothic"/>
                <a:cs typeface="Malgun Gothic"/>
              </a:rPr>
              <a:t>개는 두방식 모두 유사후보를 반환.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https://github.com/pmh10401/cs-excel-rag/blob/df5fb7e036d74d2eff9180f6f2f99ab9ad33b2e9/docs/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E7. Clef </a:t>
            </a:r>
            <a:r>
              <a:rPr sz="1200" b="0">
                <a:solidFill>
                  <a:srgbClr val="142238"/>
                </a:solidFill>
                <a:latin typeface="Malgun Gothic"/>
                <a:ea typeface="Malgun Gothic"/>
                <a:cs typeface="Malgun Gothic"/>
              </a:rPr>
              <a:t>조건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문항 대조 (</a:t>
            </a:r>
            <a:r>
              <a:rPr sz="1200" b="0">
                <a:solidFill>
                  <a:srgbClr val="142238"/>
                </a:solidFill>
                <a:latin typeface="Times New Roman"/>
                <a:ea typeface="Times New Roman"/>
                <a:cs typeface="Times New Roman"/>
              </a:rPr>
              <a:t>2026-10-14)</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https://github.com/pmh10401/cs-excel-rag/blob/main/docs/Clef-</a:t>
            </a:r>
            <a:r>
              <a:rPr sz="1200" b="0">
                <a:solidFill>
                  <a:srgbClr val="142238"/>
                </a:solidFill>
                <a:latin typeface="Malgun Gothic"/>
                <a:ea typeface="Malgun Gothic"/>
                <a:cs typeface="Malgun Gothic"/>
              </a:rPr>
              <a:t>발표-조건비교-</a:t>
            </a:r>
            <a:r>
              <a:rPr sz="1200" b="0">
                <a:solidFill>
                  <a:srgbClr val="142238"/>
                </a:solidFill>
                <a:latin typeface="Times New Roman"/>
                <a:ea typeface="Times New Roman"/>
                <a:cs typeface="Times New Roman"/>
              </a:rPr>
              <a:t>20261014.md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기존 개발 질문의 유사 현상 구분 </a:t>
            </a:r>
            <a:r>
              <a:rPr sz="1200" b="0">
                <a:solidFill>
                  <a:srgbClr val="142238"/>
                </a:solidFill>
                <a:latin typeface="Times New Roman"/>
                <a:ea typeface="Times New Roman"/>
                <a:cs typeface="Times New Roman"/>
              </a:rPr>
              <a:t>8</a:t>
            </a:r>
            <a:r>
              <a:rPr sz="1200" b="0">
                <a:solidFill>
                  <a:srgbClr val="142238"/>
                </a:solidFill>
                <a:latin typeface="Malgun Gothic"/>
                <a:ea typeface="Malgun Gothic"/>
                <a:cs typeface="Malgun Gothic"/>
              </a:rPr>
              <a:t>개 전부. 저장된 </a:t>
            </a:r>
            <a:r>
              <a:rPr sz="1200" b="0">
                <a:solidFill>
                  <a:srgbClr val="142238"/>
                </a:solidFill>
                <a:latin typeface="Times New Roman"/>
                <a:ea typeface="Times New Roman"/>
                <a:cs typeface="Times New Roman"/>
              </a:rPr>
              <a:t>Gemma 2 </a:t>
            </a:r>
            <a:r>
              <a:rPr sz="1200" b="0">
                <a:solidFill>
                  <a:srgbClr val="142238"/>
                </a:solidFill>
                <a:latin typeface="Malgun Gothic"/>
                <a:ea typeface="Malgun Gothic"/>
                <a:cs typeface="Malgun Gothic"/>
              </a:rPr>
              <a:t>결합 후보</a:t>
            </a:r>
            <a:r>
              <a:rPr sz="1200" b="0">
                <a:solidFill>
                  <a:srgbClr val="142238"/>
                </a:solidFill>
                <a:latin typeface="Times New Roman"/>
                <a:ea typeface="Times New Roman"/>
                <a:cs typeface="Times New Roman"/>
              </a:rPr>
              <a:t>5</a:t>
            </a:r>
            <a:r>
              <a:rPr sz="1200" b="0">
                <a:solidFill>
                  <a:srgbClr val="142238"/>
                </a:solidFill>
                <a:latin typeface="Malgun Gothic"/>
                <a:ea typeface="Malgun Gothic"/>
                <a:cs typeface="Malgun Gothic"/>
              </a:rPr>
              <a:t>건 고정. 현재 </a:t>
            </a:r>
            <a:r>
              <a:rPr sz="1200" b="0">
                <a:solidFill>
                  <a:srgbClr val="142238"/>
                </a:solidFill>
                <a:latin typeface="Times New Roman"/>
                <a:ea typeface="Times New Roman"/>
                <a:cs typeface="Times New Roman"/>
              </a:rPr>
              <a:t>Clef </a:t>
            </a:r>
            <a:r>
              <a:rPr sz="1200" b="0">
                <a:solidFill>
                  <a:srgbClr val="142238"/>
                </a:solidFill>
                <a:latin typeface="Malgun Gothic"/>
                <a:ea typeface="Malgun Gothic"/>
                <a:cs typeface="Malgun Gothic"/>
              </a:rPr>
              <a:t>프롬프트, </a:t>
            </a:r>
            <a:r>
              <a:rPr sz="1200" b="0">
                <a:solidFill>
                  <a:srgbClr val="142238"/>
                </a:solidFill>
                <a:latin typeface="Times New Roman"/>
                <a:ea typeface="Times New Roman"/>
                <a:cs typeface="Times New Roman"/>
              </a:rPr>
              <a:t>MLX GPU 8</a:t>
            </a:r>
            <a:r>
              <a:rPr sz="1200" b="0">
                <a:solidFill>
                  <a:srgbClr val="142238"/>
                </a:solidFill>
                <a:latin typeface="Malgun Gothic"/>
                <a:ea typeface="Malgun Gothic"/>
                <a:cs typeface="Malgun Gothic"/>
              </a:rPr>
              <a:t>비트. 소규모 검색 순서 진단이며 최종 답변·현장 정확도는 평가하지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78d72a42ee41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9e7d4dbc6343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105484c2fe48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7ee3d592b44d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5cda5ff0d542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81d30c5cff45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2AF648-1B6D-4ED9-8A5A-F1BC41646E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B4C21A-A05A-4D38-AE4A-5460DE11EB1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66A17F-4845-4D47-9905-177DCF0392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24B2B2-F80F-4C1B-B722-38DD65E9B2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32FDDF-7DB5-4F6F-888D-D226691F6A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3EC0A4-622F-4F7D-A0E5-C3AC164D99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894CAD-B588-4F0A-96E3-FDF9B3BE9A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E74341-0350-4DF5-A6BF-24214EB3AF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F18AC3-EBE3-4B4C-B03B-CBB5A2E08B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92C292-0CD6-4FC9-BA18-9BAB707605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8f16d886db4f2f" /><Relationship Type="http://schemas.openxmlformats.org/officeDocument/2006/relationships/slideLayout" Target="/ppt/slideLayouts/slideLayout1.xml" Id="R1b2cf819029d4a70" /><Relationship Type="http://schemas.openxmlformats.org/officeDocument/2006/relationships/slideLayout" Target="/ppt/slideLayouts/slideLayout2.xml" Id="R0ef289524f114957" /><Relationship Type="http://schemas.openxmlformats.org/officeDocument/2006/relationships/slideLayout" Target="/ppt/slideLayouts/slideLayout3.xml" Id="R5ab6c6af420b45c0" /><Relationship Type="http://schemas.openxmlformats.org/officeDocument/2006/relationships/slideLayout" Target="/ppt/slideLayouts/slideLayout4.xml" Id="R40a539ac546d4808" /><Relationship Type="http://schemas.openxmlformats.org/officeDocument/2006/relationships/slideLayout" Target="/ppt/slideLayouts/slideLayout5.xml" Id="R140fc576f3f840b8" /><Relationship Type="http://schemas.openxmlformats.org/officeDocument/2006/relationships/slideLayout" Target="/ppt/slideLayouts/slideLayout6.xml" Id="Rf0dbdf40d4c640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2cf819029d4a70"/>
    <p:sldLayoutId xmlns:r="http://schemas.openxmlformats.org/officeDocument/2006/relationships" id="2147483650" r:id="R0ef289524f114957"/>
    <p:sldLayoutId xmlns:r="http://schemas.openxmlformats.org/officeDocument/2006/relationships" id="2147483651" r:id="R5ab6c6af420b45c0"/>
    <p:sldLayoutId xmlns:r="http://schemas.openxmlformats.org/officeDocument/2006/relationships" id="2147483652" r:id="R40a539ac546d4808"/>
    <p:sldLayoutId xmlns:r="http://schemas.openxmlformats.org/officeDocument/2006/relationships" id="2147483653" r:id="R140fc576f3f840b8"/>
    <p:sldLayoutId xmlns:r="http://schemas.openxmlformats.org/officeDocument/2006/relationships" id="2147483654" r:id="Rf0dbdf40d4c640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ffc9bb52c74e80" /><Relationship Type="http://schemas.openxmlformats.org/officeDocument/2006/relationships/notesSlide" Target="/ppt/notesSlides/notesSlide1.xml" Id="R93f501f873e943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e3e3481a1443a2" /><Relationship Type="http://schemas.openxmlformats.org/officeDocument/2006/relationships/notesSlide" Target="/ppt/notesSlides/notesSlide2.xml" Id="R46a6a50bbb9e44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254d7348e24962" /><Relationship Type="http://schemas.openxmlformats.org/officeDocument/2006/relationships/notesSlide" Target="/ppt/notesSlides/notesSlide3.xml" Id="R27dd5240330e41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48da8f06aa40d7" /><Relationship Type="http://schemas.openxmlformats.org/officeDocument/2006/relationships/notesSlide" Target="/ppt/notesSlides/notesSlide4.xml" Id="R8a1fe48943264a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6be80b797144cee" /><Relationship Type="http://schemas.openxmlformats.org/officeDocument/2006/relationships/notesSlide" Target="/ppt/notesSlides/notesSlide5.xml" Id="R8253abb1f19e4a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5e6df409424d01" /><Relationship Type="http://schemas.openxmlformats.org/officeDocument/2006/relationships/chart" Target="/ppt/slides/charts/chart1.xml" Id="R3571b52b4bda4619" /><Relationship Type="http://schemas.openxmlformats.org/officeDocument/2006/relationships/notesSlide" Target="/ppt/notesSlides/notesSlide6.xml" Id="R2d70dc8b7ec448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4b165d249dd4f01" /><Relationship Type="http://schemas.openxmlformats.org/officeDocument/2006/relationships/notesSlide" Target="/ppt/notesSlides/notesSlide7.xml" Id="R4075ed40e25d46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35a4e5beb9e4772" /><Relationship Type="http://schemas.openxmlformats.org/officeDocument/2006/relationships/notesSlide" Target="/ppt/notesSlides/notesSlide8.xml" Id="Raeb07bdec58e41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07b4af3b07428a" /><Relationship Type="http://schemas.openxmlformats.org/officeDocument/2006/relationships/notesSlide" Target="/ppt/notesSlides/notesSlide9.xml" Id="R9f9bef7963fe41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afbdc03ae341d6" /><Relationship Type="http://schemas.openxmlformats.org/officeDocument/2006/relationships/notesSlide" Target="/ppt/notesSlides/notesSlide10.xml" Id="R449d79c608974232" /></Relationships>
</file>

<file path=ppt/slides/charts/chart1.xml><?xml version="1.0" encoding="utf-8"?>
<c:chartSpace xmlns:c="http://schemas.openxmlformats.org/drawingml/2006/chart">
  <c:lang val="en-US"/>
  <c:chart>
    <c:plotArea>
      <c:barChart>
        <c:barDir val="col"/>
        <c:grouping val="clustered"/>
        <c:varyColors val="0"/>
        <c:ser>
          <c:idx val="0"/>
          <c:order val="0"/>
          <c:tx>
            <c:v>첫 후보 정답 문항 수</c:v>
          </c:tx>
          <c:spPr>
            <a:solidFill xmlns:a="http://schemas.openxmlformats.org/drawingml/2006/main">
              <a:srgbClr val="1459C7"/>
            </a:solidFill>
          </c:spPr>
          <c:invertIfNegative val="0"/>
          <c:dPt>
            <c:idx val="0"/>
            <c:invertIfNegative val="0"/>
            <c:spPr>
              <a:solidFill xmlns:a="http://schemas.openxmlformats.org/drawingml/2006/main">
                <a:srgbClr val="A3ADBA"/>
              </a:solidFill>
            </c:spPr>
          </c:dPt>
          <c:dPt>
            <c:idx val="1"/>
            <c:invertIfNegative val="0"/>
            <c:spPr>
              <a:solidFill xmlns:a="http://schemas.openxmlformats.org/drawingml/2006/main">
                <a:srgbClr val="1459C7"/>
              </a:solidFill>
            </c:spPr>
          </c:dPt>
          <c:dLbls>
            <c:dLbl>
              <c:idx val="0"/>
              <c:tx>
                <c:rich>
                  <a:bodyPr xmlns:a="http://schemas.openxmlformats.org/drawingml/2006/main"/>
                  <a:lstStyle xmlns:a="http://schemas.openxmlformats.org/drawingml/2006/main"/>
                  <a:p xmlns:a="http://schemas.openxmlformats.org/drawingml/2006/main">
                    <a:r>
                      <a:rPr sz="1950" b="1">
                        <a:solidFill>
                          <a:srgbClr val="142238"/>
                        </a:solidFill>
                        <a:latin typeface="Times New Roman"/>
                        <a:ea typeface="Times New Roman"/>
                        <a:cs typeface="Times New Roman"/>
                      </a:rPr>
                      <a:t>5 / 8</a:t>
                    </a:r>
                  </a:p>
                </c:rich>
              </c:tx>
              <c:txPr>
                <a:bodyPr xmlns:a="http://schemas.openxmlformats.org/drawingml/2006/main" anchorCtr="1"/>
                <a:lstStyle xmlns:a="http://schemas.openxmlformats.org/drawingml/2006/main"/>
                <a:p xmlns:a="http://schemas.openxmlformats.org/drawingml/2006/main">
                  <a:pPr>
                    <a:defRPr sz="1950" b="1">
                      <a:solidFill>
                        <a:srgbClr val="142238"/>
                      </a:solidFill>
                      <a:latin typeface="Times New Roman"/>
                      <a:ea typeface="Times New Roman"/>
                      <a:cs typeface="Times New Roman"/>
                    </a:defRPr>
                  </a:pPr>
                </a:p>
              </c:txPr>
            </c:dLbl>
            <c:dLbl>
              <c:idx val="1"/>
              <c:tx>
                <c:rich>
                  <a:bodyPr xmlns:a="http://schemas.openxmlformats.org/drawingml/2006/main"/>
                  <a:lstStyle xmlns:a="http://schemas.openxmlformats.org/drawingml/2006/main"/>
                  <a:p xmlns:a="http://schemas.openxmlformats.org/drawingml/2006/main">
                    <a:r>
                      <a:rPr sz="1950" b="1">
                        <a:solidFill>
                          <a:srgbClr val="142238"/>
                        </a:solidFill>
                        <a:latin typeface="Times New Roman"/>
                        <a:ea typeface="Times New Roman"/>
                        <a:cs typeface="Times New Roman"/>
                      </a:rPr>
                      <a:t>8 / 8</a:t>
                    </a:r>
                  </a:p>
                </c:rich>
              </c:tx>
              <c:txPr>
                <a:bodyPr xmlns:a="http://schemas.openxmlformats.org/drawingml/2006/main" anchorCtr="1"/>
                <a:lstStyle xmlns:a="http://schemas.openxmlformats.org/drawingml/2006/main"/>
                <a:p xmlns:a="http://schemas.openxmlformats.org/drawingml/2006/main">
                  <a:pPr>
                    <a:defRPr sz="1950" b="1">
                      <a:solidFill>
                        <a:srgbClr val="142238"/>
                      </a:solidFill>
                      <a:latin typeface="Times New Roman"/>
                      <a:ea typeface="Times New Roman"/>
                      <a:cs typeface="Times New Roman"/>
                    </a:defRPr>
                  </a:pPr>
                </a:p>
              </c:txPr>
            </c:dLbl>
          </c:dLbls>
          <c:cat>
            <c:strLit>
              <c:ptCount val="2"/>
              <c:pt idx="0">
                <c:v>적용 전</c:v>
              </c:pt>
              <c:pt idx="1">
                <c:v>적용 후</c:v>
              </c:pt>
            </c:strLit>
          </c:cat>
          <c:val>
            <c:numLit>
              <c:formatCode>0</c:formatCode>
              <c:ptCount val="2"/>
              <c:pt idx="0">
                <c:v>5</c:v>
              </c:pt>
              <c:pt idx="1">
                <c:v>8</c:v>
              </c:pt>
            </c:numLit>
          </c:val>
        </c:ser>
        <c:dLbls>
          <c:txPr>
            <a:bodyPr xmlns:a="http://schemas.openxmlformats.org/drawingml/2006/main" anchorCtr="1"/>
            <a:lstStyle xmlns:a="http://schemas.openxmlformats.org/drawingml/2006/main"/>
            <a:p xmlns:a="http://schemas.openxmlformats.org/drawingml/2006/main">
              <a:pPr>
                <a:defRPr sz="1950" b="1">
                  <a:solidFill>
                    <a:srgbClr val="142238"/>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FE8"/>
            </a:solidFill>
          </a:ln>
        </c:spPr>
        <c:txPr>
          <a:bodyPr xmlns:a="http://schemas.openxmlformats.org/drawingml/2006/main" anchorCtr="1"/>
          <a:lstStyle xmlns:a="http://schemas.openxmlformats.org/drawingml/2006/main"/>
          <a:p xmlns:a="http://schemas.openxmlformats.org/drawingml/2006/main">
            <a:pPr>
              <a:defRPr sz="1800">
                <a:solidFill>
                  <a:srgbClr val="142238"/>
                </a:solidFill>
                <a:latin typeface="Malgun Gothic"/>
                <a:ea typeface="Malgun Gothic"/>
                <a:cs typeface="Malgun Gothic"/>
              </a:defRPr>
            </a:pPr>
          </a:p>
        </c:txPr>
        <c:crossAx val="48672768"/>
      </c:catAx>
      <c:valAx>
        <c:axId val="48672768"/>
        <c:scaling>
          <c:orientation val="minMax"/>
          <c:max val="8"/>
          <c:min val="0"/>
        </c:scaling>
        <c:delete val="0"/>
        <c:axPos val="l"/>
        <c:majorGridlines>
          <c:spPr>
            <a:ln xmlns:a="http://schemas.openxmlformats.org/drawingml/2006/main" w="9525">
              <a:solidFill>
                <a:srgbClr val="D8DF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B6676"/>
                </a:solidFill>
                <a:latin typeface="Times New Roman"/>
                <a:ea typeface="Times New Roman"/>
                <a:cs typeface="Times New Roman"/>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422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34443A-6812-41F0-87CD-E422964BFC1D}"/>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Malgun Gothic"/>
                <a:ea typeface="Malgun Gothic"/>
                <a:cs typeface="Malgun Gothic"/>
              </a:defRPr>
            </a:defPPr>
          </a:lstStyle>
          <a:p xmlns:a="http://schemas.openxmlformats.org/drawingml/2006/main">
            <a:pPr algn="l">
              <a:defRPr sz="3150" b="1">
                <a:solidFill>
                  <a:srgbClr val="FFFFFF"/>
                </a:solidFill>
                <a:latin typeface="Malgun Gothic"/>
                <a:ea typeface="Malgun Gothic"/>
                <a:cs typeface="Malgun Gothic"/>
              </a:defRPr>
            </a:pPr>
            <a:r>
              <a:rPr sz="3150" b="1">
                <a:solidFill>
                  <a:srgbClr val="FFFFFF"/>
                </a:solidFill>
                <a:latin typeface="Times New Roman"/>
                <a:ea typeface="Times New Roman"/>
                <a:cs typeface="Times New Roman"/>
              </a:rPr>
              <a:t>RAG </a:t>
            </a:r>
            <a:r>
              <a:rPr sz="3150" b="1">
                <a:solidFill>
                  <a:srgbClr val="FFFFFF"/>
                </a:solidFill>
                <a:latin typeface="Malgun Gothic"/>
                <a:ea typeface="Malgun Gothic"/>
                <a:cs typeface="Malgun Gothic"/>
              </a:rPr>
              <a:t>기반 </a:t>
            </a:r>
            <a:r>
              <a:rPr sz="3150" b="1">
                <a:solidFill>
                  <a:srgbClr val="FFFFFF"/>
                </a:solidFill>
                <a:latin typeface="Times New Roman"/>
                <a:ea typeface="Times New Roman"/>
                <a:cs typeface="Times New Roman"/>
              </a:rPr>
              <a:t>CS </a:t>
            </a:r>
            <a:r>
              <a:rPr sz="3150" b="1">
                <a:solidFill>
                  <a:srgbClr val="FFFFFF"/>
                </a:solidFill>
                <a:latin typeface="Malgun Gothic"/>
                <a:ea typeface="Malgun Gothic"/>
                <a:cs typeface="Malgun Gothic"/>
              </a:rPr>
              <a:t>리포트 검색 서비스</a:t>
            </a:r>
          </a:p>
        </p:txBody>
      </p:sp>
      <p:sp>
        <p:nvSpPr>
          <p:cNvPr id="2" name="">
            <a:extLst xmlns:a="http://schemas.openxmlformats.org/drawingml/2006/main">
              <a:ext uri="{FF2B5EF4-FFF2-40B4-BE49-F238E27FC236}">
                <a16:creationId xmlns:a16="http://schemas.microsoft.com/office/drawing/2014/main" id="{21A567F1-5EB9-4D2E-9221-8FEA5B845F8E}"/>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4D3E7"/>
                </a:solidFill>
                <a:latin typeface="Malgun Gothic"/>
                <a:ea typeface="Malgun Gothic"/>
                <a:cs typeface="Malgun Gothic"/>
              </a:defRPr>
            </a:defPPr>
          </a:lstStyle>
          <a:p xmlns:a="http://schemas.openxmlformats.org/drawingml/2006/main">
            <a:pPr algn="l">
              <a:defRPr sz="1725" b="0">
                <a:solidFill>
                  <a:srgbClr val="C4D3E7"/>
                </a:solidFill>
                <a:latin typeface="Malgun Gothic"/>
                <a:ea typeface="Malgun Gothic"/>
                <a:cs typeface="Malgun Gothic"/>
              </a:defRPr>
            </a:pPr>
            <a:r>
              <a:rPr sz="1725" b="0">
                <a:solidFill>
                  <a:srgbClr val="C4D3E7"/>
                </a:solidFill>
                <a:latin typeface="Times New Roman"/>
                <a:ea typeface="Times New Roman"/>
                <a:cs typeface="Times New Roman"/>
              </a:rPr>
              <a:t>SEMES Tech Fair </a:t>
            </a:r>
            <a:r>
              <a:rPr sz="1725" b="0">
                <a:solidFill>
                  <a:srgbClr val="C4D3E7"/>
                </a:solidFill>
                <a:latin typeface="Malgun Gothic"/>
                <a:ea typeface="Malgun Gothic"/>
                <a:cs typeface="Malgun Gothic"/>
              </a:rPr>
              <a:t>· </a:t>
            </a:r>
            <a:r>
              <a:rPr sz="1725" b="0">
                <a:solidFill>
                  <a:srgbClr val="C4D3E7"/>
                </a:solidFill>
                <a:latin typeface="Times New Roman"/>
                <a:ea typeface="Times New Roman"/>
                <a:cs typeface="Times New Roman"/>
              </a:rPr>
              <a:t>AI </a:t>
            </a:r>
            <a:r>
              <a:rPr sz="1725" b="0">
                <a:solidFill>
                  <a:srgbClr val="C4D3E7"/>
                </a:solidFill>
                <a:latin typeface="Malgun Gothic"/>
                <a:ea typeface="Malgun Gothic"/>
                <a:cs typeface="Malgun Gothic"/>
              </a:rPr>
              <a:t>분과</a:t>
            </a:r>
          </a:p>
        </p:txBody>
      </p:sp>
      <p:sp>
        <p:nvSpPr>
          <p:cNvPr id="3" name="">
            <a:extLst xmlns:a="http://schemas.openxmlformats.org/drawingml/2006/main">
              <a:ext uri="{FF2B5EF4-FFF2-40B4-BE49-F238E27FC236}">
                <a16:creationId xmlns:a16="http://schemas.microsoft.com/office/drawing/2014/main" id="{CE483D79-D97F-44BE-BF12-3EF620F4B79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ACAE0"/>
                </a:solidFill>
                <a:latin typeface="Malgun Gothic"/>
                <a:ea typeface="Malgun Gothic"/>
                <a:cs typeface="Malgun Gothic"/>
              </a:defRPr>
            </a:defPPr>
          </a:lstStyle>
          <a:p xmlns:a="http://schemas.openxmlformats.org/drawingml/2006/main">
            <a:pPr algn="l">
              <a:defRPr sz="1200" b="0">
                <a:solidFill>
                  <a:srgbClr val="BACAE0"/>
                </a:solidFill>
                <a:latin typeface="Malgun Gothic"/>
                <a:ea typeface="Malgun Gothic"/>
                <a:cs typeface="Malgun Gothic"/>
              </a:defRPr>
            </a:pPr>
            <a:r>
              <a:rPr sz="1200" b="0">
                <a:solidFill>
                  <a:srgbClr val="BACAE0"/>
                </a:solidFill>
                <a:latin typeface="Times New Roman"/>
                <a:ea typeface="Times New Roman"/>
                <a:cs typeface="Times New Roman"/>
              </a:rPr>
              <a:t>photo sw </a:t>
            </a:r>
            <a:r>
              <a:rPr sz="1200" b="0">
                <a:solidFill>
                  <a:srgbClr val="BACAE0"/>
                </a:solidFill>
                <a:latin typeface="Malgun Gothic"/>
                <a:ea typeface="Malgun Gothic"/>
                <a:cs typeface="Malgun Gothic"/>
              </a:rPr>
              <a:t>그룹 박민호 · 기준 </a:t>
            </a:r>
            <a:r>
              <a:rPr sz="1200" b="0">
                <a:solidFill>
                  <a:srgbClr val="BACAE0"/>
                </a:solidFill>
                <a:latin typeface="Times New Roman"/>
                <a:ea typeface="Times New Roman"/>
                <a:cs typeface="Times New Roman"/>
              </a:rPr>
              <a:t>2026.10.14</a:t>
            </a:r>
          </a:p>
        </p:txBody>
      </p:sp>
      <p:sp>
        <p:nvSpPr>
          <p:cNvPr id="4" name="">
            <a:extLst xmlns:a="http://schemas.openxmlformats.org/drawingml/2006/main">
              <a:ext uri="{FF2B5EF4-FFF2-40B4-BE49-F238E27FC236}">
                <a16:creationId xmlns:a16="http://schemas.microsoft.com/office/drawing/2014/main" id="{AA2F49C3-88D9-4046-AF49-E89DB1E20599}"/>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BACAE0"/>
                </a:solidFill>
                <a:latin typeface="Malgun Gothic"/>
                <a:ea typeface="Malgun Gothic"/>
                <a:cs typeface="Malgun Gothic"/>
              </a:defRPr>
            </a:defPPr>
          </a:lstStyle>
          <a:p xmlns:a="http://schemas.openxmlformats.org/drawingml/2006/main">
            <a:pPr algn="r">
              <a:defRPr sz="1650" b="0">
                <a:solidFill>
                  <a:srgbClr val="BACAE0"/>
                </a:solidFill>
                <a:latin typeface="Malgun Gothic"/>
                <a:ea typeface="Malgun Gothic"/>
                <a:cs typeface="Malgun Gothic"/>
              </a:defRPr>
            </a:pPr>
            <a:r>
              <a:rPr sz="1650" b="0">
                <a:solidFill>
                  <a:srgbClr val="BACAE0"/>
                </a:solidFill>
                <a:latin typeface="Times New Roman"/>
                <a:ea typeface="Times New Roman"/>
                <a:cs typeface="Times New Roman"/>
              </a:rPr>
              <a:t>01</a:t>
            </a:r>
          </a:p>
        </p:txBody>
      </p:sp>
      <p:sp>
        <p:nvSpPr>
          <p:cNvPr id="5" name="">
            <a:extLst xmlns:a="http://schemas.openxmlformats.org/drawingml/2006/main">
              <a:ext uri="{FF2B5EF4-FFF2-40B4-BE49-F238E27FC236}">
                <a16:creationId xmlns:a16="http://schemas.microsoft.com/office/drawing/2014/main" id="{070E55CE-2C4F-4B89-8508-59A11B0CBC8B}"/>
              </a:ext>
            </a:extLst>
          </p:cNvPr>
          <p:cNvSpPr>
            <a:spLocks xmlns:a="http://schemas.openxmlformats.org/drawingml/2006/main" noGrp="1"/>
          </p:cNvSpPr>
          <p:nvPr/>
        </p:nvSpPr>
        <p:spPr>
          <a:xfrm xmlns:a="http://schemas.openxmlformats.org/drawingml/2006/main">
            <a:off x="638175" y="2295525"/>
            <a:ext cx="108394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Malgun Gothic"/>
                <a:ea typeface="Malgun Gothic"/>
                <a:cs typeface="Malgun Gothic"/>
              </a:defRPr>
            </a:defPPr>
          </a:lstStyle>
          <a:p xmlns:a="http://schemas.openxmlformats.org/drawingml/2006/main">
            <a:pPr algn="l">
              <a:defRPr sz="3450" b="1">
                <a:solidFill>
                  <a:srgbClr val="FFFFFF"/>
                </a:solidFill>
                <a:latin typeface="Malgun Gothic"/>
                <a:ea typeface="Malgun Gothic"/>
                <a:cs typeface="Malgun Gothic"/>
              </a:defRPr>
            </a:pPr>
            <a:r>
              <a:rPr sz="3450" b="1">
                <a:solidFill>
                  <a:srgbClr val="FFFFFF"/>
                </a:solidFill>
                <a:latin typeface="Malgun Gothic"/>
                <a:ea typeface="Malgun Gothic"/>
                <a:cs typeface="Malgun Gothic"/>
              </a:rPr>
              <a:t>질문 조건에 맞는 과거 조치와</a:t>
            </a:r>
          </a:p>
          <a:p xmlns:a="http://schemas.openxmlformats.org/drawingml/2006/main">
            <a:pPr algn="l">
              <a:defRPr sz="3450" b="1">
                <a:solidFill>
                  <a:srgbClr val="FFFFFF"/>
                </a:solidFill>
                <a:latin typeface="Malgun Gothic"/>
                <a:ea typeface="Malgun Gothic"/>
                <a:cs typeface="Malgun Gothic"/>
              </a:defRPr>
            </a:pPr>
            <a:r>
              <a:rPr sz="3450" b="1">
                <a:solidFill>
                  <a:srgbClr val="FFFFFF"/>
                </a:solidFill>
                <a:latin typeface="Malgun Gothic"/>
                <a:ea typeface="Malgun Gothic"/>
                <a:cs typeface="Malgun Gothic"/>
              </a:rPr>
              <a:t>그 조치가 기록된 원문을 함께 찾습니다</a:t>
            </a:r>
          </a:p>
        </p:txBody>
      </p:sp>
      <p:sp>
        <p:nvSpPr>
          <p:cNvPr id="6" name="">
            <a:extLst xmlns:a="http://schemas.openxmlformats.org/drawingml/2006/main">
              <a:ext uri="{FF2B5EF4-FFF2-40B4-BE49-F238E27FC236}">
                <a16:creationId xmlns:a16="http://schemas.microsoft.com/office/drawing/2014/main" id="{E02CB9ED-A91B-46E4-8766-CA2D48EBE173}"/>
              </a:ext>
            </a:extLst>
          </p:cNvPr>
          <p:cNvSpPr>
            <a:spLocks xmlns:a="http://schemas.openxmlformats.org/drawingml/2006/main" noGrp="1"/>
          </p:cNvSpPr>
          <p:nvPr/>
        </p:nvSpPr>
        <p:spPr>
          <a:xfrm xmlns:a="http://schemas.openxmlformats.org/drawingml/2006/main">
            <a:off x="657225" y="4324350"/>
            <a:ext cx="10648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C4D3E7"/>
                </a:solidFill>
                <a:latin typeface="Malgun Gothic"/>
                <a:ea typeface="Malgun Gothic"/>
                <a:cs typeface="Malgun Gothic"/>
              </a:defRPr>
            </a:defPPr>
          </a:lstStyle>
          <a:p xmlns:a="http://schemas.openxmlformats.org/drawingml/2006/main">
            <a:pPr algn="l">
              <a:defRPr sz="2250" b="0">
                <a:solidFill>
                  <a:srgbClr val="C4D3E7"/>
                </a:solidFill>
                <a:latin typeface="Malgun Gothic"/>
                <a:ea typeface="Malgun Gothic"/>
                <a:cs typeface="Malgun Gothic"/>
              </a:defRPr>
            </a:pPr>
            <a:r>
              <a:rPr sz="2250" b="0">
                <a:solidFill>
                  <a:srgbClr val="C4D3E7"/>
                </a:solidFill>
                <a:latin typeface="Times New Roman"/>
                <a:ea typeface="Times New Roman"/>
                <a:cs typeface="Times New Roman"/>
              </a:rPr>
              <a:t>Clef </a:t>
            </a:r>
            <a:r>
              <a:rPr sz="2250" b="0">
                <a:solidFill>
                  <a:srgbClr val="C4D3E7"/>
                </a:solidFill>
                <a:latin typeface="Malgun Gothic"/>
                <a:ea typeface="Malgun Gothic"/>
                <a:cs typeface="Malgun Gothic"/>
              </a:rPr>
              <a:t>후보 판단 · 설비–모듈–부품 관계 그래프</a:t>
            </a:r>
          </a:p>
          <a:p xmlns:a="http://schemas.openxmlformats.org/drawingml/2006/main">
            <a:pPr algn="l">
              <a:defRPr sz="2250" b="0">
                <a:solidFill>
                  <a:srgbClr val="C4D3E7"/>
                </a:solidFill>
                <a:latin typeface="Malgun Gothic"/>
                <a:ea typeface="Malgun Gothic"/>
                <a:cs typeface="Malgun Gothic"/>
              </a:defRPr>
            </a:pPr>
            <a:r>
              <a:rPr sz="2250" b="0">
                <a:solidFill>
                  <a:srgbClr val="C4D3E7"/>
                </a:solidFill>
                <a:latin typeface="Times New Roman"/>
                <a:ea typeface="Times New Roman"/>
                <a:cs typeface="Times New Roman"/>
              </a:rPr>
              <a:t>CS </a:t>
            </a:r>
            <a:r>
              <a:rPr sz="2250" b="0">
                <a:solidFill>
                  <a:srgbClr val="C4D3E7"/>
                </a:solidFill>
                <a:latin typeface="Malgun Gothic"/>
                <a:ea typeface="Malgun Gothic"/>
                <a:cs typeface="Malgun Gothic"/>
              </a:rPr>
              <a:t>상세와 원문 셀을 연결한 근거 확인</a:t>
            </a:r>
          </a:p>
        </p:txBody>
      </p:sp>
    </p:spTree>
    <p:extLst>
      <p:ext uri="{BB962C8B-B14F-4D97-AF65-F5344CB8AC3E}">
        <p14:creationId xmlns:p14="http://schemas.microsoft.com/office/powerpoint/2010/main" val="4269585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C96672-5A69-48BF-A984-968746558E8E}"/>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Malgun Gothic"/>
                <a:ea typeface="Malgun Gothic"/>
                <a:cs typeface="Malgun Gothic"/>
              </a:rPr>
              <a:t>평가 항목에 대한 답변과 현재 근거</a:t>
            </a:r>
          </a:p>
        </p:txBody>
      </p:sp>
      <p:sp>
        <p:nvSpPr>
          <p:cNvPr id="2" name="">
            <a:extLst xmlns:a="http://schemas.openxmlformats.org/drawingml/2006/main">
              <a:ext uri="{FF2B5EF4-FFF2-40B4-BE49-F238E27FC236}">
                <a16:creationId xmlns:a16="http://schemas.microsoft.com/office/drawing/2014/main" id="{261E15EC-D19C-4BFB-AAB8-EE83773EA551}"/>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Times New Roman"/>
                <a:ea typeface="Times New Roman"/>
                <a:cs typeface="Times New Roman"/>
              </a:rPr>
              <a:t>AI </a:t>
            </a:r>
            <a:r>
              <a:rPr sz="1725" b="0">
                <a:solidFill>
                  <a:srgbClr val="5B6676"/>
                </a:solidFill>
                <a:latin typeface="Malgun Gothic"/>
                <a:ea typeface="Malgun Gothic"/>
                <a:cs typeface="Malgun Gothic"/>
              </a:rPr>
              <a:t>분과 별도 기준은 미공지입니다. 안내받은 네 항목에 먼저 답합니다.</a:t>
            </a:r>
          </a:p>
        </p:txBody>
      </p:sp>
      <p:sp>
        <p:nvSpPr>
          <p:cNvPr id="3" name="">
            <a:extLst xmlns:a="http://schemas.openxmlformats.org/drawingml/2006/main">
              <a:ext uri="{FF2B5EF4-FFF2-40B4-BE49-F238E27FC236}">
                <a16:creationId xmlns:a16="http://schemas.microsoft.com/office/drawing/2014/main" id="{56C0C068-110E-4CFF-ACAA-60581A2C8702}"/>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합성 개발 질문과 기능 검사 기준 · 양산 성과·선진사 우위·특허 출원등록은 미확인 · </a:t>
            </a:r>
            <a:r>
              <a:rPr sz="1200" b="0">
                <a:solidFill>
                  <a:srgbClr val="5B6676"/>
                </a:solidFill>
                <a:latin typeface="Times New Roman"/>
                <a:ea typeface="Times New Roman"/>
                <a:cs typeface="Times New Roman"/>
              </a:rPr>
              <a:t>E1, E4, E7</a:t>
            </a:r>
          </a:p>
        </p:txBody>
      </p:sp>
      <p:sp>
        <p:nvSpPr>
          <p:cNvPr id="4" name="">
            <a:extLst xmlns:a="http://schemas.openxmlformats.org/drawingml/2006/main">
              <a:ext uri="{FF2B5EF4-FFF2-40B4-BE49-F238E27FC236}">
                <a16:creationId xmlns:a16="http://schemas.microsoft.com/office/drawing/2014/main" id="{AB6FF24A-F5C6-4B22-9C6A-A7BEAA3DF39E}"/>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02</a:t>
            </a:r>
          </a:p>
        </p:txBody>
      </p:sp>
      <p:graphicFrame>
        <p:nvGraphicFramePr>
          <p:cNvPr id="5" name="">
            <a:extLst xmlns:a="http://schemas.openxmlformats.org/drawingml/2006/main">
              <a:ext uri="{FF2B5EF4-FFF2-40B4-BE49-F238E27FC236}">
                <a16:creationId xmlns:a16="http://schemas.microsoft.com/office/drawing/2014/main" id="{1C725835-C6E7-4C95-B1FD-726CFEA1C287}"/>
              </a:ext>
            </a:extLst>
          </p:cNvPr>
          <p:cNvGraphicFramePr/>
          <p:nvPr/>
        </p:nvGraphicFramePr>
        <p:xfrm>
          <a:off xmlns:a="http://schemas.openxmlformats.org/drawingml/2006/main" x="628650" y="1762125"/>
          <a:ext xmlns:a="http://schemas.openxmlformats.org/drawingml/2006/main" cx="10934700" cy="4581525"/>
        </p:xfrm>
        <a:graphic xmlns:a="http://schemas.openxmlformats.org/drawingml/2006/main">
          <a:graphicData uri="http://schemas.openxmlformats.org/drawingml/2006/table">
            <a:tbl>
              <a:tblPr/>
              <a:tblGrid>
                <a:gridCol w="1828800"/>
                <a:gridCol w="4381500"/>
                <a:gridCol w="4724400"/>
              </a:tblGrid>
              <a:tr h="466725">
                <a:tc>
                  <a:txBody>
                    <a:bodyPr lIns="133350" tIns="133350" rIns="133350" bIns="133350">
                      <a:noAutofit/>
                    </a:bodyPr>
                    <a:lstStyle/>
                    <a:p>
                      <a:r>
                        <a:rPr sz="1800" b="1">
                          <a:solidFill>
                            <a:srgbClr val="FFFFFF"/>
                          </a:solidFill>
                          <a:latin typeface="Malgun Gothic"/>
                          <a:ea typeface="Malgun Gothic"/>
                          <a:cs typeface="Malgun Gothic"/>
                        </a:rPr>
                        <a:t>평가 항목</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이번 개발의 기여</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확인한 근거와 범위</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1028700">
                <a:tc>
                  <a:txBody>
                    <a:bodyPr lIns="133350" tIns="133350" rIns="133350" bIns="133350">
                      <a:noAutofit/>
                    </a:bodyPr>
                    <a:lstStyle/>
                    <a:p>
                      <a:r>
                        <a:rPr sz="1800" b="0">
                          <a:solidFill>
                            <a:srgbClr val="142238"/>
                          </a:solidFill>
                          <a:latin typeface="Malgun Gothic"/>
                          <a:ea typeface="Malgun Gothic"/>
                          <a:cs typeface="Malgun Gothic"/>
                        </a:rPr>
                        <a:t>기술 우수성</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질문과 후보 원문을 함께 읽어</a:t>
                      </a:r>
                    </a:p>
                    <a:p>
                      <a:r>
                        <a:rPr sz="1800" b="0">
                          <a:solidFill>
                            <a:srgbClr val="142238"/>
                          </a:solidFill>
                          <a:latin typeface="Malgun Gothic"/>
                          <a:ea typeface="Malgun Gothic"/>
                          <a:cs typeface="Malgun Gothic"/>
                        </a:rPr>
                        <a:t>조건이 다른 사례의 순서를 보완</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Times New Roman"/>
                          <a:ea typeface="Times New Roman"/>
                          <a:cs typeface="Times New Roman"/>
                        </a:rPr>
                        <a:t>Clef </a:t>
                      </a:r>
                      <a:r>
                        <a:rPr sz="1800" b="0">
                          <a:solidFill>
                            <a:srgbClr val="142238"/>
                          </a:solidFill>
                          <a:latin typeface="Malgun Gothic"/>
                          <a:ea typeface="Malgun Gothic"/>
                          <a:cs typeface="Malgun Gothic"/>
                        </a:rPr>
                        <a:t>적용 전 첫 정답 </a:t>
                      </a:r>
                      <a:r>
                        <a:rPr sz="1800" b="0">
                          <a:solidFill>
                            <a:srgbClr val="142238"/>
                          </a:solidFill>
                          <a:latin typeface="Times New Roman"/>
                          <a:ea typeface="Times New Roman"/>
                          <a:cs typeface="Times New Roman"/>
                        </a:rPr>
                        <a:t>5/8, </a:t>
                      </a:r>
                      <a:r>
                        <a:rPr sz="1800" b="0">
                          <a:solidFill>
                            <a:srgbClr val="142238"/>
                          </a:solidFill>
                          <a:latin typeface="Malgun Gothic"/>
                          <a:ea typeface="Malgun Gothic"/>
                          <a:cs typeface="Malgun Gothic"/>
                        </a:rPr>
                        <a:t>적용 후 </a:t>
                      </a:r>
                      <a:r>
                        <a:rPr sz="1800" b="0">
                          <a:solidFill>
                            <a:srgbClr val="142238"/>
                          </a:solidFill>
                          <a:latin typeface="Times New Roman"/>
                          <a:ea typeface="Times New Roman"/>
                          <a:cs typeface="Times New Roman"/>
                        </a:rPr>
                        <a:t>8/8</a:t>
                      </a:r>
                    </a:p>
                    <a:p>
                      <a:r>
                        <a:rPr sz="1800" b="0">
                          <a:solidFill>
                            <a:srgbClr val="142238"/>
                          </a:solidFill>
                          <a:latin typeface="Malgun Gothic"/>
                          <a:ea typeface="Malgun Gothic"/>
                          <a:cs typeface="Malgun Gothic"/>
                        </a:rPr>
                        <a:t>고정 개발 문항 </a:t>
                      </a:r>
                      <a:r>
                        <a:rPr sz="1800" b="0">
                          <a:solidFill>
                            <a:srgbClr val="142238"/>
                          </a:solidFill>
                          <a:latin typeface="Times New Roman"/>
                          <a:ea typeface="Times New Roman"/>
                          <a:cs typeface="Times New Roman"/>
                        </a:rPr>
                        <a:t>8</a:t>
                      </a:r>
                      <a:r>
                        <a:rPr sz="1800" b="0">
                          <a:solidFill>
                            <a:srgbClr val="142238"/>
                          </a:solidFill>
                          <a:latin typeface="Malgun Gothic"/>
                          <a:ea typeface="Malgun Gothic"/>
                          <a:cs typeface="Malgun Gothic"/>
                        </a:rPr>
                        <a:t>개, 최종 답변 평가 아님</a:t>
                      </a:r>
                    </a:p>
                  </a:txBody>
                  <a:tcPr marL="91440" marR="91440" marT="45720" marB="45720" anchor="ctr">
                    <a:lnR w="9525">
                      <a:solidFill>
                        <a:srgbClr val="D8DFE8"/>
                      </a:solidFill>
                    </a:lnR>
                    <a:lnB w="9525">
                      <a:solidFill>
                        <a:srgbClr val="D8DFE8"/>
                      </a:solidFill>
                    </a:lnB>
                    <a:solidFill>
                      <a:srgbClr val="FFFFFF"/>
                    </a:solidFill>
                  </a:tcPr>
                </a:tc>
              </a:tr>
              <a:tr h="1028700">
                <a:tc>
                  <a:txBody>
                    <a:bodyPr lIns="133350" tIns="133350" rIns="133350" bIns="133350">
                      <a:noAutofit/>
                    </a:bodyPr>
                    <a:lstStyle/>
                    <a:p>
                      <a:r>
                        <a:rPr sz="1800" b="0">
                          <a:solidFill>
                            <a:srgbClr val="142238"/>
                          </a:solidFill>
                          <a:latin typeface="Malgun Gothic"/>
                          <a:ea typeface="Malgun Gothic"/>
                          <a:cs typeface="Malgun Gothic"/>
                        </a:rPr>
                        <a:t>파급효과</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과거 조치·날짜·원문을 한 화면에서 확인</a:t>
                      </a:r>
                    </a:p>
                    <a:p>
                      <a:r>
                        <a:rPr sz="1800" b="0">
                          <a:solidFill>
                            <a:srgbClr val="142238"/>
                          </a:solidFill>
                          <a:latin typeface="Malgun Gothic"/>
                          <a:ea typeface="Malgun Gothic"/>
                          <a:cs typeface="Malgun Gothic"/>
                        </a:rPr>
                        <a:t>공통 설비·모듈·부품의 다른 이력 탐색</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자료 준비 중 질문, 중단 후 작업 복구 구현</a:t>
                      </a:r>
                    </a:p>
                    <a:p>
                      <a:r>
                        <a:rPr sz="1800" b="0">
                          <a:solidFill>
                            <a:srgbClr val="142238"/>
                          </a:solidFill>
                          <a:latin typeface="Malgun Gothic"/>
                          <a:ea typeface="Malgun Gothic"/>
                          <a:cs typeface="Malgun Gothic"/>
                        </a:rPr>
                        <a:t>현장 탐색 시간과 오조치 감소는 측정 예정</a:t>
                      </a:r>
                    </a:p>
                  </a:txBody>
                  <a:tcPr marL="91440" marR="91440" marT="45720" marB="45720" anchor="ctr">
                    <a:lnR w="9525">
                      <a:solidFill>
                        <a:srgbClr val="D8DFE8"/>
                      </a:solidFill>
                    </a:lnR>
                    <a:lnB w="9525">
                      <a:solidFill>
                        <a:srgbClr val="D8DFE8"/>
                      </a:solidFill>
                    </a:lnB>
                    <a:solidFill>
                      <a:srgbClr val="F6F8FB"/>
                    </a:solidFill>
                  </a:tcPr>
                </a:tc>
              </a:tr>
              <a:tr h="1028700">
                <a:tc>
                  <a:txBody>
                    <a:bodyPr lIns="133350" tIns="133350" rIns="133350" bIns="133350">
                      <a:noAutofit/>
                    </a:bodyPr>
                    <a:lstStyle/>
                    <a:p>
                      <a:r>
                        <a:rPr sz="1800" b="0">
                          <a:solidFill>
                            <a:srgbClr val="142238"/>
                          </a:solidFill>
                          <a:latin typeface="Malgun Gothic"/>
                          <a:ea typeface="Malgun Gothic"/>
                          <a:cs typeface="Malgun Gothic"/>
                        </a:rPr>
                        <a:t>독창성</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Times New Roman"/>
                          <a:ea typeface="Times New Roman"/>
                          <a:cs typeface="Times New Roman"/>
                        </a:rPr>
                        <a:t>CS </a:t>
                      </a:r>
                      <a:r>
                        <a:rPr sz="1800" b="0">
                          <a:solidFill>
                            <a:srgbClr val="142238"/>
                          </a:solidFill>
                          <a:latin typeface="Malgun Gothic"/>
                          <a:ea typeface="Malgun Gothic"/>
                          <a:cs typeface="Malgun Gothic"/>
                        </a:rPr>
                        <a:t>상세·작업·셀 경계 보존</a:t>
                      </a:r>
                    </a:p>
                    <a:p>
                      <a:r>
                        <a:rPr sz="1800" b="0">
                          <a:solidFill>
                            <a:srgbClr val="142238"/>
                          </a:solidFill>
                          <a:latin typeface="Malgun Gothic"/>
                          <a:ea typeface="Malgun Gothic"/>
                          <a:cs typeface="Malgun Gothic"/>
                        </a:rPr>
                        <a:t>후보 판단·원문 관계를 업무에 결합</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공개 기술을 </a:t>
                      </a:r>
                      <a:r>
                        <a:rPr sz="1800" b="0">
                          <a:solidFill>
                            <a:srgbClr val="142238"/>
                          </a:solidFill>
                          <a:latin typeface="Times New Roman"/>
                          <a:ea typeface="Times New Roman"/>
                          <a:cs typeface="Times New Roman"/>
                        </a:rPr>
                        <a:t>CS </a:t>
                      </a:r>
                      <a:r>
                        <a:rPr sz="1800" b="0">
                          <a:solidFill>
                            <a:srgbClr val="142238"/>
                          </a:solidFill>
                          <a:latin typeface="Malgun Gothic"/>
                          <a:ea typeface="Malgun Gothic"/>
                          <a:cs typeface="Malgun Gothic"/>
                        </a:rPr>
                        <a:t>업무에 맞게 구성한 기여</a:t>
                      </a:r>
                    </a:p>
                    <a:p>
                      <a:r>
                        <a:rPr sz="1800" b="0">
                          <a:solidFill>
                            <a:srgbClr val="142238"/>
                          </a:solidFill>
                          <a:latin typeface="Malgun Gothic"/>
                          <a:ea typeface="Malgun Gothic"/>
                          <a:cs typeface="Malgun Gothic"/>
                        </a:rPr>
                        <a:t>재정렬 자체와 </a:t>
                      </a:r>
                      <a:r>
                        <a:rPr sz="1800" b="0">
                          <a:solidFill>
                            <a:srgbClr val="142238"/>
                          </a:solidFill>
                          <a:latin typeface="Times New Roman"/>
                          <a:ea typeface="Times New Roman"/>
                          <a:cs typeface="Times New Roman"/>
                        </a:rPr>
                        <a:t>Clef </a:t>
                      </a:r>
                      <a:r>
                        <a:rPr sz="1800" b="0">
                          <a:solidFill>
                            <a:srgbClr val="142238"/>
                          </a:solidFill>
                          <a:latin typeface="Malgun Gothic"/>
                          <a:ea typeface="Malgun Gothic"/>
                          <a:cs typeface="Malgun Gothic"/>
                        </a:rPr>
                        <a:t>모델은 기존 공개 기술</a:t>
                      </a:r>
                    </a:p>
                  </a:txBody>
                  <a:tcPr marL="91440" marR="91440" marT="45720" marB="45720" anchor="ctr">
                    <a:lnR w="9525">
                      <a:solidFill>
                        <a:srgbClr val="D8DFE8"/>
                      </a:solidFill>
                    </a:lnR>
                    <a:lnB w="9525">
                      <a:solidFill>
                        <a:srgbClr val="D8DFE8"/>
                      </a:solidFill>
                    </a:lnB>
                    <a:solidFill>
                      <a:srgbClr val="FFFFFF"/>
                    </a:solidFill>
                  </a:tcPr>
                </a:tc>
              </a:tr>
              <a:tr h="1028700">
                <a:tc>
                  <a:txBody>
                    <a:bodyPr lIns="133350" tIns="133350" rIns="133350" bIns="133350">
                      <a:noAutofit/>
                    </a:bodyPr>
                    <a:lstStyle/>
                    <a:p>
                      <a:r>
                        <a:rPr sz="1800" b="0">
                          <a:solidFill>
                            <a:srgbClr val="142238"/>
                          </a:solidFill>
                          <a:latin typeface="Malgun Gothic"/>
                          <a:ea typeface="Malgun Gothic"/>
                          <a:cs typeface="Malgun Gothic"/>
                        </a:rPr>
                        <a:t>근거 타당성</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같은 질문과 같은 후보로 전후 비교</a:t>
                      </a:r>
                    </a:p>
                    <a:p>
                      <a:r>
                        <a:rPr sz="1800" b="0">
                          <a:solidFill>
                            <a:srgbClr val="142238"/>
                          </a:solidFill>
                          <a:latin typeface="Malgun Gothic"/>
                          <a:ea typeface="Malgun Gothic"/>
                          <a:cs typeface="Malgun Gothic"/>
                        </a:rPr>
                        <a:t>원문 셀·순위·오류와 한계를 함께 보관</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Times New Roman"/>
                          <a:ea typeface="Times New Roman"/>
                          <a:cs typeface="Times New Roman"/>
                        </a:rPr>
                        <a:t>8</a:t>
                      </a:r>
                      <a:r>
                        <a:rPr sz="1800" b="0">
                          <a:solidFill>
                            <a:srgbClr val="142238"/>
                          </a:solidFill>
                          <a:latin typeface="Malgun Gothic"/>
                          <a:ea typeface="Malgun Gothic"/>
                          <a:cs typeface="Malgun Gothic"/>
                        </a:rPr>
                        <a:t>문항 모두 </a:t>
                      </a:r>
                      <a:r>
                        <a:rPr sz="1800" b="0">
                          <a:solidFill>
                            <a:srgbClr val="142238"/>
                          </a:solidFill>
                          <a:latin typeface="Times New Roman"/>
                          <a:ea typeface="Times New Roman"/>
                          <a:cs typeface="Times New Roman"/>
                        </a:rPr>
                        <a:t>GPU </a:t>
                      </a:r>
                      <a:r>
                        <a:rPr sz="1800" b="0">
                          <a:solidFill>
                            <a:srgbClr val="142238"/>
                          </a:solidFill>
                          <a:latin typeface="Malgun Gothic"/>
                          <a:ea typeface="Malgun Gothic"/>
                          <a:cs typeface="Malgun Gothic"/>
                        </a:rPr>
                        <a:t>실행, 결과 독립 재계산</a:t>
                      </a:r>
                    </a:p>
                    <a:p>
                      <a:r>
                        <a:rPr sz="1800" b="0">
                          <a:solidFill>
                            <a:srgbClr val="142238"/>
                          </a:solidFill>
                          <a:latin typeface="Malgun Gothic"/>
                          <a:ea typeface="Malgun Gothic"/>
                          <a:cs typeface="Malgun Gothic"/>
                        </a:rPr>
                        <a:t>별첨에 전체 문항과 비교 조건 제시</a:t>
                      </a:r>
                    </a:p>
                  </a:txBody>
                  <a:tcPr marL="91440" marR="91440" marT="45720" marB="45720" anchor="ctr">
                    <a:lnR w="9525">
                      <a:solidFill>
                        <a:srgbClr val="D8DFE8"/>
                      </a:solidFill>
                    </a:lnR>
                    <a:lnB w="9525">
                      <a:solidFill>
                        <a:srgbClr val="D8DFE8"/>
                      </a:solidFill>
                    </a:lnB>
                    <a:solidFill>
                      <a:srgbClr val="F6F8FB"/>
                    </a:solidFill>
                  </a:tcPr>
                </a:tc>
              </a:tr>
            </a:tbl>
          </a:graphicData>
        </a:graphic>
      </p:graphicFrame>
    </p:spTree>
    <p:extLst>
      <p:ext uri="{BB962C8B-B14F-4D97-AF65-F5344CB8AC3E}">
        <p14:creationId xmlns:p14="http://schemas.microsoft.com/office/powerpoint/2010/main" val="21222358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C256EB-83F8-45FD-8C24-722A21A6C3B9}"/>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Malgun Gothic"/>
                <a:ea typeface="Malgun Gothic"/>
                <a:cs typeface="Malgun Gothic"/>
              </a:rPr>
              <a:t>같은 냉각수 문제라도 참고할 조치가 달라집니다</a:t>
            </a:r>
          </a:p>
        </p:txBody>
      </p:sp>
      <p:sp>
        <p:nvSpPr>
          <p:cNvPr id="2" name="">
            <a:extLst xmlns:a="http://schemas.openxmlformats.org/drawingml/2006/main">
              <a:ext uri="{FF2B5EF4-FFF2-40B4-BE49-F238E27FC236}">
                <a16:creationId xmlns:a16="http://schemas.microsoft.com/office/drawing/2014/main" id="{7C449570-2B2C-4C03-9E06-9C754EBBFA81}"/>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질문: “냉각수 흐름은 충분한데, 식각 척에서 되돌아오는 물이 너무 뜨거워집니다.”</a:t>
            </a:r>
          </a:p>
        </p:txBody>
      </p:sp>
      <p:sp>
        <p:nvSpPr>
          <p:cNvPr id="3" name="">
            <a:extLst xmlns:a="http://schemas.openxmlformats.org/drawingml/2006/main">
              <a:ext uri="{FF2B5EF4-FFF2-40B4-BE49-F238E27FC236}">
                <a16:creationId xmlns:a16="http://schemas.microsoft.com/office/drawing/2014/main" id="{40A4AB97-53E4-4B7D-B0CC-BCCE6C827A5B}"/>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가상 </a:t>
            </a:r>
            <a:r>
              <a:rPr sz="1200" b="0">
                <a:solidFill>
                  <a:srgbClr val="5B6676"/>
                </a:solidFill>
                <a:latin typeface="Times New Roman"/>
                <a:ea typeface="Times New Roman"/>
                <a:cs typeface="Times New Roman"/>
              </a:rPr>
              <a:t>10</a:t>
            </a:r>
            <a:r>
              <a:rPr sz="1200" b="0">
                <a:solidFill>
                  <a:srgbClr val="5B6676"/>
                </a:solidFill>
                <a:latin typeface="Malgun Gothic"/>
                <a:ea typeface="Malgun Gothic"/>
                <a:cs typeface="Malgun Gothic"/>
              </a:rPr>
              <a:t>만 건에서 저장한 같은 후보 </a:t>
            </a:r>
            <a:r>
              <a:rPr sz="1200" b="0">
                <a:solidFill>
                  <a:srgbClr val="5B6676"/>
                </a:solidFill>
                <a:latin typeface="Times New Roman"/>
                <a:ea typeface="Times New Roman"/>
                <a:cs typeface="Times New Roman"/>
              </a:rPr>
              <a:t>5</a:t>
            </a:r>
            <a:r>
              <a:rPr sz="1200" b="0">
                <a:solidFill>
                  <a:srgbClr val="5B6676"/>
                </a:solidFill>
                <a:latin typeface="Malgun Gothic"/>
                <a:ea typeface="Malgun Gothic"/>
                <a:cs typeface="Malgun Gothic"/>
              </a:rPr>
              <a:t>개 사용 · 정답 사례는 기존 </a:t>
            </a:r>
            <a:r>
              <a:rPr sz="1200" b="0">
                <a:solidFill>
                  <a:srgbClr val="5B6676"/>
                </a:solidFill>
                <a:latin typeface="Times New Roman"/>
                <a:ea typeface="Times New Roman"/>
                <a:cs typeface="Times New Roman"/>
              </a:rPr>
              <a:t>2</a:t>
            </a:r>
            <a:r>
              <a:rPr sz="1200" b="0">
                <a:solidFill>
                  <a:srgbClr val="5B6676"/>
                </a:solidFill>
                <a:latin typeface="Malgun Gothic"/>
                <a:ea typeface="Malgun Gothic"/>
                <a:cs typeface="Malgun Gothic"/>
              </a:rPr>
              <a:t>위와 </a:t>
            </a:r>
            <a:r>
              <a:rPr sz="1200" b="0">
                <a:solidFill>
                  <a:srgbClr val="5B6676"/>
                </a:solidFill>
                <a:latin typeface="Times New Roman"/>
                <a:ea typeface="Times New Roman"/>
                <a:cs typeface="Times New Roman"/>
              </a:rPr>
              <a:t>4</a:t>
            </a:r>
            <a:r>
              <a:rPr sz="1200" b="0">
                <a:solidFill>
                  <a:srgbClr val="5B6676"/>
                </a:solidFill>
                <a:latin typeface="Malgun Gothic"/>
                <a:ea typeface="Malgun Gothic"/>
                <a:cs typeface="Malgun Gothic"/>
              </a:rPr>
              <a:t>위에도 존재 · </a:t>
            </a:r>
            <a:r>
              <a:rPr sz="1200" b="0">
                <a:solidFill>
                  <a:srgbClr val="5B6676"/>
                </a:solidFill>
                <a:latin typeface="Times New Roman"/>
                <a:ea typeface="Times New Roman"/>
                <a:cs typeface="Times New Roman"/>
              </a:rPr>
              <a:t>E7</a:t>
            </a:r>
          </a:p>
        </p:txBody>
      </p:sp>
      <p:sp>
        <p:nvSpPr>
          <p:cNvPr id="4" name="">
            <a:extLst xmlns:a="http://schemas.openxmlformats.org/drawingml/2006/main">
              <a:ext uri="{FF2B5EF4-FFF2-40B4-BE49-F238E27FC236}">
                <a16:creationId xmlns:a16="http://schemas.microsoft.com/office/drawing/2014/main" id="{9D80A118-DA3F-493C-B413-7C494D291893}"/>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03</a:t>
            </a:r>
          </a:p>
        </p:txBody>
      </p:sp>
      <p:graphicFrame>
        <p:nvGraphicFramePr>
          <p:cNvPr id="5" name="">
            <a:extLst xmlns:a="http://schemas.openxmlformats.org/drawingml/2006/main">
              <a:ext uri="{FF2B5EF4-FFF2-40B4-BE49-F238E27FC236}">
                <a16:creationId xmlns:a16="http://schemas.microsoft.com/office/drawing/2014/main" id="{3CB1FF4F-135F-46A7-8580-686D2D132B2F}"/>
              </a:ext>
            </a:extLst>
          </p:cNvPr>
          <p:cNvGraphicFramePr/>
          <p:nvPr/>
        </p:nvGraphicFramePr>
        <p:xfrm>
          <a:off xmlns:a="http://schemas.openxmlformats.org/drawingml/2006/main" x="628650" y="1914525"/>
          <a:ext xmlns:a="http://schemas.openxmlformats.org/drawingml/2006/main" cx="10934700" cy="3600450"/>
        </p:xfrm>
        <a:graphic xmlns:a="http://schemas.openxmlformats.org/drawingml/2006/main">
          <a:graphicData uri="http://schemas.openxmlformats.org/drawingml/2006/table">
            <a:tbl>
              <a:tblPr/>
              <a:tblGrid>
                <a:gridCol w="1647825"/>
                <a:gridCol w="4076700"/>
                <a:gridCol w="5210175"/>
              </a:tblGrid>
              <a:tr h="485775">
                <a:tc>
                  <a:txBody>
                    <a:bodyPr lIns="133350" tIns="133350" rIns="133350" bIns="133350">
                      <a:noAutofit/>
                    </a:bodyPr>
                    <a:lstStyle/>
                    <a:p>
                      <a:r>
                        <a:rPr sz="1875" b="1">
                          <a:solidFill>
                            <a:srgbClr val="FFFFFF"/>
                          </a:solidFill>
                          <a:latin typeface="Malgun Gothic"/>
                          <a:ea typeface="Malgun Gothic"/>
                          <a:cs typeface="Malgun Gothic"/>
                        </a:rPr>
                        <a:t>비교 지점</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75" b="1">
                          <a:solidFill>
                            <a:srgbClr val="FFFFFF"/>
                          </a:solidFill>
                          <a:latin typeface="Malgun Gothic"/>
                          <a:ea typeface="Malgun Gothic"/>
                          <a:cs typeface="Malgun Gothic"/>
                        </a:rPr>
                        <a:t>기존 결합 검색의 </a:t>
                      </a:r>
                      <a:r>
                        <a:rPr sz="1875" b="1">
                          <a:solidFill>
                            <a:srgbClr val="FFFFFF"/>
                          </a:solidFill>
                          <a:latin typeface="Times New Roman"/>
                          <a:ea typeface="Times New Roman"/>
                          <a:cs typeface="Times New Roman"/>
                        </a:rPr>
                        <a:t>1</a:t>
                      </a:r>
                      <a:r>
                        <a:rPr sz="1875" b="1">
                          <a:solidFill>
                            <a:srgbClr val="FFFFFF"/>
                          </a:solidFill>
                          <a:latin typeface="Malgun Gothic"/>
                          <a:ea typeface="Malgun Gothic"/>
                          <a:cs typeface="Malgun Gothic"/>
                        </a:rPr>
                        <a:t>위</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75" b="1">
                          <a:solidFill>
                            <a:srgbClr val="FFFFFF"/>
                          </a:solidFill>
                          <a:latin typeface="Times New Roman"/>
                          <a:ea typeface="Times New Roman"/>
                          <a:cs typeface="Times New Roman"/>
                        </a:rPr>
                        <a:t>Clef </a:t>
                      </a:r>
                      <a:r>
                        <a:rPr sz="1875" b="1">
                          <a:solidFill>
                            <a:srgbClr val="FFFFFF"/>
                          </a:solidFill>
                          <a:latin typeface="Malgun Gothic"/>
                          <a:ea typeface="Malgun Gothic"/>
                          <a:cs typeface="Malgun Gothic"/>
                        </a:rPr>
                        <a:t>적용 후 </a:t>
                      </a:r>
                      <a:r>
                        <a:rPr sz="1875" b="1">
                          <a:solidFill>
                            <a:srgbClr val="FFFFFF"/>
                          </a:solidFill>
                          <a:latin typeface="Times New Roman"/>
                          <a:ea typeface="Times New Roman"/>
                          <a:cs typeface="Times New Roman"/>
                        </a:rPr>
                        <a:t>1</a:t>
                      </a:r>
                      <a:r>
                        <a:rPr sz="1875" b="1">
                          <a:solidFill>
                            <a:srgbClr val="FFFFFF"/>
                          </a:solidFill>
                          <a:latin typeface="Malgun Gothic"/>
                          <a:ea typeface="Malgun Gothic"/>
                          <a:cs typeface="Malgun Gothic"/>
                        </a:rPr>
                        <a:t>위</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942975">
                <a:tc>
                  <a:txBody>
                    <a:bodyPr lIns="133350" tIns="133350" rIns="133350" bIns="133350">
                      <a:noAutofit/>
                    </a:bodyPr>
                    <a:lstStyle/>
                    <a:p>
                      <a:r>
                        <a:rPr sz="1875" b="0">
                          <a:solidFill>
                            <a:srgbClr val="142238"/>
                          </a:solidFill>
                          <a:latin typeface="Malgun Gothic"/>
                          <a:ea typeface="Malgun Gothic"/>
                          <a:cs typeface="Malgun Gothic"/>
                        </a:rPr>
                        <a:t>사례와 순위</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Times New Roman"/>
                          <a:ea typeface="Times New Roman"/>
                          <a:cs typeface="Times New Roman"/>
                        </a:rPr>
                        <a:t>CS-2026-01622</a:t>
                      </a:r>
                    </a:p>
                    <a:p>
                      <a:r>
                        <a:rPr sz="1875" b="0">
                          <a:solidFill>
                            <a:srgbClr val="142238"/>
                          </a:solidFill>
                          <a:latin typeface="Malgun Gothic"/>
                          <a:ea typeface="Malgun Gothic"/>
                          <a:cs typeface="Malgun Gothic"/>
                        </a:rPr>
                        <a:t>냉각수 저유량</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Times New Roman"/>
                          <a:ea typeface="Times New Roman"/>
                          <a:cs typeface="Times New Roman"/>
                        </a:rPr>
                        <a:t>CS-2026-17340 </a:t>
                      </a:r>
                      <a:r>
                        <a:rPr sz="1875" b="0">
                          <a:solidFill>
                            <a:srgbClr val="142238"/>
                          </a:solidFill>
                          <a:latin typeface="Malgun Gothic"/>
                          <a:ea typeface="Malgun Gothic"/>
                          <a:cs typeface="Malgun Gothic"/>
                        </a:rPr>
                        <a:t>· 기존 </a:t>
                      </a:r>
                      <a:r>
                        <a:rPr sz="1875" b="0">
                          <a:solidFill>
                            <a:srgbClr val="142238"/>
                          </a:solidFill>
                          <a:latin typeface="Times New Roman"/>
                          <a:ea typeface="Times New Roman"/>
                          <a:cs typeface="Times New Roman"/>
                        </a:rPr>
                        <a:t>4</a:t>
                      </a:r>
                      <a:r>
                        <a:rPr sz="1875" b="0">
                          <a:solidFill>
                            <a:srgbClr val="142238"/>
                          </a:solidFill>
                          <a:latin typeface="Malgun Gothic"/>
                          <a:ea typeface="Malgun Gothic"/>
                          <a:cs typeface="Malgun Gothic"/>
                        </a:rPr>
                        <a:t>위에서 </a:t>
                      </a:r>
                      <a:r>
                        <a:rPr sz="1875" b="0">
                          <a:solidFill>
                            <a:srgbClr val="142238"/>
                          </a:solidFill>
                          <a:latin typeface="Times New Roman"/>
                          <a:ea typeface="Times New Roman"/>
                          <a:cs typeface="Times New Roman"/>
                        </a:rPr>
                        <a:t>1</a:t>
                      </a:r>
                      <a:r>
                        <a:rPr sz="1875" b="0">
                          <a:solidFill>
                            <a:srgbClr val="142238"/>
                          </a:solidFill>
                          <a:latin typeface="Malgun Gothic"/>
                          <a:ea typeface="Malgun Gothic"/>
                          <a:cs typeface="Malgun Gothic"/>
                        </a:rPr>
                        <a:t>위</a:t>
                      </a:r>
                    </a:p>
                    <a:p>
                      <a:r>
                        <a:rPr sz="1875" b="0">
                          <a:solidFill>
                            <a:srgbClr val="142238"/>
                          </a:solidFill>
                          <a:latin typeface="Malgun Gothic"/>
                          <a:ea typeface="Malgun Gothic"/>
                          <a:cs typeface="Malgun Gothic"/>
                        </a:rPr>
                        <a:t>하부 전극 척 쿨링 라인 고온 경보</a:t>
                      </a:r>
                    </a:p>
                  </a:txBody>
                  <a:tcPr marL="91440" marR="91440" marT="45720" marB="45720" anchor="ctr">
                    <a:lnR w="9525">
                      <a:solidFill>
                        <a:srgbClr val="D8DFE8"/>
                      </a:solidFill>
                    </a:lnR>
                    <a:lnB w="9525">
                      <a:solidFill>
                        <a:srgbClr val="D8DFE8"/>
                      </a:solidFill>
                    </a:lnB>
                    <a:solidFill>
                      <a:srgbClr val="FFFFFF"/>
                    </a:solidFill>
                  </a:tcPr>
                </a:tc>
              </a:tr>
              <a:tr h="1000125">
                <a:tc>
                  <a:txBody>
                    <a:bodyPr lIns="133350" tIns="133350" rIns="133350" bIns="133350">
                      <a:noAutofit/>
                    </a:bodyPr>
                    <a:lstStyle/>
                    <a:p>
                      <a:r>
                        <a:rPr sz="1875" b="0">
                          <a:solidFill>
                            <a:srgbClr val="142238"/>
                          </a:solidFill>
                          <a:latin typeface="Malgun Gothic"/>
                          <a:ea typeface="Malgun Gothic"/>
                          <a:cs typeface="Malgun Gothic"/>
                        </a:rPr>
                        <a:t>원문 현상</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75" b="0">
                          <a:solidFill>
                            <a:srgbClr val="142238"/>
                          </a:solidFill>
                          <a:latin typeface="Malgun Gothic"/>
                          <a:ea typeface="Malgun Gothic"/>
                          <a:cs typeface="Malgun Gothic"/>
                        </a:rPr>
                        <a:t>“유량 </a:t>
                      </a:r>
                      <a:r>
                        <a:rPr sz="1875" b="0">
                          <a:solidFill>
                            <a:srgbClr val="142238"/>
                          </a:solidFill>
                          <a:latin typeface="Times New Roman"/>
                          <a:ea typeface="Times New Roman"/>
                          <a:cs typeface="Times New Roman"/>
                        </a:rPr>
                        <a:t>6.5 L/min.</a:t>
                      </a:r>
                    </a:p>
                    <a:p>
                      <a:r>
                        <a:rPr sz="1875" b="0">
                          <a:solidFill>
                            <a:srgbClr val="142238"/>
                          </a:solidFill>
                          <a:latin typeface="Malgun Gothic"/>
                          <a:ea typeface="Malgun Gothic"/>
                          <a:cs typeface="Malgun Gothic"/>
                        </a:rPr>
                        <a:t>냉각수 부족 알람.”</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75" b="0">
                          <a:solidFill>
                            <a:srgbClr val="142238"/>
                          </a:solidFill>
                          <a:latin typeface="Malgun Gothic"/>
                          <a:ea typeface="Malgun Gothic"/>
                          <a:cs typeface="Malgun Gothic"/>
                        </a:rPr>
                        <a:t>환수 온도가 설정 </a:t>
                      </a:r>
                      <a:r>
                        <a:rPr sz="1875" b="0">
                          <a:solidFill>
                            <a:srgbClr val="142238"/>
                          </a:solidFill>
                          <a:latin typeface="Times New Roman"/>
                          <a:ea typeface="Times New Roman"/>
                          <a:cs typeface="Times New Roman"/>
                        </a:rPr>
                        <a:t>22</a:t>
                      </a:r>
                      <a:r>
                        <a:rPr sz="1875" b="0">
                          <a:solidFill>
                            <a:srgbClr val="142238"/>
                          </a:solidFill>
                          <a:latin typeface="Malgun Gothic"/>
                          <a:ea typeface="Malgun Gothic"/>
                          <a:cs typeface="Malgun Gothic"/>
                        </a:rPr>
                        <a:t>도에서 </a:t>
                      </a:r>
                      <a:r>
                        <a:rPr sz="1875" b="0">
                          <a:solidFill>
                            <a:srgbClr val="142238"/>
                          </a:solidFill>
                          <a:latin typeface="Times New Roman"/>
                          <a:ea typeface="Times New Roman"/>
                          <a:cs typeface="Times New Roman"/>
                        </a:rPr>
                        <a:t>37</a:t>
                      </a:r>
                      <a:r>
                        <a:rPr sz="1875" b="0">
                          <a:solidFill>
                            <a:srgbClr val="142238"/>
                          </a:solidFill>
                          <a:latin typeface="Malgun Gothic"/>
                          <a:ea typeface="Malgun Gothic"/>
                          <a:cs typeface="Malgun Gothic"/>
                        </a:rPr>
                        <a:t>도까지</a:t>
                      </a:r>
                    </a:p>
                    <a:p>
                      <a:r>
                        <a:rPr sz="1875" b="0">
                          <a:solidFill>
                            <a:srgbClr val="142238"/>
                          </a:solidFill>
                          <a:latin typeface="Malgun Gothic"/>
                          <a:ea typeface="Malgun Gothic"/>
                          <a:cs typeface="Malgun Gothic"/>
                        </a:rPr>
                        <a:t>상승하며 고온 경보 발생</a:t>
                      </a:r>
                    </a:p>
                  </a:txBody>
                  <a:tcPr marL="91440" marR="91440" marT="45720" marB="45720" anchor="ctr">
                    <a:lnR w="9525">
                      <a:solidFill>
                        <a:srgbClr val="D8DFE8"/>
                      </a:solidFill>
                    </a:lnR>
                    <a:lnB w="9525">
                      <a:solidFill>
                        <a:srgbClr val="D8DFE8"/>
                      </a:solidFill>
                    </a:lnB>
                    <a:solidFill>
                      <a:srgbClr val="F6F8FB"/>
                    </a:solidFill>
                  </a:tcPr>
                </a:tc>
              </a:tr>
              <a:tr h="1171575">
                <a:tc>
                  <a:txBody>
                    <a:bodyPr lIns="133350" tIns="133350" rIns="133350" bIns="133350">
                      <a:noAutofit/>
                    </a:bodyPr>
                    <a:lstStyle/>
                    <a:p>
                      <a:r>
                        <a:rPr sz="1875" b="0">
                          <a:solidFill>
                            <a:srgbClr val="142238"/>
                          </a:solidFill>
                          <a:latin typeface="Malgun Gothic"/>
                          <a:ea typeface="Malgun Gothic"/>
                          <a:cs typeface="Malgun Gothic"/>
                        </a:rPr>
                        <a:t>원문 조치</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Malgun Gothic"/>
                          <a:ea typeface="Malgun Gothic"/>
                          <a:cs typeface="Malgun Gothic"/>
                        </a:rPr>
                        <a:t>“스트레이너 세척.</a:t>
                      </a:r>
                    </a:p>
                    <a:p>
                      <a:r>
                        <a:rPr sz="1875" b="0">
                          <a:solidFill>
                            <a:srgbClr val="142238"/>
                          </a:solidFill>
                          <a:latin typeface="Malgun Gothic"/>
                          <a:ea typeface="Malgun Gothic"/>
                          <a:cs typeface="Malgun Gothic"/>
                        </a:rPr>
                        <a:t>유량 </a:t>
                      </a:r>
                      <a:r>
                        <a:rPr sz="1875" b="0">
                          <a:solidFill>
                            <a:srgbClr val="142238"/>
                          </a:solidFill>
                          <a:latin typeface="Times New Roman"/>
                          <a:ea typeface="Times New Roman"/>
                          <a:cs typeface="Times New Roman"/>
                        </a:rPr>
                        <a:t>12.4 L/min.</a:t>
                      </a:r>
                    </a:p>
                    <a:p>
                      <a:r>
                        <a:rPr sz="1875" b="0">
                          <a:solidFill>
                            <a:srgbClr val="142238"/>
                          </a:solidFill>
                          <a:latin typeface="Malgun Gothic"/>
                          <a:ea typeface="Malgun Gothic"/>
                          <a:cs typeface="Malgun Gothic"/>
                        </a:rPr>
                        <a:t>필터는 교환 안함.”</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Malgun Gothic"/>
                          <a:ea typeface="Malgun Gothic"/>
                          <a:cs typeface="Malgun Gothic"/>
                        </a:rPr>
                        <a:t>“냉매 배관 용접 보수 및 냉매 전량 완충,</a:t>
                      </a:r>
                    </a:p>
                    <a:p>
                      <a:r>
                        <a:rPr sz="1875" b="0">
                          <a:solidFill>
                            <a:srgbClr val="142238"/>
                          </a:solidFill>
                          <a:latin typeface="Malgun Gothic"/>
                          <a:ea typeface="Malgun Gothic"/>
                          <a:cs typeface="Malgun Gothic"/>
                        </a:rPr>
                        <a:t>펌프 오버홀 진행. 테스트 런 </a:t>
                      </a:r>
                      <a:r>
                        <a:rPr sz="1875" b="0">
                          <a:solidFill>
                            <a:srgbClr val="142238"/>
                          </a:solidFill>
                          <a:latin typeface="Times New Roman"/>
                          <a:ea typeface="Times New Roman"/>
                          <a:cs typeface="Times New Roman"/>
                        </a:rPr>
                        <a:t>15</a:t>
                      </a:r>
                      <a:r>
                        <a:rPr sz="1875" b="0">
                          <a:solidFill>
                            <a:srgbClr val="142238"/>
                          </a:solidFill>
                          <a:latin typeface="Malgun Gothic"/>
                          <a:ea typeface="Malgun Gothic"/>
                          <a:cs typeface="Malgun Gothic"/>
                        </a:rPr>
                        <a:t>분 동안</a:t>
                      </a:r>
                    </a:p>
                    <a:p>
                      <a:r>
                        <a:rPr sz="1875" b="0">
                          <a:solidFill>
                            <a:srgbClr val="142238"/>
                          </a:solidFill>
                          <a:latin typeface="Times New Roman"/>
                          <a:ea typeface="Times New Roman"/>
                          <a:cs typeface="Times New Roman"/>
                        </a:rPr>
                        <a:t>22</a:t>
                      </a:r>
                      <a:r>
                        <a:rPr sz="1875" b="0">
                          <a:solidFill>
                            <a:srgbClr val="142238"/>
                          </a:solidFill>
                          <a:latin typeface="Malgun Gothic"/>
                          <a:ea typeface="Malgun Gothic"/>
                          <a:cs typeface="Malgun Gothic"/>
                        </a:rPr>
                        <a:t>도 유지.”</a:t>
                      </a:r>
                    </a:p>
                  </a:txBody>
                  <a:tcPr marL="91440" marR="91440" marT="45720" marB="45720" anchor="ctr">
                    <a:lnR w="9525">
                      <a:solidFill>
                        <a:srgbClr val="D8DFE8"/>
                      </a:solidFill>
                    </a:lnR>
                    <a:lnB w="9525">
                      <a:solidFill>
                        <a:srgbClr val="D8DFE8"/>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807E9A3-4970-4845-A1EA-1C27D78F50A7}"/>
              </a:ext>
            </a:extLst>
          </p:cNvPr>
          <p:cNvSpPr>
            <a:spLocks xmlns:a="http://schemas.openxmlformats.org/drawingml/2006/main" noGrp="1"/>
          </p:cNvSpPr>
          <p:nvPr/>
        </p:nvSpPr>
        <p:spPr>
          <a:xfrm xmlns:a="http://schemas.openxmlformats.org/drawingml/2006/main">
            <a:off x="657225" y="5772150"/>
            <a:ext cx="10848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59C7"/>
                </a:solidFill>
                <a:latin typeface="Malgun Gothic"/>
                <a:ea typeface="Malgun Gothic"/>
                <a:cs typeface="Malgun Gothic"/>
              </a:defRPr>
            </a:defPPr>
          </a:lstStyle>
          <a:p xmlns:a="http://schemas.openxmlformats.org/drawingml/2006/main">
            <a:pPr algn="l">
              <a:defRPr sz="2100" b="1">
                <a:solidFill>
                  <a:srgbClr val="1459C7"/>
                </a:solidFill>
                <a:latin typeface="Malgun Gothic"/>
                <a:ea typeface="Malgun Gothic"/>
                <a:cs typeface="Malgun Gothic"/>
              </a:defRPr>
            </a:pPr>
            <a:r>
              <a:rPr sz="2100" b="1">
                <a:solidFill>
                  <a:srgbClr val="1459C7"/>
                </a:solidFill>
                <a:latin typeface="Times New Roman"/>
                <a:ea typeface="Times New Roman"/>
                <a:cs typeface="Times New Roman"/>
              </a:rPr>
              <a:t>Clef</a:t>
            </a:r>
            <a:r>
              <a:rPr sz="2100" b="1">
                <a:solidFill>
                  <a:srgbClr val="1459C7"/>
                </a:solidFill>
                <a:latin typeface="Malgun Gothic"/>
                <a:ea typeface="Malgun Gothic"/>
                <a:cs typeface="Malgun Gothic"/>
              </a:rPr>
              <a:t>는 이미 검색된 사례 중 질문 조건에 더 맞는 사례를 먼저 배치했습니다.</a:t>
            </a:r>
          </a:p>
        </p:txBody>
      </p:sp>
    </p:spTree>
    <p:extLst>
      <p:ext uri="{BB962C8B-B14F-4D97-AF65-F5344CB8AC3E}">
        <p14:creationId xmlns:p14="http://schemas.microsoft.com/office/powerpoint/2010/main" val="17259013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C5A7429B-CE66-4BAF-BB07-011844131809}"/>
              </a:ext>
            </a:extLst>
          </p:cNvPr>
          <p:cNvCxnSpPr>
            <a:stCxn xmlns:a="http://schemas.openxmlformats.org/drawingml/2006/main" id="19" idx="2"/>
            <a:endCxn xmlns:a="http://schemas.openxmlformats.org/drawingml/2006/main" id="25" idx="0"/>
          </p:cNvCxnSpPr>
          <p:nvPr/>
        </p:nvCxnSpPr>
        <p:spPr>
          <a:xfrm xmlns:a="http://schemas.openxmlformats.org/drawingml/2006/main" flipH="1">
            <a:off x="6091238" y="4962525"/>
            <a:ext cx="4329113" cy="428625"/>
          </a:xfrm>
          <a:prstGeom xmlns:a="http://schemas.openxmlformats.org/drawingml/2006/main" prst="bentConnector4">
            <a:avLst>
              <a:gd name="adj1" fmla="val 0"/>
              <a:gd name="adj2" fmla="val 50000"/>
            </a:avLst>
          </a:prstGeom>
          <a:ln xmlns:a="http://schemas.openxmlformats.org/drawingml/2006/main" w="19050">
            <a:solidFill>
              <a:srgbClr val="5B6676"/>
            </a:solidFill>
            <a:prstDash val="dash"/>
            <a:tailEnd type="triangle" w="sm" len="sm"/>
          </a:ln>
        </p:spPr>
      </p:cxnSp>
      <p:cxnSp>
        <p:nvCxnSpPr>
          <p:cNvPr id="24" name="">
            <a:extLst xmlns:a="http://schemas.openxmlformats.org/drawingml/2006/main">
              <a:ext uri="{FF2B5EF4-FFF2-40B4-BE49-F238E27FC236}">
                <a16:creationId xmlns:a16="http://schemas.microsoft.com/office/drawing/2014/main" id="{5339CC7C-1C07-4C74-90C8-1BE760C00D3C}"/>
              </a:ext>
            </a:extLst>
          </p:cNvPr>
          <p:cNvCxnSpPr>
            <a:stCxn xmlns:a="http://schemas.openxmlformats.org/drawingml/2006/main" id="9" idx="2"/>
            <a:endCxn xmlns:a="http://schemas.openxmlformats.org/drawingml/2006/main" id="16" idx="0"/>
          </p:cNvCxnSpPr>
          <p:nvPr/>
        </p:nvCxnSpPr>
        <p:spPr>
          <a:xfrm xmlns:a="http://schemas.openxmlformats.org/drawingml/2006/main" flipH="1">
            <a:off x="3681413" y="2981325"/>
            <a:ext cx="6348413" cy="1133475"/>
          </a:xfrm>
          <a:prstGeom xmlns:a="http://schemas.openxmlformats.org/drawingml/2006/main" prst="bentConnector4">
            <a:avLst>
              <a:gd name="adj1" fmla="val 0"/>
              <a:gd name="adj2" fmla="val 79832"/>
            </a:avLst>
          </a:prstGeom>
          <a:ln xmlns:a="http://schemas.openxmlformats.org/drawingml/2006/main" w="19050">
            <a:solidFill>
              <a:srgbClr val="5B6676"/>
            </a:solidFill>
            <a:prstDash val="dash"/>
            <a:tailEnd type="triangle" w="sm" len="sm"/>
          </a:ln>
        </p:spPr>
      </p:cxnSp>
      <p:cxnSp>
        <p:nvCxnSpPr>
          <p:cNvPr id="23" name="">
            <a:extLst xmlns:a="http://schemas.openxmlformats.org/drawingml/2006/main">
              <a:ext uri="{FF2B5EF4-FFF2-40B4-BE49-F238E27FC236}">
                <a16:creationId xmlns:a16="http://schemas.microsoft.com/office/drawing/2014/main" id="{0C80446D-2A2F-48E8-9F3D-370CB52CC93B}"/>
              </a:ext>
            </a:extLst>
          </p:cNvPr>
          <p:cNvCxnSpPr>
            <a:stCxn xmlns:a="http://schemas.openxmlformats.org/drawingml/2006/main" id="18" idx="3"/>
            <a:endCxn xmlns:a="http://schemas.openxmlformats.org/drawingml/2006/main" id="19" idx="1"/>
          </p:cNvCxnSpPr>
          <p:nvPr/>
        </p:nvCxnSpPr>
        <p:spPr>
          <a:xfrm xmlns:a="http://schemas.openxmlformats.org/drawingml/2006/main">
            <a:off x="9020175" y="4538663"/>
            <a:ext cx="2571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5268CE33-2764-4FC4-B85C-2182A201423C}"/>
              </a:ext>
            </a:extLst>
          </p:cNvPr>
          <p:cNvCxnSpPr>
            <a:stCxn xmlns:a="http://schemas.openxmlformats.org/drawingml/2006/main" id="17" idx="3"/>
            <a:endCxn xmlns:a="http://schemas.openxmlformats.org/drawingml/2006/main" id="18" idx="1"/>
          </p:cNvCxnSpPr>
          <p:nvPr/>
        </p:nvCxnSpPr>
        <p:spPr>
          <a:xfrm xmlns:a="http://schemas.openxmlformats.org/drawingml/2006/main">
            <a:off x="6915150" y="4538663"/>
            <a:ext cx="2571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BEF5DCBB-37A1-4192-ABAC-FFD5150DF517}"/>
              </a:ext>
            </a:extLst>
          </p:cNvPr>
          <p:cNvCxnSpPr>
            <a:stCxn xmlns:a="http://schemas.openxmlformats.org/drawingml/2006/main" id="16" idx="3"/>
            <a:endCxn xmlns:a="http://schemas.openxmlformats.org/drawingml/2006/main" id="17" idx="1"/>
          </p:cNvCxnSpPr>
          <p:nvPr/>
        </p:nvCxnSpPr>
        <p:spPr>
          <a:xfrm xmlns:a="http://schemas.openxmlformats.org/drawingml/2006/main">
            <a:off x="4800600" y="4538663"/>
            <a:ext cx="2571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AA12D809-39AD-48F1-8B39-FE0A9B7507E2}"/>
              </a:ext>
            </a:extLst>
          </p:cNvPr>
          <p:cNvCxnSpPr>
            <a:stCxn xmlns:a="http://schemas.openxmlformats.org/drawingml/2006/main" id="15" idx="3"/>
            <a:endCxn xmlns:a="http://schemas.openxmlformats.org/drawingml/2006/main" id="16" idx="1"/>
          </p:cNvCxnSpPr>
          <p:nvPr/>
        </p:nvCxnSpPr>
        <p:spPr>
          <a:xfrm xmlns:a="http://schemas.openxmlformats.org/drawingml/2006/main">
            <a:off x="2305050" y="4538663"/>
            <a:ext cx="2571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B5266A9A-4091-437C-B816-F5F4D839B23B}"/>
              </a:ext>
            </a:extLst>
          </p:cNvPr>
          <p:cNvCxnSpPr>
            <a:stCxn xmlns:a="http://schemas.openxmlformats.org/drawingml/2006/main" id="8" idx="3"/>
            <a:endCxn xmlns:a="http://schemas.openxmlformats.org/drawingml/2006/main" id="9" idx="1"/>
          </p:cNvCxnSpPr>
          <p:nvPr/>
        </p:nvCxnSpPr>
        <p:spPr>
          <a:xfrm xmlns:a="http://schemas.openxmlformats.org/drawingml/2006/main">
            <a:off x="8220075" y="2547938"/>
            <a:ext cx="27622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31BC49FD-A86D-4D8E-A0F8-09531B1C78BC}"/>
              </a:ext>
            </a:extLst>
          </p:cNvPr>
          <p:cNvCxnSpPr>
            <a:stCxn xmlns:a="http://schemas.openxmlformats.org/drawingml/2006/main" id="7" idx="3"/>
            <a:endCxn xmlns:a="http://schemas.openxmlformats.org/drawingml/2006/main" id="8" idx="1"/>
          </p:cNvCxnSpPr>
          <p:nvPr/>
        </p:nvCxnSpPr>
        <p:spPr>
          <a:xfrm xmlns:a="http://schemas.openxmlformats.org/drawingml/2006/main">
            <a:off x="5381625" y="2547938"/>
            <a:ext cx="285750"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81B850B0-75D1-4B68-BB5F-99E792CF1829}"/>
              </a:ext>
            </a:extLst>
          </p:cNvPr>
          <p:cNvCxnSpPr>
            <a:stCxn xmlns:a="http://schemas.openxmlformats.org/drawingml/2006/main" id="6" idx="3"/>
            <a:endCxn xmlns:a="http://schemas.openxmlformats.org/drawingml/2006/main" id="7" idx="1"/>
          </p:cNvCxnSpPr>
          <p:nvPr/>
        </p:nvCxnSpPr>
        <p:spPr>
          <a:xfrm xmlns:a="http://schemas.openxmlformats.org/drawingml/2006/main">
            <a:off x="2495550" y="2547938"/>
            <a:ext cx="27622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sp>
        <p:nvSpPr>
          <p:cNvPr id="28" name="">
            <a:extLst xmlns:a="http://schemas.openxmlformats.org/drawingml/2006/main">
              <a:ext uri="{FF2B5EF4-FFF2-40B4-BE49-F238E27FC236}">
                <a16:creationId xmlns:a16="http://schemas.microsoft.com/office/drawing/2014/main" id="{02DDC424-4F9D-476E-B7DE-D42939019C9E}"/>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Malgun Gothic"/>
                <a:ea typeface="Malgun Gothic"/>
                <a:cs typeface="Malgun Gothic"/>
              </a:rPr>
              <a:t>시스템 구조: 원문 저장부터 답변과 관계 보기까지</a:t>
            </a:r>
          </a:p>
        </p:txBody>
      </p:sp>
      <p:sp>
        <p:nvSpPr>
          <p:cNvPr id="2" name="">
            <a:extLst xmlns:a="http://schemas.openxmlformats.org/drawingml/2006/main">
              <a:ext uri="{FF2B5EF4-FFF2-40B4-BE49-F238E27FC236}">
                <a16:creationId xmlns:a16="http://schemas.microsoft.com/office/drawing/2014/main" id="{83C89BEF-D710-476F-93AE-9679D363885E}"/>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운영 목표: </a:t>
            </a:r>
            <a:r>
              <a:rPr sz="1725" b="0">
                <a:solidFill>
                  <a:srgbClr val="5B6676"/>
                </a:solidFill>
                <a:latin typeface="Times New Roman"/>
                <a:ea typeface="Times New Roman"/>
                <a:cs typeface="Times New Roman"/>
              </a:rPr>
              <a:t>Windows </a:t>
            </a:r>
            <a:r>
              <a:rPr sz="1725" b="0">
                <a:solidFill>
                  <a:srgbClr val="5B6676"/>
                </a:solidFill>
                <a:latin typeface="Malgun Gothic"/>
                <a:ea typeface="Malgun Gothic"/>
                <a:cs typeface="Malgun Gothic"/>
              </a:rPr>
              <a:t>사내 서버 </a:t>
            </a:r>
            <a:r>
              <a:rPr sz="1725" b="0">
                <a:solidFill>
                  <a:srgbClr val="5B6676"/>
                </a:solidFill>
                <a:latin typeface="Times New Roman"/>
                <a:ea typeface="Times New Roman"/>
                <a:cs typeface="Times New Roman"/>
              </a:rPr>
              <a:t>1</a:t>
            </a:r>
            <a:r>
              <a:rPr sz="1725" b="0">
                <a:solidFill>
                  <a:srgbClr val="5B6676"/>
                </a:solidFill>
                <a:latin typeface="Malgun Gothic"/>
                <a:ea typeface="Malgun Gothic"/>
                <a:cs typeface="Malgun Gothic"/>
              </a:rPr>
              <a:t>대 + 여러 사용자 브라우저 · </a:t>
            </a:r>
            <a:r>
              <a:rPr sz="1725" b="0">
                <a:solidFill>
                  <a:srgbClr val="5B6676"/>
                </a:solidFill>
                <a:latin typeface="Times New Roman"/>
                <a:ea typeface="Times New Roman"/>
                <a:cs typeface="Times New Roman"/>
              </a:rPr>
              <a:t>Mac</a:t>
            </a:r>
            <a:r>
              <a:rPr sz="1725" b="0">
                <a:solidFill>
                  <a:srgbClr val="5B6676"/>
                </a:solidFill>
                <a:latin typeface="Malgun Gothic"/>
                <a:ea typeface="Malgun Gothic"/>
                <a:cs typeface="Malgun Gothic"/>
              </a:rPr>
              <a:t>은 개발·검증 환경</a:t>
            </a:r>
          </a:p>
        </p:txBody>
      </p:sp>
      <p:sp>
        <p:nvSpPr>
          <p:cNvPr id="3" name="">
            <a:extLst xmlns:a="http://schemas.openxmlformats.org/drawingml/2006/main">
              <a:ext uri="{FF2B5EF4-FFF2-40B4-BE49-F238E27FC236}">
                <a16:creationId xmlns:a16="http://schemas.microsoft.com/office/drawing/2014/main" id="{66524758-7403-4EF1-A2BA-35517E2FB2B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Times New Roman"/>
                <a:ea typeface="Times New Roman"/>
                <a:cs typeface="Times New Roman"/>
              </a:rPr>
              <a:t>Python </a:t>
            </a:r>
            <a:r>
              <a:rPr sz="1200" b="0">
                <a:solidFill>
                  <a:srgbClr val="5B6676"/>
                </a:solidFill>
                <a:latin typeface="Malgun Gothic"/>
                <a:ea typeface="Malgun Gothic"/>
                <a:cs typeface="Malgun Gothic"/>
              </a:rPr>
              <a:t>웹 서버·</a:t>
            </a:r>
            <a:r>
              <a:rPr sz="1200" b="0">
                <a:solidFill>
                  <a:srgbClr val="5B6676"/>
                </a:solidFill>
                <a:latin typeface="Times New Roman"/>
                <a:ea typeface="Times New Roman"/>
                <a:cs typeface="Times New Roman"/>
              </a:rPr>
              <a:t>SQLite </a:t>
            </a:r>
            <a:r>
              <a:rPr sz="1200" b="0">
                <a:solidFill>
                  <a:srgbClr val="5B6676"/>
                </a:solidFill>
                <a:latin typeface="Malgun Gothic"/>
                <a:ea typeface="Malgun Gothic"/>
                <a:cs typeface="Malgun Gothic"/>
              </a:rPr>
              <a:t>· 임베딩 </a:t>
            </a:r>
            <a:r>
              <a:rPr sz="1200" b="0">
                <a:solidFill>
                  <a:srgbClr val="5B6676"/>
                </a:solidFill>
                <a:latin typeface="Times New Roman"/>
                <a:ea typeface="Times New Roman"/>
                <a:cs typeface="Times New Roman"/>
              </a:rPr>
              <a:t>EmbeddingGemma 2 </a:t>
            </a:r>
            <a:r>
              <a:rPr sz="1200" b="0">
                <a:solidFill>
                  <a:srgbClr val="5B6676"/>
                </a:solidFill>
                <a:latin typeface="Malgun Gothic"/>
                <a:ea typeface="Malgun Gothic"/>
                <a:cs typeface="Malgun Gothic"/>
              </a:rPr>
              <a:t>· 답변 </a:t>
            </a:r>
            <a:r>
              <a:rPr sz="1200" b="0">
                <a:solidFill>
                  <a:srgbClr val="5B6676"/>
                </a:solidFill>
                <a:latin typeface="Times New Roman"/>
                <a:ea typeface="Times New Roman"/>
                <a:cs typeface="Times New Roman"/>
              </a:rPr>
              <a:t>GPT-OSS </a:t>
            </a:r>
            <a:r>
              <a:rPr sz="1200" b="0">
                <a:solidFill>
                  <a:srgbClr val="5B6676"/>
                </a:solidFill>
                <a:latin typeface="Malgun Gothic"/>
                <a:ea typeface="Malgun Gothic"/>
                <a:cs typeface="Malgun Gothic"/>
              </a:rPr>
              <a:t>· </a:t>
            </a:r>
            <a:r>
              <a:rPr sz="1200" b="0">
                <a:solidFill>
                  <a:srgbClr val="5B6676"/>
                </a:solidFill>
                <a:latin typeface="Times New Roman"/>
                <a:ea typeface="Times New Roman"/>
                <a:cs typeface="Times New Roman"/>
              </a:rPr>
              <a:t>Clef GPU</a:t>
            </a:r>
            <a:r>
              <a:rPr sz="1200" b="0">
                <a:solidFill>
                  <a:srgbClr val="5B6676"/>
                </a:solidFill>
                <a:latin typeface="Malgun Gothic"/>
                <a:ea typeface="Malgun Gothic"/>
                <a:cs typeface="Malgun Gothic"/>
              </a:rPr>
              <a:t>는 </a:t>
            </a:r>
            <a:r>
              <a:rPr sz="1200" b="0">
                <a:solidFill>
                  <a:srgbClr val="5B6676"/>
                </a:solidFill>
                <a:latin typeface="Times New Roman"/>
                <a:ea typeface="Times New Roman"/>
                <a:cs typeface="Times New Roman"/>
              </a:rPr>
              <a:t>Mac MLX </a:t>
            </a:r>
            <a:r>
              <a:rPr sz="1200" b="0">
                <a:solidFill>
                  <a:srgbClr val="5B6676"/>
                </a:solidFill>
                <a:latin typeface="Malgun Gothic"/>
                <a:ea typeface="Malgun Gothic"/>
                <a:cs typeface="Malgun Gothic"/>
              </a:rPr>
              <a:t>· </a:t>
            </a:r>
            <a:r>
              <a:rPr sz="1200" b="0">
                <a:solidFill>
                  <a:srgbClr val="5B6676"/>
                </a:solidFill>
                <a:latin typeface="Times New Roman"/>
                <a:ea typeface="Times New Roman"/>
                <a:cs typeface="Times New Roman"/>
              </a:rPr>
              <a:t>E1, E4, E5</a:t>
            </a:r>
          </a:p>
        </p:txBody>
      </p:sp>
      <p:sp>
        <p:nvSpPr>
          <p:cNvPr id="4" name="">
            <a:extLst xmlns:a="http://schemas.openxmlformats.org/drawingml/2006/main">
              <a:ext uri="{FF2B5EF4-FFF2-40B4-BE49-F238E27FC236}">
                <a16:creationId xmlns:a16="http://schemas.microsoft.com/office/drawing/2014/main" id="{0FB0D304-F02B-4EC4-AE8D-89B9DC432116}"/>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04</a:t>
            </a:r>
          </a:p>
        </p:txBody>
      </p:sp>
      <p:sp>
        <p:nvSpPr>
          <p:cNvPr id="5" name="">
            <a:extLst xmlns:a="http://schemas.openxmlformats.org/drawingml/2006/main">
              <a:ext uri="{FF2B5EF4-FFF2-40B4-BE49-F238E27FC236}">
                <a16:creationId xmlns:a16="http://schemas.microsoft.com/office/drawing/2014/main" id="{791B5C0D-F1C0-4679-A0D2-039F183A1AE1}"/>
              </a:ext>
            </a:extLst>
          </p:cNvPr>
          <p:cNvSpPr>
            <a:spLocks xmlns:a="http://schemas.openxmlformats.org/drawingml/2006/main" noGrp="1"/>
          </p:cNvSpPr>
          <p:nvPr/>
        </p:nvSpPr>
        <p:spPr>
          <a:xfrm xmlns:a="http://schemas.openxmlformats.org/drawingml/2006/main">
            <a:off x="628650" y="169545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59C7"/>
                </a:solidFill>
                <a:latin typeface="Malgun Gothic"/>
                <a:ea typeface="Malgun Gothic"/>
                <a:cs typeface="Malgun Gothic"/>
              </a:defRPr>
            </a:defPPr>
          </a:lstStyle>
          <a:p xmlns:a="http://schemas.openxmlformats.org/drawingml/2006/main">
            <a:pPr algn="l">
              <a:defRPr sz="1875" b="1">
                <a:solidFill>
                  <a:srgbClr val="1459C7"/>
                </a:solidFill>
                <a:latin typeface="Malgun Gothic"/>
                <a:ea typeface="Malgun Gothic"/>
                <a:cs typeface="Malgun Gothic"/>
              </a:defRPr>
            </a:pPr>
            <a:r>
              <a:rPr sz="1875" b="1">
                <a:solidFill>
                  <a:srgbClr val="1459C7"/>
                </a:solidFill>
                <a:latin typeface="Malgun Gothic"/>
                <a:ea typeface="Malgun Gothic"/>
                <a:cs typeface="Malgun Gothic"/>
              </a:rPr>
              <a:t>자료 준비</a:t>
            </a:r>
          </a:p>
        </p:txBody>
      </p:sp>
      <p:sp>
        <p:nvSpPr>
          <p:cNvPr id="6" name="">
            <a:extLst xmlns:a="http://schemas.openxmlformats.org/drawingml/2006/main">
              <a:ext uri="{FF2B5EF4-FFF2-40B4-BE49-F238E27FC236}">
                <a16:creationId xmlns:a16="http://schemas.microsoft.com/office/drawing/2014/main" id="{DF5E2DD5-F946-46D6-B133-E5FAF988354A}"/>
              </a:ext>
            </a:extLst>
          </p:cNvPr>
          <p:cNvSpPr>
            <a:spLocks xmlns:a="http://schemas.openxmlformats.org/drawingml/2006/main" noGrp="1"/>
          </p:cNvSpPr>
          <p:nvPr/>
        </p:nvSpPr>
        <p:spPr>
          <a:xfrm xmlns:a="http://schemas.openxmlformats.org/drawingml/2006/main">
            <a:off x="619125" y="2114550"/>
            <a:ext cx="1876425" cy="86677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관리자 입력</a:t>
            </a:r>
          </a:p>
          <a:p xmlns:a="http://schemas.openxmlformats.org/drawingml/2006/main">
            <a:pPr algn="ctr">
              <a:defRPr sz="1875">
                <a:latin typeface="Malgun Gothic"/>
                <a:ea typeface="Malgun Gothic"/>
                <a:cs typeface="Malgun Gothic"/>
              </a:defRPr>
            </a:pPr>
            <a:r>
              <a:rPr sz="1875" b="0">
                <a:solidFill>
                  <a:srgbClr val="142238"/>
                </a:solidFill>
                <a:latin typeface="Times New Roman"/>
                <a:ea typeface="Times New Roman"/>
                <a:cs typeface="Times New Roman"/>
              </a:rPr>
              <a:t>Excel </a:t>
            </a:r>
            <a:r>
              <a:rPr sz="1875" b="0">
                <a:solidFill>
                  <a:srgbClr val="142238"/>
                </a:solidFill>
                <a:latin typeface="Malgun Gothic"/>
                <a:ea typeface="Malgun Gothic"/>
                <a:cs typeface="Malgun Gothic"/>
              </a:rPr>
              <a:t>· </a:t>
            </a:r>
            <a:r>
              <a:rPr sz="1875" b="0">
                <a:solidFill>
                  <a:srgbClr val="142238"/>
                </a:solidFill>
                <a:latin typeface="Times New Roman"/>
                <a:ea typeface="Times New Roman"/>
                <a:cs typeface="Times New Roman"/>
              </a:rPr>
              <a:t>xlwings</a:t>
            </a:r>
          </a:p>
        </p:txBody>
      </p:sp>
      <p:sp>
        <p:nvSpPr>
          <p:cNvPr id="7" name="">
            <a:extLst xmlns:a="http://schemas.openxmlformats.org/drawingml/2006/main">
              <a:ext uri="{FF2B5EF4-FFF2-40B4-BE49-F238E27FC236}">
                <a16:creationId xmlns:a16="http://schemas.microsoft.com/office/drawing/2014/main" id="{42BD8B8F-BFCB-4DBA-9FA0-74494C96823A}"/>
              </a:ext>
            </a:extLst>
          </p:cNvPr>
          <p:cNvSpPr>
            <a:spLocks xmlns:a="http://schemas.openxmlformats.org/drawingml/2006/main" noGrp="1"/>
          </p:cNvSpPr>
          <p:nvPr/>
        </p:nvSpPr>
        <p:spPr>
          <a:xfrm xmlns:a="http://schemas.openxmlformats.org/drawingml/2006/main">
            <a:off x="2771775" y="2114550"/>
            <a:ext cx="2609850" cy="8667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Times New Roman"/>
                <a:ea typeface="Times New Roman"/>
                <a:cs typeface="Times New Roman"/>
              </a:rPr>
              <a:t>SQLite </a:t>
            </a:r>
            <a:r>
              <a:rPr sz="1800" b="0">
                <a:solidFill>
                  <a:srgbClr val="142238"/>
                </a:solidFill>
                <a:latin typeface="Malgun Gothic"/>
                <a:ea typeface="Malgun Gothic"/>
                <a:cs typeface="Malgun Gothic"/>
              </a:rPr>
              <a:t>원문 보관</a:t>
            </a:r>
          </a:p>
          <a:p xmlns:a="http://schemas.openxmlformats.org/drawingml/2006/main">
            <a:pPr algn="ctr">
              <a:defRPr sz="1800">
                <a:latin typeface="Malgun Gothic"/>
                <a:ea typeface="Malgun Gothic"/>
                <a:cs typeface="Malgun Gothic"/>
              </a:defRPr>
            </a:pPr>
            <a:r>
              <a:rPr sz="1800" b="0">
                <a:solidFill>
                  <a:srgbClr val="142238"/>
                </a:solidFill>
                <a:latin typeface="Times New Roman"/>
                <a:ea typeface="Times New Roman"/>
                <a:cs typeface="Times New Roman"/>
              </a:rPr>
              <a:t>CS</a:t>
            </a:r>
            <a:r>
              <a:rPr sz="1800" b="0">
                <a:solidFill>
                  <a:srgbClr val="142238"/>
                </a:solidFill>
                <a:latin typeface="Malgun Gothic"/>
                <a:ea typeface="Malgun Gothic"/>
                <a:cs typeface="Malgun Gothic"/>
              </a:rPr>
              <a:t>·상세·작업·셀 위치</a:t>
            </a:r>
          </a:p>
        </p:txBody>
      </p:sp>
      <p:sp>
        <p:nvSpPr>
          <p:cNvPr id="8" name="">
            <a:extLst xmlns:a="http://schemas.openxmlformats.org/drawingml/2006/main">
              <a:ext uri="{FF2B5EF4-FFF2-40B4-BE49-F238E27FC236}">
                <a16:creationId xmlns:a16="http://schemas.microsoft.com/office/drawing/2014/main" id="{BA431C1B-3F14-457D-993D-71D0CC28E93C}"/>
              </a:ext>
            </a:extLst>
          </p:cNvPr>
          <p:cNvSpPr>
            <a:spLocks xmlns:a="http://schemas.openxmlformats.org/drawingml/2006/main" noGrp="1"/>
          </p:cNvSpPr>
          <p:nvPr/>
        </p:nvSpPr>
        <p:spPr>
          <a:xfrm xmlns:a="http://schemas.openxmlformats.org/drawingml/2006/main">
            <a:off x="5667375" y="2114550"/>
            <a:ext cx="2552700" cy="8667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Times New Roman"/>
                <a:ea typeface="Times New Roman"/>
                <a:cs typeface="Times New Roman"/>
              </a:rPr>
              <a:t>LLM </a:t>
            </a:r>
            <a:r>
              <a:rPr sz="1800" b="0">
                <a:solidFill>
                  <a:srgbClr val="142238"/>
                </a:solidFill>
                <a:latin typeface="Malgun Gothic"/>
                <a:ea typeface="Malgun Gothic"/>
                <a:cs typeface="Malgun Gothic"/>
              </a:rPr>
              <a:t>정리·번역</a:t>
            </a:r>
          </a:p>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검사·검토 후 채택</a:t>
            </a:r>
          </a:p>
        </p:txBody>
      </p:sp>
      <p:sp>
        <p:nvSpPr>
          <p:cNvPr id="9" name="">
            <a:extLst xmlns:a="http://schemas.openxmlformats.org/drawingml/2006/main">
              <a:ext uri="{FF2B5EF4-FFF2-40B4-BE49-F238E27FC236}">
                <a16:creationId xmlns:a16="http://schemas.microsoft.com/office/drawing/2014/main" id="{6E584ABA-191F-4810-B6EB-D4A22344CA08}"/>
              </a:ext>
            </a:extLst>
          </p:cNvPr>
          <p:cNvSpPr>
            <a:spLocks xmlns:a="http://schemas.openxmlformats.org/drawingml/2006/main" noGrp="1"/>
          </p:cNvSpPr>
          <p:nvPr/>
        </p:nvSpPr>
        <p:spPr>
          <a:xfrm xmlns:a="http://schemas.openxmlformats.org/drawingml/2006/main">
            <a:off x="8496300" y="2114550"/>
            <a:ext cx="3067050" cy="8667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임베딩·검색 색인</a:t>
            </a:r>
          </a:p>
          <a:p xmlns:a="http://schemas.openxmlformats.org/drawingml/2006/main">
            <a:pPr algn="ctr">
              <a:defRPr sz="1800">
                <a:latin typeface="Malgun Gothic"/>
                <a:ea typeface="Malgun Gothic"/>
                <a:cs typeface="Malgun Gothic"/>
              </a:defRPr>
            </a:pPr>
            <a:r>
              <a:rPr sz="1800" b="0">
                <a:solidFill>
                  <a:srgbClr val="142238"/>
                </a:solidFill>
                <a:latin typeface="Times New Roman"/>
                <a:ea typeface="Times New Roman"/>
                <a:cs typeface="Times New Roman"/>
              </a:rPr>
              <a:t>FAISS </a:t>
            </a:r>
            <a:r>
              <a:rPr sz="1800" b="0">
                <a:solidFill>
                  <a:srgbClr val="142238"/>
                </a:solidFill>
                <a:latin typeface="Malgun Gothic"/>
                <a:ea typeface="Malgun Gothic"/>
                <a:cs typeface="Malgun Gothic"/>
              </a:rPr>
              <a:t>· </a:t>
            </a:r>
            <a:r>
              <a:rPr sz="1800" b="0">
                <a:solidFill>
                  <a:srgbClr val="142238"/>
                </a:solidFill>
                <a:latin typeface="Times New Roman"/>
                <a:ea typeface="Times New Roman"/>
                <a:cs typeface="Times New Roman"/>
              </a:rPr>
              <a:t>FTS5 </a:t>
            </a:r>
            <a:r>
              <a:rPr sz="1800" b="0">
                <a:solidFill>
                  <a:srgbClr val="142238"/>
                </a:solidFill>
                <a:latin typeface="Malgun Gothic"/>
                <a:ea typeface="Malgun Gothic"/>
                <a:cs typeface="Malgun Gothic"/>
              </a:rPr>
              <a:t>· 원문 관계</a:t>
            </a:r>
          </a:p>
        </p:txBody>
      </p:sp>
      <p:sp>
        <p:nvSpPr>
          <p:cNvPr id="13" name="">
            <a:extLst xmlns:a="http://schemas.openxmlformats.org/drawingml/2006/main">
              <a:ext uri="{FF2B5EF4-FFF2-40B4-BE49-F238E27FC236}">
                <a16:creationId xmlns:a16="http://schemas.microsoft.com/office/drawing/2014/main" id="{1EBF1E9C-87F2-4B14-BD15-7F36E8D1476E}"/>
              </a:ext>
            </a:extLst>
          </p:cNvPr>
          <p:cNvSpPr>
            <a:spLocks xmlns:a="http://schemas.openxmlformats.org/drawingml/2006/main" noGrp="1"/>
          </p:cNvSpPr>
          <p:nvPr/>
        </p:nvSpPr>
        <p:spPr>
          <a:xfrm xmlns:a="http://schemas.openxmlformats.org/drawingml/2006/main">
            <a:off x="628650" y="3133725"/>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원문은 보존하고, 정리·번역은 보조 자료로 사용합니다.</a:t>
            </a:r>
          </a:p>
        </p:txBody>
      </p:sp>
      <p:sp>
        <p:nvSpPr>
          <p:cNvPr id="14" name="">
            <a:extLst xmlns:a="http://schemas.openxmlformats.org/drawingml/2006/main">
              <a:ext uri="{FF2B5EF4-FFF2-40B4-BE49-F238E27FC236}">
                <a16:creationId xmlns:a16="http://schemas.microsoft.com/office/drawing/2014/main" id="{1AE2B1C3-7DB7-4199-858E-36DB2A36DB0D}"/>
              </a:ext>
            </a:extLst>
          </p:cNvPr>
          <p:cNvSpPr>
            <a:spLocks xmlns:a="http://schemas.openxmlformats.org/drawingml/2006/main" noGrp="1"/>
          </p:cNvSpPr>
          <p:nvPr/>
        </p:nvSpPr>
        <p:spPr>
          <a:xfrm xmlns:a="http://schemas.openxmlformats.org/drawingml/2006/main">
            <a:off x="628650" y="3695700"/>
            <a:ext cx="165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59C7"/>
                </a:solidFill>
                <a:latin typeface="Malgun Gothic"/>
                <a:ea typeface="Malgun Gothic"/>
                <a:cs typeface="Malgun Gothic"/>
              </a:defRPr>
            </a:defPPr>
          </a:lstStyle>
          <a:p xmlns:a="http://schemas.openxmlformats.org/drawingml/2006/main">
            <a:pPr algn="l">
              <a:defRPr sz="1875" b="1">
                <a:solidFill>
                  <a:srgbClr val="1459C7"/>
                </a:solidFill>
                <a:latin typeface="Malgun Gothic"/>
                <a:ea typeface="Malgun Gothic"/>
                <a:cs typeface="Malgun Gothic"/>
              </a:defRPr>
            </a:pPr>
            <a:r>
              <a:rPr sz="1875" b="1">
                <a:solidFill>
                  <a:srgbClr val="1459C7"/>
                </a:solidFill>
                <a:latin typeface="Malgun Gothic"/>
                <a:ea typeface="Malgun Gothic"/>
                <a:cs typeface="Malgun Gothic"/>
              </a:rPr>
              <a:t>사용자 질문</a:t>
            </a:r>
          </a:p>
        </p:txBody>
      </p:sp>
      <p:sp>
        <p:nvSpPr>
          <p:cNvPr id="15" name="">
            <a:extLst xmlns:a="http://schemas.openxmlformats.org/drawingml/2006/main">
              <a:ext uri="{FF2B5EF4-FFF2-40B4-BE49-F238E27FC236}">
                <a16:creationId xmlns:a16="http://schemas.microsoft.com/office/drawing/2014/main" id="{C3D66A7F-EF55-4A25-BA92-8C46F362CC52}"/>
              </a:ext>
            </a:extLst>
          </p:cNvPr>
          <p:cNvSpPr>
            <a:spLocks xmlns:a="http://schemas.openxmlformats.org/drawingml/2006/main" noGrp="1"/>
          </p:cNvSpPr>
          <p:nvPr/>
        </p:nvSpPr>
        <p:spPr>
          <a:xfrm xmlns:a="http://schemas.openxmlformats.org/drawingml/2006/main">
            <a:off x="619125" y="4114800"/>
            <a:ext cx="1685925" cy="84772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650">
                <a:latin typeface="Malgun Gothic"/>
                <a:ea typeface="Malgun Gothic"/>
                <a:cs typeface="Malgun Gothic"/>
              </a:defRPr>
            </a:defPPr>
          </a:lstStyle>
          <a:p xmlns:a="http://schemas.openxmlformats.org/drawingml/2006/main">
            <a:pPr algn="ctr">
              <a:defRPr sz="1650">
                <a:latin typeface="Malgun Gothic"/>
                <a:ea typeface="Malgun Gothic"/>
                <a:cs typeface="Malgun Gothic"/>
              </a:defRPr>
            </a:pPr>
            <a:r>
              <a:rPr sz="1650" b="0">
                <a:solidFill>
                  <a:srgbClr val="142238"/>
                </a:solidFill>
                <a:latin typeface="Malgun Gothic"/>
                <a:ea typeface="Malgun Gothic"/>
                <a:cs typeface="Malgun Gothic"/>
              </a:rPr>
              <a:t>한국어 질문</a:t>
            </a:r>
          </a:p>
          <a:p xmlns:a="http://schemas.openxmlformats.org/drawingml/2006/main">
            <a:pPr algn="ctr">
              <a:defRPr sz="1650">
                <a:latin typeface="Malgun Gothic"/>
                <a:ea typeface="Malgun Gothic"/>
                <a:cs typeface="Malgun Gothic"/>
              </a:defRPr>
            </a:pPr>
            <a:r>
              <a:rPr sz="1650" b="0">
                <a:solidFill>
                  <a:srgbClr val="142238"/>
                </a:solidFill>
                <a:latin typeface="Malgun Gothic"/>
                <a:ea typeface="Malgun Gothic"/>
                <a:cs typeface="Malgun Gothic"/>
              </a:rPr>
              <a:t>영어 확장 선택</a:t>
            </a:r>
          </a:p>
        </p:txBody>
      </p:sp>
      <p:sp>
        <p:nvSpPr>
          <p:cNvPr id="16" name="">
            <a:extLst xmlns:a="http://schemas.openxmlformats.org/drawingml/2006/main">
              <a:ext uri="{FF2B5EF4-FFF2-40B4-BE49-F238E27FC236}">
                <a16:creationId xmlns:a16="http://schemas.microsoft.com/office/drawing/2014/main" id="{B6A1ADBC-A7CE-4C88-9A3B-CE710C934A09}"/>
              </a:ext>
            </a:extLst>
          </p:cNvPr>
          <p:cNvSpPr>
            <a:spLocks xmlns:a="http://schemas.openxmlformats.org/drawingml/2006/main" noGrp="1"/>
          </p:cNvSpPr>
          <p:nvPr/>
        </p:nvSpPr>
        <p:spPr>
          <a:xfrm xmlns:a="http://schemas.openxmlformats.org/drawingml/2006/main">
            <a:off x="2562225" y="4114800"/>
            <a:ext cx="2238375" cy="84772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725">
                <a:latin typeface="Malgun Gothic"/>
                <a:ea typeface="Malgun Gothic"/>
                <a:cs typeface="Malgun Gothic"/>
              </a:defRPr>
            </a:defPPr>
          </a:lstStyle>
          <a:p xmlns:a="http://schemas.openxmlformats.org/drawingml/2006/main">
            <a:pPr algn="ctr">
              <a:defRPr sz="1725">
                <a:latin typeface="Malgun Gothic"/>
                <a:ea typeface="Malgun Gothic"/>
                <a:cs typeface="Malgun Gothic"/>
              </a:defRPr>
            </a:pPr>
            <a:r>
              <a:rPr sz="1725" b="0">
                <a:solidFill>
                  <a:srgbClr val="142238"/>
                </a:solidFill>
                <a:latin typeface="Malgun Gothic"/>
                <a:ea typeface="Malgun Gothic"/>
                <a:cs typeface="Malgun Gothic"/>
              </a:rPr>
              <a:t>키워드·벡터 검색</a:t>
            </a:r>
          </a:p>
          <a:p xmlns:a="http://schemas.openxmlformats.org/drawingml/2006/main">
            <a:pPr algn="ctr">
              <a:defRPr sz="1725">
                <a:latin typeface="Malgun Gothic"/>
                <a:ea typeface="Malgun Gothic"/>
                <a:cs typeface="Malgun Gothic"/>
              </a:defRPr>
            </a:pPr>
            <a:r>
              <a:rPr sz="1725" b="0">
                <a:solidFill>
                  <a:srgbClr val="142238"/>
                </a:solidFill>
                <a:latin typeface="Malgun Gothic"/>
                <a:ea typeface="Malgun Gothic"/>
                <a:cs typeface="Malgun Gothic"/>
              </a:rPr>
              <a:t>관계 후보 보완 선택</a:t>
            </a:r>
          </a:p>
        </p:txBody>
      </p:sp>
      <p:sp>
        <p:nvSpPr>
          <p:cNvPr id="17" name="">
            <a:extLst xmlns:a="http://schemas.openxmlformats.org/drawingml/2006/main">
              <a:ext uri="{FF2B5EF4-FFF2-40B4-BE49-F238E27FC236}">
                <a16:creationId xmlns:a16="http://schemas.microsoft.com/office/drawing/2014/main" id="{A3107C4A-B886-4C2F-95F3-7D0DD66BF614}"/>
              </a:ext>
            </a:extLst>
          </p:cNvPr>
          <p:cNvSpPr>
            <a:spLocks xmlns:a="http://schemas.openxmlformats.org/drawingml/2006/main" noGrp="1"/>
          </p:cNvSpPr>
          <p:nvPr/>
        </p:nvSpPr>
        <p:spPr>
          <a:xfrm xmlns:a="http://schemas.openxmlformats.org/drawingml/2006/main">
            <a:off x="5057775" y="4114800"/>
            <a:ext cx="1857375" cy="84772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Times New Roman"/>
                <a:ea typeface="Times New Roman"/>
                <a:cs typeface="Times New Roman"/>
              </a:rPr>
              <a:t>Clef </a:t>
            </a:r>
            <a:r>
              <a:rPr sz="1800" b="0">
                <a:solidFill>
                  <a:srgbClr val="142238"/>
                </a:solidFill>
                <a:latin typeface="Malgun Gothic"/>
                <a:ea typeface="Malgun Gothic"/>
                <a:cs typeface="Malgun Gothic"/>
              </a:rPr>
              <a:t>선택 적용</a:t>
            </a:r>
          </a:p>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후보 순서 보완</a:t>
            </a:r>
          </a:p>
        </p:txBody>
      </p:sp>
      <p:sp>
        <p:nvSpPr>
          <p:cNvPr id="18" name="">
            <a:extLst xmlns:a="http://schemas.openxmlformats.org/drawingml/2006/main">
              <a:ext uri="{FF2B5EF4-FFF2-40B4-BE49-F238E27FC236}">
                <a16:creationId xmlns:a16="http://schemas.microsoft.com/office/drawing/2014/main" id="{097A9531-3084-4F0B-9C3C-DD4794FCF9D3}"/>
              </a:ext>
            </a:extLst>
          </p:cNvPr>
          <p:cNvSpPr>
            <a:spLocks xmlns:a="http://schemas.openxmlformats.org/drawingml/2006/main" noGrp="1"/>
          </p:cNvSpPr>
          <p:nvPr/>
        </p:nvSpPr>
        <p:spPr>
          <a:xfrm xmlns:a="http://schemas.openxmlformats.org/drawingml/2006/main">
            <a:off x="7172325" y="4114800"/>
            <a:ext cx="1847850" cy="84772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답변 </a:t>
            </a:r>
            <a:r>
              <a:rPr sz="1800" b="0">
                <a:solidFill>
                  <a:srgbClr val="142238"/>
                </a:solidFill>
                <a:latin typeface="Times New Roman"/>
                <a:ea typeface="Times New Roman"/>
                <a:cs typeface="Times New Roman"/>
              </a:rPr>
              <a:t>LLM</a:t>
            </a:r>
          </a:p>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한국어 답변</a:t>
            </a:r>
          </a:p>
        </p:txBody>
      </p:sp>
      <p:sp>
        <p:nvSpPr>
          <p:cNvPr id="19" name="">
            <a:extLst xmlns:a="http://schemas.openxmlformats.org/drawingml/2006/main">
              <a:ext uri="{FF2B5EF4-FFF2-40B4-BE49-F238E27FC236}">
                <a16:creationId xmlns:a16="http://schemas.microsoft.com/office/drawing/2014/main" id="{D8A22C1B-5B00-422C-8931-DE99227707B5}"/>
              </a:ext>
            </a:extLst>
          </p:cNvPr>
          <p:cNvSpPr>
            <a:spLocks xmlns:a="http://schemas.openxmlformats.org/drawingml/2006/main" noGrp="1"/>
          </p:cNvSpPr>
          <p:nvPr/>
        </p:nvSpPr>
        <p:spPr>
          <a:xfrm xmlns:a="http://schemas.openxmlformats.org/drawingml/2006/main">
            <a:off x="9277350" y="4114800"/>
            <a:ext cx="2286000" cy="84772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원문 셀 검사</a:t>
            </a:r>
          </a:p>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인용·숫자·날짜 확인</a:t>
            </a:r>
          </a:p>
        </p:txBody>
      </p:sp>
      <p:sp>
        <p:nvSpPr>
          <p:cNvPr id="25" name="">
            <a:extLst xmlns:a="http://schemas.openxmlformats.org/drawingml/2006/main">
              <a:ext uri="{FF2B5EF4-FFF2-40B4-BE49-F238E27FC236}">
                <a16:creationId xmlns:a16="http://schemas.microsoft.com/office/drawing/2014/main" id="{56DFDA35-C0FD-4DA2-9A21-DFAD332E03F4}"/>
              </a:ext>
            </a:extLst>
          </p:cNvPr>
          <p:cNvSpPr>
            <a:spLocks xmlns:a="http://schemas.openxmlformats.org/drawingml/2006/main" noGrp="1"/>
          </p:cNvSpPr>
          <p:nvPr/>
        </p:nvSpPr>
        <p:spPr>
          <a:xfrm xmlns:a="http://schemas.openxmlformats.org/drawingml/2006/main">
            <a:off x="619125" y="5391150"/>
            <a:ext cx="10944225" cy="571500"/>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950">
                <a:latin typeface="Malgun Gothic"/>
                <a:ea typeface="Malgun Gothic"/>
                <a:cs typeface="Malgun Gothic"/>
              </a:defRPr>
            </a:defPPr>
          </a:lstStyle>
          <a:p xmlns:a="http://schemas.openxmlformats.org/drawingml/2006/main">
            <a:pPr algn="ctr">
              <a:defRPr sz="1950">
                <a:latin typeface="Malgun Gothic"/>
                <a:ea typeface="Malgun Gothic"/>
                <a:cs typeface="Malgun Gothic"/>
              </a:defRPr>
            </a:pPr>
            <a:r>
              <a:rPr sz="1950" b="0">
                <a:solidFill>
                  <a:srgbClr val="142238"/>
                </a:solidFill>
                <a:latin typeface="Malgun Gothic"/>
                <a:ea typeface="Malgun Gothic"/>
                <a:cs typeface="Malgun Gothic"/>
              </a:rPr>
              <a:t>브라우저: 답변 + 날짜·원문 셀 인용 + 설비·모듈·부품 관계 그래프</a:t>
            </a:r>
          </a:p>
        </p:txBody>
      </p:sp>
      <p:sp>
        <p:nvSpPr>
          <p:cNvPr id="27" name="">
            <a:extLst xmlns:a="http://schemas.openxmlformats.org/drawingml/2006/main">
              <a:ext uri="{FF2B5EF4-FFF2-40B4-BE49-F238E27FC236}">
                <a16:creationId xmlns:a16="http://schemas.microsoft.com/office/drawing/2014/main" id="{A8F938D5-C6E6-4135-A640-12238D6A5056}"/>
              </a:ext>
            </a:extLst>
          </p:cNvPr>
          <p:cNvSpPr>
            <a:spLocks xmlns:a="http://schemas.openxmlformats.org/drawingml/2006/main" noGrp="1"/>
          </p:cNvSpPr>
          <p:nvPr/>
        </p:nvSpPr>
        <p:spPr>
          <a:xfrm xmlns:a="http://schemas.openxmlformats.org/drawingml/2006/main">
            <a:off x="638175" y="6105525"/>
            <a:ext cx="109823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B6676"/>
                </a:solidFill>
                <a:latin typeface="Malgun Gothic"/>
                <a:ea typeface="Malgun Gothic"/>
                <a:cs typeface="Malgun Gothic"/>
              </a:defRPr>
            </a:defPPr>
          </a:lstStyle>
          <a:p xmlns:a="http://schemas.openxmlformats.org/drawingml/2006/main">
            <a:pPr algn="l">
              <a:defRPr sz="1500" b="0">
                <a:solidFill>
                  <a:srgbClr val="5B6676"/>
                </a:solidFill>
                <a:latin typeface="Malgun Gothic"/>
                <a:ea typeface="Malgun Gothic"/>
                <a:cs typeface="Malgun Gothic"/>
              </a:defRPr>
            </a:pPr>
            <a:r>
              <a:rPr sz="1500" b="0">
                <a:solidFill>
                  <a:srgbClr val="5B6676"/>
                </a:solidFill>
                <a:latin typeface="Malgun Gothic"/>
                <a:ea typeface="Malgun Gothic"/>
                <a:cs typeface="Malgun Gothic"/>
              </a:rPr>
              <a:t>작업 상태 저장·중단 후 재개 / 질문 사이에 자료 준비 계속 / 질문 중에는 검색 당시 원문 유지</a:t>
            </a:r>
          </a:p>
        </p:txBody>
      </p:sp>
    </p:spTree>
    <p:extLst>
      <p:ext uri="{BB962C8B-B14F-4D97-AF65-F5344CB8AC3E}">
        <p14:creationId xmlns:p14="http://schemas.microsoft.com/office/powerpoint/2010/main" val="3779801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6C7B84-D7E3-409A-B54B-2B22559D9C69}"/>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Malgun Gothic"/>
                <a:ea typeface="Malgun Gothic"/>
                <a:cs typeface="Malgun Gothic"/>
              </a:rPr>
              <a:t>기본 </a:t>
            </a:r>
            <a:r>
              <a:rPr sz="3150" b="1">
                <a:solidFill>
                  <a:srgbClr val="142238"/>
                </a:solidFill>
                <a:latin typeface="Times New Roman"/>
                <a:ea typeface="Times New Roman"/>
                <a:cs typeface="Times New Roman"/>
              </a:rPr>
              <a:t>RAG</a:t>
            </a:r>
            <a:r>
              <a:rPr sz="3150" b="1">
                <a:solidFill>
                  <a:srgbClr val="142238"/>
                </a:solidFill>
                <a:latin typeface="Malgun Gothic"/>
                <a:ea typeface="Malgun Gothic"/>
                <a:cs typeface="Malgun Gothic"/>
              </a:rPr>
              <a:t>와 달라지는 기술 요소</a:t>
            </a:r>
          </a:p>
        </p:txBody>
      </p:sp>
      <p:sp>
        <p:nvSpPr>
          <p:cNvPr id="2" name="">
            <a:extLst xmlns:a="http://schemas.openxmlformats.org/drawingml/2006/main">
              <a:ext uri="{FF2B5EF4-FFF2-40B4-BE49-F238E27FC236}">
                <a16:creationId xmlns:a16="http://schemas.microsoft.com/office/drawing/2014/main" id="{F17D24E1-7E6A-46A3-BB02-90A35D59626E}"/>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비교 기준은 “검색한 문서를 답변 </a:t>
            </a:r>
            <a:r>
              <a:rPr sz="1725" b="0">
                <a:solidFill>
                  <a:srgbClr val="5B6676"/>
                </a:solidFill>
                <a:latin typeface="Times New Roman"/>
                <a:ea typeface="Times New Roman"/>
                <a:cs typeface="Times New Roman"/>
              </a:rPr>
              <a:t>LLM</a:t>
            </a:r>
            <a:r>
              <a:rPr sz="1725" b="0">
                <a:solidFill>
                  <a:srgbClr val="5B6676"/>
                </a:solidFill>
                <a:latin typeface="Malgun Gothic"/>
                <a:ea typeface="Malgun Gothic"/>
                <a:cs typeface="Malgun Gothic"/>
              </a:rPr>
              <a:t>에 전달하는 기본 구성”입니다.</a:t>
            </a:r>
          </a:p>
        </p:txBody>
      </p:sp>
      <p:sp>
        <p:nvSpPr>
          <p:cNvPr id="3" name="">
            <a:extLst xmlns:a="http://schemas.openxmlformats.org/drawingml/2006/main">
              <a:ext uri="{FF2B5EF4-FFF2-40B4-BE49-F238E27FC236}">
                <a16:creationId xmlns:a16="http://schemas.microsoft.com/office/drawing/2014/main" id="{FAC7965A-ED77-41E1-A49F-5816DDF9DF6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재정렬·관계 검색 자체는 기존 기술 · 다른 고급 </a:t>
            </a:r>
            <a:r>
              <a:rPr sz="1200" b="0">
                <a:solidFill>
                  <a:srgbClr val="5B6676"/>
                </a:solidFill>
                <a:latin typeface="Times New Roman"/>
                <a:ea typeface="Times New Roman"/>
                <a:cs typeface="Times New Roman"/>
              </a:rPr>
              <a:t>RAG </a:t>
            </a:r>
            <a:r>
              <a:rPr sz="1200" b="0">
                <a:solidFill>
                  <a:srgbClr val="5B6676"/>
                </a:solidFill>
                <a:latin typeface="Malgun Gothic"/>
                <a:ea typeface="Malgun Gothic"/>
                <a:cs typeface="Malgun Gothic"/>
              </a:rPr>
              <a:t>제품 및 재정렬 모델 대비 우위는 별도 검증 필요 · </a:t>
            </a:r>
            <a:r>
              <a:rPr sz="1200" b="0">
                <a:solidFill>
                  <a:srgbClr val="5B6676"/>
                </a:solidFill>
                <a:latin typeface="Times New Roman"/>
                <a:ea typeface="Times New Roman"/>
                <a:cs typeface="Times New Roman"/>
              </a:rPr>
              <a:t>E1, E8, E9</a:t>
            </a:r>
          </a:p>
        </p:txBody>
      </p:sp>
      <p:sp>
        <p:nvSpPr>
          <p:cNvPr id="4" name="">
            <a:extLst xmlns:a="http://schemas.openxmlformats.org/drawingml/2006/main">
              <a:ext uri="{FF2B5EF4-FFF2-40B4-BE49-F238E27FC236}">
                <a16:creationId xmlns:a16="http://schemas.microsoft.com/office/drawing/2014/main" id="{9482F062-60A8-4908-9EF1-0E21AC8DC662}"/>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05</a:t>
            </a:r>
          </a:p>
        </p:txBody>
      </p:sp>
      <p:graphicFrame>
        <p:nvGraphicFramePr>
          <p:cNvPr id="5" name="">
            <a:extLst xmlns:a="http://schemas.openxmlformats.org/drawingml/2006/main">
              <a:ext uri="{FF2B5EF4-FFF2-40B4-BE49-F238E27FC236}">
                <a16:creationId xmlns:a16="http://schemas.microsoft.com/office/drawing/2014/main" id="{8D310FAC-ECAD-40AD-9832-3BA9023FADD0}"/>
              </a:ext>
            </a:extLst>
          </p:cNvPr>
          <p:cNvGraphicFramePr/>
          <p:nvPr/>
        </p:nvGraphicFramePr>
        <p:xfrm>
          <a:off xmlns:a="http://schemas.openxmlformats.org/drawingml/2006/main" x="628650" y="1743075"/>
          <a:ext xmlns:a="http://schemas.openxmlformats.org/drawingml/2006/main" cx="10934700" cy="4514850"/>
        </p:xfrm>
        <a:graphic xmlns:a="http://schemas.openxmlformats.org/drawingml/2006/main">
          <a:graphicData uri="http://schemas.openxmlformats.org/drawingml/2006/table">
            <a:tbl>
              <a:tblPr/>
              <a:tblGrid>
                <a:gridCol w="1857375"/>
                <a:gridCol w="3590925"/>
                <a:gridCol w="5486400"/>
              </a:tblGrid>
              <a:tr h="466725">
                <a:tc>
                  <a:txBody>
                    <a:bodyPr lIns="133350" tIns="133350" rIns="133350" bIns="133350">
                      <a:noAutofit/>
                    </a:bodyPr>
                    <a:lstStyle/>
                    <a:p>
                      <a:r>
                        <a:rPr sz="1800" b="1">
                          <a:solidFill>
                            <a:srgbClr val="FFFFFF"/>
                          </a:solidFill>
                          <a:latin typeface="Malgun Gothic"/>
                          <a:ea typeface="Malgun Gothic"/>
                          <a:cs typeface="Malgun Gothic"/>
                        </a:rPr>
                        <a:t>기술 요소</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비교용 기본 </a:t>
                      </a:r>
                      <a:r>
                        <a:rPr sz="1800" b="1">
                          <a:solidFill>
                            <a:srgbClr val="FFFFFF"/>
                          </a:solidFill>
                          <a:latin typeface="Times New Roman"/>
                          <a:ea typeface="Times New Roman"/>
                          <a:cs typeface="Times New Roman"/>
                        </a:rPr>
                        <a:t>RAG</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본 시스템</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809625">
                <a:tc>
                  <a:txBody>
                    <a:bodyPr lIns="133350" tIns="133350" rIns="133350" bIns="133350">
                      <a:noAutofit/>
                    </a:bodyPr>
                    <a:lstStyle/>
                    <a:p>
                      <a:r>
                        <a:rPr sz="1800" b="0">
                          <a:solidFill>
                            <a:srgbClr val="142238"/>
                          </a:solidFill>
                          <a:latin typeface="Malgun Gothic"/>
                          <a:ea typeface="Malgun Gothic"/>
                          <a:cs typeface="Malgun Gothic"/>
                        </a:rPr>
                        <a:t>자료의 단위</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문서를 일정 길이로 나눠 검색</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같은 </a:t>
                      </a:r>
                      <a:r>
                        <a:rPr sz="1800" b="0">
                          <a:solidFill>
                            <a:srgbClr val="142238"/>
                          </a:solidFill>
                          <a:latin typeface="Times New Roman"/>
                          <a:ea typeface="Times New Roman"/>
                          <a:cs typeface="Times New Roman"/>
                        </a:rPr>
                        <a:t>CS</a:t>
                      </a:r>
                      <a:r>
                        <a:rPr sz="1800" b="0">
                          <a:solidFill>
                            <a:srgbClr val="142238"/>
                          </a:solidFill>
                          <a:latin typeface="Malgun Gothic"/>
                          <a:ea typeface="Malgun Gothic"/>
                          <a:cs typeface="Malgun Gothic"/>
                        </a:rPr>
                        <a:t>의 상세와 작업을 구분</a:t>
                      </a:r>
                    </a:p>
                    <a:p>
                      <a:r>
                        <a:rPr sz="1800" b="0">
                          <a:solidFill>
                            <a:srgbClr val="142238"/>
                          </a:solidFill>
                          <a:latin typeface="Malgun Gothic"/>
                          <a:ea typeface="Malgun Gothic"/>
                          <a:cs typeface="Malgun Gothic"/>
                        </a:rPr>
                        <a:t>답변 근거를 실제 원문 셀까지 연결</a:t>
                      </a:r>
                    </a:p>
                  </a:txBody>
                  <a:tcPr marL="91440" marR="91440" marT="45720" marB="45720" anchor="ctr">
                    <a:lnR w="9525">
                      <a:solidFill>
                        <a:srgbClr val="D8DFE8"/>
                      </a:solidFill>
                    </a:lnR>
                    <a:lnB w="9525">
                      <a:solidFill>
                        <a:srgbClr val="D8DFE8"/>
                      </a:solidFill>
                    </a:lnB>
                    <a:solidFill>
                      <a:srgbClr val="FFFFFF"/>
                    </a:solidFill>
                  </a:tcPr>
                </a:tc>
              </a:tr>
              <a:tr h="809625">
                <a:tc>
                  <a:txBody>
                    <a:bodyPr lIns="133350" tIns="133350" rIns="133350" bIns="133350">
                      <a:noAutofit/>
                    </a:bodyPr>
                    <a:lstStyle/>
                    <a:p>
                      <a:r>
                        <a:rPr sz="1800" b="0">
                          <a:solidFill>
                            <a:srgbClr val="142238"/>
                          </a:solidFill>
                          <a:latin typeface="Malgun Gothic"/>
                          <a:ea typeface="Malgun Gothic"/>
                          <a:cs typeface="Malgun Gothic"/>
                        </a:rPr>
                        <a:t>후보의 순서</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키워드·벡터 점수 순으로 전달</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검색 후 </a:t>
                      </a:r>
                      <a:r>
                        <a:rPr sz="1800" b="0">
                          <a:solidFill>
                            <a:srgbClr val="142238"/>
                          </a:solidFill>
                          <a:latin typeface="Times New Roman"/>
                          <a:ea typeface="Times New Roman"/>
                          <a:cs typeface="Times New Roman"/>
                        </a:rPr>
                        <a:t>Clef</a:t>
                      </a:r>
                      <a:r>
                        <a:rPr sz="1800" b="0">
                          <a:solidFill>
                            <a:srgbClr val="142238"/>
                          </a:solidFill>
                          <a:latin typeface="Malgun Gothic"/>
                          <a:ea typeface="Malgun Gothic"/>
                          <a:cs typeface="Malgun Gothic"/>
                        </a:rPr>
                        <a:t>가 질문과 원문을 함께 읽고</a:t>
                      </a:r>
                    </a:p>
                    <a:p>
                      <a:r>
                        <a:rPr sz="1800" b="0">
                          <a:solidFill>
                            <a:srgbClr val="142238"/>
                          </a:solidFill>
                          <a:latin typeface="Malgun Gothic"/>
                          <a:ea typeface="Malgun Gothic"/>
                          <a:cs typeface="Malgun Gothic"/>
                        </a:rPr>
                        <a:t>정해진 후보의 상대 점수로 순서 보완</a:t>
                      </a:r>
                    </a:p>
                  </a:txBody>
                  <a:tcPr marL="91440" marR="91440" marT="45720" marB="45720" anchor="ctr">
                    <a:lnR w="9525">
                      <a:solidFill>
                        <a:srgbClr val="D8DFE8"/>
                      </a:solidFill>
                    </a:lnR>
                    <a:lnB w="9525">
                      <a:solidFill>
                        <a:srgbClr val="D8DFE8"/>
                      </a:solidFill>
                    </a:lnB>
                    <a:solidFill>
                      <a:srgbClr val="F6F8FB"/>
                    </a:solidFill>
                  </a:tcPr>
                </a:tc>
              </a:tr>
              <a:tr h="809625">
                <a:tc>
                  <a:txBody>
                    <a:bodyPr lIns="133350" tIns="133350" rIns="133350" bIns="133350">
                      <a:noAutofit/>
                    </a:bodyPr>
                    <a:lstStyle/>
                    <a:p>
                      <a:r>
                        <a:rPr sz="1800" b="0">
                          <a:solidFill>
                            <a:srgbClr val="142238"/>
                          </a:solidFill>
                          <a:latin typeface="Malgun Gothic"/>
                          <a:ea typeface="Malgun Gothic"/>
                          <a:cs typeface="Malgun Gothic"/>
                        </a:rPr>
                        <a:t>설비·부품의 관계</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문서 내용 안에 관계가 흩어짐</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같은 상세의 이름을 관계 후보에 활용</a:t>
                      </a:r>
                    </a:p>
                    <a:p>
                      <a:r>
                        <a:rPr sz="1800" b="0">
                          <a:solidFill>
                            <a:srgbClr val="142238"/>
                          </a:solidFill>
                          <a:latin typeface="Malgun Gothic"/>
                          <a:ea typeface="Malgun Gothic"/>
                          <a:cs typeface="Malgun Gothic"/>
                        </a:rPr>
                        <a:t>공통 노드를 합쳐 여러 </a:t>
                      </a:r>
                      <a:r>
                        <a:rPr sz="1800" b="0">
                          <a:solidFill>
                            <a:srgbClr val="142238"/>
                          </a:solidFill>
                          <a:latin typeface="Times New Roman"/>
                          <a:ea typeface="Times New Roman"/>
                          <a:cs typeface="Times New Roman"/>
                        </a:rPr>
                        <a:t>CS </a:t>
                      </a:r>
                      <a:r>
                        <a:rPr sz="1800" b="0">
                          <a:solidFill>
                            <a:srgbClr val="142238"/>
                          </a:solidFill>
                          <a:latin typeface="Malgun Gothic"/>
                          <a:ea typeface="Malgun Gothic"/>
                          <a:cs typeface="Malgun Gothic"/>
                        </a:rPr>
                        <a:t>이력을 시각화</a:t>
                      </a:r>
                    </a:p>
                  </a:txBody>
                  <a:tcPr marL="91440" marR="91440" marT="45720" marB="45720" anchor="ctr">
                    <a:lnR w="9525">
                      <a:solidFill>
                        <a:srgbClr val="D8DFE8"/>
                      </a:solidFill>
                    </a:lnR>
                    <a:lnB w="9525">
                      <a:solidFill>
                        <a:srgbClr val="D8DFE8"/>
                      </a:solidFill>
                    </a:lnB>
                    <a:solidFill>
                      <a:srgbClr val="FFFFFF"/>
                    </a:solidFill>
                  </a:tcPr>
                </a:tc>
              </a:tr>
              <a:tr h="809625">
                <a:tc>
                  <a:txBody>
                    <a:bodyPr lIns="133350" tIns="133350" rIns="133350" bIns="133350">
                      <a:noAutofit/>
                    </a:bodyPr>
                    <a:lstStyle/>
                    <a:p>
                      <a:r>
                        <a:rPr sz="1800" b="0">
                          <a:solidFill>
                            <a:srgbClr val="142238"/>
                          </a:solidFill>
                          <a:latin typeface="Malgun Gothic"/>
                          <a:ea typeface="Malgun Gothic"/>
                          <a:cs typeface="Malgun Gothic"/>
                        </a:rPr>
                        <a:t>답변 확인</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검색 문서와 함께 답변 생성</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원문 인용·수치·날짜를 검사</a:t>
                      </a:r>
                    </a:p>
                    <a:p>
                      <a:r>
                        <a:rPr sz="1800" b="0">
                          <a:solidFill>
                            <a:srgbClr val="142238"/>
                          </a:solidFill>
                          <a:latin typeface="Malgun Gothic"/>
                          <a:ea typeface="Malgun Gothic"/>
                          <a:cs typeface="Malgun Gothic"/>
                        </a:rPr>
                        <a:t>다른 상세의 셀을 섞지 않도록 근거 분리</a:t>
                      </a:r>
                    </a:p>
                  </a:txBody>
                  <a:tcPr marL="91440" marR="91440" marT="45720" marB="45720" anchor="ctr">
                    <a:lnR w="9525">
                      <a:solidFill>
                        <a:srgbClr val="D8DFE8"/>
                      </a:solidFill>
                    </a:lnR>
                    <a:lnB w="9525">
                      <a:solidFill>
                        <a:srgbClr val="D8DFE8"/>
                      </a:solidFill>
                    </a:lnB>
                    <a:solidFill>
                      <a:srgbClr val="F6F8FB"/>
                    </a:solidFill>
                  </a:tcPr>
                </a:tc>
              </a:tr>
              <a:tr h="809625">
                <a:tc>
                  <a:txBody>
                    <a:bodyPr lIns="133350" tIns="133350" rIns="133350" bIns="133350">
                      <a:noAutofit/>
                    </a:bodyPr>
                    <a:lstStyle/>
                    <a:p>
                      <a:r>
                        <a:rPr sz="1800" b="0">
                          <a:solidFill>
                            <a:srgbClr val="142238"/>
                          </a:solidFill>
                          <a:latin typeface="Malgun Gothic"/>
                          <a:ea typeface="Malgun Gothic"/>
                          <a:cs typeface="Malgun Gothic"/>
                        </a:rPr>
                        <a:t>반복 운영</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검색·답변 요청 중심</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자료 준비 중 질문, 중단 후 재개</a:t>
                      </a:r>
                    </a:p>
                    <a:p>
                      <a:r>
                        <a:rPr sz="1800" b="0">
                          <a:solidFill>
                            <a:srgbClr val="142238"/>
                          </a:solidFill>
                          <a:latin typeface="Malgun Gothic"/>
                          <a:ea typeface="Malgun Gothic"/>
                          <a:cs typeface="Malgun Gothic"/>
                        </a:rPr>
                        <a:t>원문·검토 상태를 보존하며 증분 등록</a:t>
                      </a:r>
                    </a:p>
                  </a:txBody>
                  <a:tcPr marL="91440" marR="91440" marT="45720" marB="45720" anchor="ctr">
                    <a:lnR w="9525">
                      <a:solidFill>
                        <a:srgbClr val="D8DFE8"/>
                      </a:solidFill>
                    </a:lnR>
                    <a:lnB w="9525">
                      <a:solidFill>
                        <a:srgbClr val="D8DFE8"/>
                      </a:solidFill>
                    </a:lnB>
                    <a:solidFill>
                      <a:srgbClr val="FFFFFF"/>
                    </a:solidFill>
                  </a:tcPr>
                </a:tc>
              </a:tr>
            </a:tbl>
          </a:graphicData>
        </a:graphic>
      </p:graphicFrame>
    </p:spTree>
    <p:extLst>
      <p:ext uri="{BB962C8B-B14F-4D97-AF65-F5344CB8AC3E}">
        <p14:creationId xmlns:p14="http://schemas.microsoft.com/office/powerpoint/2010/main" val="12178100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2A59CCE-A05F-4548-B117-3BBCD07F442B}"/>
              </a:ext>
            </a:extLst>
          </p:cNvPr>
          <p:cNvCxnSpPr>
            <a:stCxn xmlns:a="http://schemas.openxmlformats.org/drawingml/2006/main" id="6" idx="3"/>
            <a:endCxn xmlns:a="http://schemas.openxmlformats.org/drawingml/2006/main" id="7" idx="1"/>
          </p:cNvCxnSpPr>
          <p:nvPr/>
        </p:nvCxnSpPr>
        <p:spPr>
          <a:xfrm xmlns:a="http://schemas.openxmlformats.org/drawingml/2006/main">
            <a:off x="7591425" y="2133600"/>
            <a:ext cx="3333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9F8E6467-1264-409F-98F8-BDA41860024E}"/>
              </a:ext>
            </a:extLst>
          </p:cNvPr>
          <p:cNvCxnSpPr>
            <a:stCxn xmlns:a="http://schemas.openxmlformats.org/drawingml/2006/main" id="5" idx="3"/>
            <a:endCxn xmlns:a="http://schemas.openxmlformats.org/drawingml/2006/main" id="6" idx="1"/>
          </p:cNvCxnSpPr>
          <p:nvPr/>
        </p:nvCxnSpPr>
        <p:spPr>
          <a:xfrm xmlns:a="http://schemas.openxmlformats.org/drawingml/2006/main">
            <a:off x="3790950" y="2133600"/>
            <a:ext cx="323850"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sp>
        <p:nvSpPr>
          <p:cNvPr id="16" name="">
            <a:extLst xmlns:a="http://schemas.openxmlformats.org/drawingml/2006/main">
              <a:ext uri="{FF2B5EF4-FFF2-40B4-BE49-F238E27FC236}">
                <a16:creationId xmlns:a16="http://schemas.microsoft.com/office/drawing/2014/main" id="{4AB7E5E6-D83C-422D-B174-18EB9E0C6071}"/>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Times New Roman"/>
                <a:ea typeface="Times New Roman"/>
                <a:cs typeface="Times New Roman"/>
              </a:rPr>
              <a:t>Clef</a:t>
            </a:r>
            <a:r>
              <a:rPr sz="3150" b="1">
                <a:solidFill>
                  <a:srgbClr val="142238"/>
                </a:solidFill>
                <a:latin typeface="Malgun Gothic"/>
                <a:ea typeface="Malgun Gothic"/>
                <a:cs typeface="Malgun Gothic"/>
              </a:rPr>
              <a:t>는 질문과 후보를 함께 읽고 순서를 판단합니다</a:t>
            </a:r>
          </a:p>
        </p:txBody>
      </p:sp>
      <p:sp>
        <p:nvSpPr>
          <p:cNvPr id="2" name="">
            <a:extLst xmlns:a="http://schemas.openxmlformats.org/drawingml/2006/main">
              <a:ext uri="{FF2B5EF4-FFF2-40B4-BE49-F238E27FC236}">
                <a16:creationId xmlns:a16="http://schemas.microsoft.com/office/drawing/2014/main" id="{C01E6AA6-E9DC-4086-844E-5BFFD94AD76C}"/>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자유 문장 생성 없이 허용된 후보별 상대 선택 점수를 출력하는 판단 모델입니다.</a:t>
            </a:r>
          </a:p>
        </p:txBody>
      </p:sp>
      <p:sp>
        <p:nvSpPr>
          <p:cNvPr id="3" name="">
            <a:extLst xmlns:a="http://schemas.openxmlformats.org/drawingml/2006/main">
              <a:ext uri="{FF2B5EF4-FFF2-40B4-BE49-F238E27FC236}">
                <a16:creationId xmlns:a16="http://schemas.microsoft.com/office/drawing/2014/main" id="{F865FA2E-25D1-4AC1-ADB3-06C666440966}"/>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Times New Roman"/>
                <a:ea typeface="Times New Roman"/>
                <a:cs typeface="Times New Roman"/>
              </a:rPr>
              <a:t>8</a:t>
            </a:r>
            <a:r>
              <a:rPr sz="1200" b="0">
                <a:solidFill>
                  <a:srgbClr val="5B6676"/>
                </a:solidFill>
                <a:latin typeface="Malgun Gothic"/>
                <a:ea typeface="Malgun Gothic"/>
                <a:cs typeface="Malgun Gothic"/>
              </a:rPr>
              <a:t>개 모두 실제 </a:t>
            </a:r>
            <a:r>
              <a:rPr sz="1200" b="0">
                <a:solidFill>
                  <a:srgbClr val="5B6676"/>
                </a:solidFill>
                <a:latin typeface="Times New Roman"/>
                <a:ea typeface="Times New Roman"/>
                <a:cs typeface="Times New Roman"/>
              </a:rPr>
              <a:t>MLX GPU </a:t>
            </a:r>
            <a:r>
              <a:rPr sz="1200" b="0">
                <a:solidFill>
                  <a:srgbClr val="5B6676"/>
                </a:solidFill>
                <a:latin typeface="Malgun Gothic"/>
                <a:ea typeface="Malgun Gothic"/>
                <a:cs typeface="Malgun Gothic"/>
              </a:rPr>
              <a:t>실행 · 상위 </a:t>
            </a:r>
            <a:r>
              <a:rPr sz="1200" b="0">
                <a:solidFill>
                  <a:srgbClr val="5B6676"/>
                </a:solidFill>
                <a:latin typeface="Times New Roman"/>
                <a:ea typeface="Times New Roman"/>
                <a:cs typeface="Times New Roman"/>
              </a:rPr>
              <a:t>3</a:t>
            </a:r>
            <a:r>
              <a:rPr sz="1200" b="0">
                <a:solidFill>
                  <a:srgbClr val="5B6676"/>
                </a:solidFill>
                <a:latin typeface="Malgun Gothic"/>
                <a:ea typeface="Malgun Gothic"/>
                <a:cs typeface="Malgun Gothic"/>
              </a:rPr>
              <a:t>개 정답 포함은 전후 동일 · 모델 적재 포함 지연 · </a:t>
            </a:r>
            <a:r>
              <a:rPr sz="1200" b="0">
                <a:solidFill>
                  <a:srgbClr val="5B6676"/>
                </a:solidFill>
                <a:latin typeface="Times New Roman"/>
                <a:ea typeface="Times New Roman"/>
                <a:cs typeface="Times New Roman"/>
              </a:rPr>
              <a:t>E7, E8</a:t>
            </a:r>
          </a:p>
        </p:txBody>
      </p:sp>
      <p:sp>
        <p:nvSpPr>
          <p:cNvPr id="4" name="">
            <a:extLst xmlns:a="http://schemas.openxmlformats.org/drawingml/2006/main">
              <a:ext uri="{FF2B5EF4-FFF2-40B4-BE49-F238E27FC236}">
                <a16:creationId xmlns:a16="http://schemas.microsoft.com/office/drawing/2014/main" id="{68D7C367-0784-4A89-9B5B-80208CFA18F9}"/>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06</a:t>
            </a:r>
          </a:p>
        </p:txBody>
      </p:sp>
      <p:sp>
        <p:nvSpPr>
          <p:cNvPr id="5" name="">
            <a:extLst xmlns:a="http://schemas.openxmlformats.org/drawingml/2006/main">
              <a:ext uri="{FF2B5EF4-FFF2-40B4-BE49-F238E27FC236}">
                <a16:creationId xmlns:a16="http://schemas.microsoft.com/office/drawing/2014/main" id="{5131B1AB-4E6F-49C5-A45B-160A46EE8ADA}"/>
              </a:ext>
            </a:extLst>
          </p:cNvPr>
          <p:cNvSpPr>
            <a:spLocks xmlns:a="http://schemas.openxmlformats.org/drawingml/2006/main" noGrp="1"/>
          </p:cNvSpPr>
          <p:nvPr/>
        </p:nvSpPr>
        <p:spPr>
          <a:xfrm xmlns:a="http://schemas.openxmlformats.org/drawingml/2006/main">
            <a:off x="619125" y="1771650"/>
            <a:ext cx="3171825" cy="723900"/>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입력</a:t>
            </a:r>
          </a:p>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질문 + 후보 </a:t>
            </a:r>
            <a:r>
              <a:rPr sz="1800" b="0">
                <a:solidFill>
                  <a:srgbClr val="142238"/>
                </a:solidFill>
                <a:latin typeface="Times New Roman"/>
                <a:ea typeface="Times New Roman"/>
                <a:cs typeface="Times New Roman"/>
              </a:rPr>
              <a:t>5</a:t>
            </a:r>
            <a:r>
              <a:rPr sz="1800" b="0">
                <a:solidFill>
                  <a:srgbClr val="142238"/>
                </a:solidFill>
                <a:latin typeface="Malgun Gothic"/>
                <a:ea typeface="Malgun Gothic"/>
                <a:cs typeface="Malgun Gothic"/>
              </a:rPr>
              <a:t>개의 원문</a:t>
            </a:r>
          </a:p>
        </p:txBody>
      </p:sp>
      <p:sp>
        <p:nvSpPr>
          <p:cNvPr id="6" name="">
            <a:extLst xmlns:a="http://schemas.openxmlformats.org/drawingml/2006/main">
              <a:ext uri="{FF2B5EF4-FFF2-40B4-BE49-F238E27FC236}">
                <a16:creationId xmlns:a16="http://schemas.microsoft.com/office/drawing/2014/main" id="{CB209A9C-2F90-4189-BDBE-0D6A0573C79E}"/>
              </a:ext>
            </a:extLst>
          </p:cNvPr>
          <p:cNvSpPr>
            <a:spLocks xmlns:a="http://schemas.openxmlformats.org/drawingml/2006/main" noGrp="1"/>
          </p:cNvSpPr>
          <p:nvPr/>
        </p:nvSpPr>
        <p:spPr>
          <a:xfrm xmlns:a="http://schemas.openxmlformats.org/drawingml/2006/main">
            <a:off x="4114800" y="1771650"/>
            <a:ext cx="3476625" cy="723900"/>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Times New Roman"/>
                <a:ea typeface="Times New Roman"/>
                <a:cs typeface="Times New Roman"/>
              </a:rPr>
              <a:t>Clef-flash 9B</a:t>
            </a:r>
          </a:p>
          <a:p xmlns:a="http://schemas.openxmlformats.org/drawingml/2006/main">
            <a:pPr algn="ctr">
              <a:defRPr sz="1875">
                <a:latin typeface="Malgun Gothic"/>
                <a:ea typeface="Malgun Gothic"/>
                <a:cs typeface="Malgun Gothic"/>
              </a:defRPr>
            </a:pPr>
            <a:r>
              <a:rPr sz="1875" b="0">
                <a:solidFill>
                  <a:srgbClr val="142238"/>
                </a:solidFill>
                <a:latin typeface="Times New Roman"/>
                <a:ea typeface="Times New Roman"/>
                <a:cs typeface="Times New Roman"/>
              </a:rPr>
              <a:t>choice head</a:t>
            </a:r>
          </a:p>
        </p:txBody>
      </p:sp>
      <p:sp>
        <p:nvSpPr>
          <p:cNvPr id="7" name="">
            <a:extLst xmlns:a="http://schemas.openxmlformats.org/drawingml/2006/main">
              <a:ext uri="{FF2B5EF4-FFF2-40B4-BE49-F238E27FC236}">
                <a16:creationId xmlns:a16="http://schemas.microsoft.com/office/drawing/2014/main" id="{0C7CC018-96E8-4016-A8AC-ECFDFB7C95FE}"/>
              </a:ext>
            </a:extLst>
          </p:cNvPr>
          <p:cNvSpPr>
            <a:spLocks xmlns:a="http://schemas.openxmlformats.org/drawingml/2006/main" noGrp="1"/>
          </p:cNvSpPr>
          <p:nvPr/>
        </p:nvSpPr>
        <p:spPr>
          <a:xfrm xmlns:a="http://schemas.openxmlformats.org/drawingml/2006/main">
            <a:off x="7924800" y="1771650"/>
            <a:ext cx="3638550" cy="723900"/>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00">
                <a:latin typeface="Malgun Gothic"/>
                <a:ea typeface="Malgun Gothic"/>
                <a:cs typeface="Malgun Gothic"/>
              </a:defRPr>
            </a:defPPr>
          </a:lstStyle>
          <a:p xmlns:a="http://schemas.openxmlformats.org/drawingml/2006/main">
            <a:pPr algn="ctr">
              <a:defRPr sz="1800">
                <a:latin typeface="Malgun Gothic"/>
                <a:ea typeface="Malgun Gothic"/>
                <a:cs typeface="Malgun Gothic"/>
              </a:defRPr>
            </a:pPr>
            <a:r>
              <a:rPr sz="1800" b="0">
                <a:solidFill>
                  <a:srgbClr val="142238"/>
                </a:solidFill>
                <a:latin typeface="Malgun Gothic"/>
                <a:ea typeface="Malgun Gothic"/>
                <a:cs typeface="Malgun Gothic"/>
              </a:rPr>
              <a:t>출력</a:t>
            </a:r>
          </a:p>
          <a:p xmlns:a="http://schemas.openxmlformats.org/drawingml/2006/main">
            <a:pPr algn="ctr">
              <a:defRPr sz="1800">
                <a:latin typeface="Malgun Gothic"/>
                <a:ea typeface="Malgun Gothic"/>
                <a:cs typeface="Malgun Gothic"/>
              </a:defRPr>
            </a:pPr>
            <a:r>
              <a:rPr sz="1800" b="0">
                <a:solidFill>
                  <a:srgbClr val="142238"/>
                </a:solidFill>
                <a:latin typeface="Times New Roman"/>
                <a:ea typeface="Times New Roman"/>
                <a:cs typeface="Times New Roman"/>
              </a:rPr>
              <a:t>case_0</a:t>
            </a:r>
            <a:r>
              <a:rPr sz="1800" b="0">
                <a:solidFill>
                  <a:srgbClr val="142238"/>
                </a:solidFill>
                <a:latin typeface="Malgun Gothic"/>
                <a:ea typeface="Malgun Gothic"/>
                <a:cs typeface="Malgun Gothic"/>
              </a:rPr>
              <a:t>…</a:t>
            </a:r>
            <a:r>
              <a:rPr sz="1800" b="0">
                <a:solidFill>
                  <a:srgbClr val="142238"/>
                </a:solidFill>
                <a:latin typeface="Times New Roman"/>
                <a:ea typeface="Times New Roman"/>
                <a:cs typeface="Times New Roman"/>
              </a:rPr>
              <a:t>4</a:t>
            </a:r>
            <a:r>
              <a:rPr sz="1800" b="0">
                <a:solidFill>
                  <a:srgbClr val="142238"/>
                </a:solidFill>
                <a:latin typeface="Malgun Gothic"/>
                <a:ea typeface="Malgun Gothic"/>
                <a:cs typeface="Malgun Gothic"/>
              </a:rPr>
              <a:t>의 점수와 새 순서</a:t>
            </a:r>
          </a:p>
        </p:txBody>
      </p:sp>
      <p:sp>
        <p:nvSpPr>
          <p:cNvPr id="10" name="">
            <a:extLst xmlns:a="http://schemas.openxmlformats.org/drawingml/2006/main">
              <a:ext uri="{FF2B5EF4-FFF2-40B4-BE49-F238E27FC236}">
                <a16:creationId xmlns:a16="http://schemas.microsoft.com/office/drawing/2014/main" id="{1D22F585-EE20-4334-AB81-68B6266F9D9E}"/>
              </a:ext>
            </a:extLst>
          </p:cNvPr>
          <p:cNvSpPr>
            <a:spLocks xmlns:a="http://schemas.openxmlformats.org/drawingml/2006/main" noGrp="1"/>
          </p:cNvSpPr>
          <p:nvPr/>
        </p:nvSpPr>
        <p:spPr>
          <a:xfrm xmlns:a="http://schemas.openxmlformats.org/drawingml/2006/main">
            <a:off x="657225" y="2800350"/>
            <a:ext cx="5267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238"/>
                </a:solidFill>
                <a:latin typeface="Malgun Gothic"/>
                <a:ea typeface="Malgun Gothic"/>
                <a:cs typeface="Malgun Gothic"/>
              </a:defRPr>
            </a:defPPr>
          </a:lstStyle>
          <a:p xmlns:a="http://schemas.openxmlformats.org/drawingml/2006/main">
            <a:pPr algn="l">
              <a:defRPr sz="1950" b="1">
                <a:solidFill>
                  <a:srgbClr val="142238"/>
                </a:solidFill>
                <a:latin typeface="Malgun Gothic"/>
                <a:ea typeface="Malgun Gothic"/>
                <a:cs typeface="Malgun Gothic"/>
              </a:defRPr>
            </a:pPr>
            <a:r>
              <a:rPr sz="1950" b="1">
                <a:solidFill>
                  <a:srgbClr val="142238"/>
                </a:solidFill>
                <a:latin typeface="Malgun Gothic"/>
                <a:ea typeface="Malgun Gothic"/>
                <a:cs typeface="Malgun Gothic"/>
              </a:rPr>
              <a:t>첫 번째 후보가 정답인 질문 수</a:t>
            </a:r>
          </a:p>
        </p:txBody>
      </p:sp>
      <p:graphicFrame>
        <p:nvGraphicFramePr>
          <p:cNvPr id="11" name="Chart">
            <a:extLst xmlns:a="http://schemas.openxmlformats.org/drawingml/2006/main">
              <a:ext uri="{FF2B5EF4-FFF2-40B4-BE49-F238E27FC236}">
                <a16:creationId xmlns:a16="http://schemas.microsoft.com/office/drawing/2014/main" id="{7730A8FB-D7DB-409F-BEA7-E824BAC81293}"/>
              </a:ext>
            </a:extLst>
          </p:cNvPr>
          <p:cNvGraphicFramePr/>
          <p:nvPr/>
        </p:nvGraphicFramePr>
        <p:xfrm>
          <a:off xmlns:a="http://schemas.openxmlformats.org/drawingml/2006/main" x="666750" y="3228975"/>
          <a:ext xmlns:a="http://schemas.openxmlformats.org/drawingml/2006/main" cx="4895850" cy="2571750"/>
        </p:xfrm>
        <a:graphic xmlns:a="http://schemas.openxmlformats.org/drawingml/2006/main">
          <a:graphicData uri="http://schemas.openxmlformats.org/drawingml/2006/chart">
            <c:chart xmlns:r="http://schemas.openxmlformats.org/officeDocument/2006/relationships" xmlns:c="http://schemas.openxmlformats.org/drawingml/2006/chart" r:id="R3571b52b4bda4619"/>
          </a:graphicData>
        </a:graphic>
      </p:graphicFrame>
      <p:sp>
        <p:nvSpPr>
          <p:cNvPr id="12" name="">
            <a:extLst xmlns:a="http://schemas.openxmlformats.org/drawingml/2006/main">
              <a:ext uri="{FF2B5EF4-FFF2-40B4-BE49-F238E27FC236}">
                <a16:creationId xmlns:a16="http://schemas.microsoft.com/office/drawing/2014/main" id="{3EF7C20F-3687-41C4-A44D-862FDA06F178}"/>
              </a:ext>
            </a:extLst>
          </p:cNvPr>
          <p:cNvSpPr>
            <a:spLocks xmlns:a="http://schemas.openxmlformats.org/drawingml/2006/main" noGrp="1"/>
          </p:cNvSpPr>
          <p:nvPr/>
        </p:nvSpPr>
        <p:spPr>
          <a:xfrm xmlns:a="http://schemas.openxmlformats.org/drawingml/2006/main">
            <a:off x="6210300" y="2800350"/>
            <a:ext cx="5200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59C7"/>
                </a:solidFill>
                <a:latin typeface="Malgun Gothic"/>
                <a:ea typeface="Malgun Gothic"/>
                <a:cs typeface="Malgun Gothic"/>
              </a:defRPr>
            </a:defPPr>
          </a:lstStyle>
          <a:p xmlns:a="http://schemas.openxmlformats.org/drawingml/2006/main">
            <a:pPr algn="l">
              <a:defRPr sz="2025" b="1">
                <a:solidFill>
                  <a:srgbClr val="1459C7"/>
                </a:solidFill>
                <a:latin typeface="Malgun Gothic"/>
                <a:ea typeface="Malgun Gothic"/>
                <a:cs typeface="Malgun Gothic"/>
              </a:defRPr>
            </a:pPr>
            <a:r>
              <a:rPr sz="2025" b="1">
                <a:solidFill>
                  <a:srgbClr val="1459C7"/>
                </a:solidFill>
                <a:latin typeface="Malgun Gothic"/>
                <a:ea typeface="Malgun Gothic"/>
                <a:cs typeface="Malgun Gothic"/>
              </a:rPr>
              <a:t>관찰한 변화</a:t>
            </a:r>
          </a:p>
        </p:txBody>
      </p:sp>
      <p:sp>
        <p:nvSpPr>
          <p:cNvPr id="13" name="">
            <a:extLst xmlns:a="http://schemas.openxmlformats.org/drawingml/2006/main">
              <a:ext uri="{FF2B5EF4-FFF2-40B4-BE49-F238E27FC236}">
                <a16:creationId xmlns:a16="http://schemas.microsoft.com/office/drawing/2014/main" id="{03B4402B-DBB3-4461-BA56-0A1C29D92370}"/>
              </a:ext>
            </a:extLst>
          </p:cNvPr>
          <p:cNvSpPr>
            <a:spLocks xmlns:a="http://schemas.openxmlformats.org/drawingml/2006/main" noGrp="1"/>
          </p:cNvSpPr>
          <p:nvPr/>
        </p:nvSpPr>
        <p:spPr>
          <a:xfrm xmlns:a="http://schemas.openxmlformats.org/drawingml/2006/main">
            <a:off x="6210300" y="3333750"/>
            <a:ext cx="5238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238"/>
                </a:solidFill>
                <a:latin typeface="Malgun Gothic"/>
                <a:ea typeface="Malgun Gothic"/>
                <a:cs typeface="Malgun Gothic"/>
              </a:defRPr>
            </a:defPPr>
          </a:lstStyle>
          <a:p xmlns:a="http://schemas.openxmlformats.org/drawingml/2006/main">
            <a:pPr algn="l">
              <a:defRPr sz="2100" b="0">
                <a:solidFill>
                  <a:srgbClr val="142238"/>
                </a:solidFill>
                <a:latin typeface="Malgun Gothic"/>
                <a:ea typeface="Malgun Gothic"/>
                <a:cs typeface="Malgun Gothic"/>
              </a:defRPr>
            </a:pPr>
            <a:r>
              <a:rPr sz="2100" b="0">
                <a:solidFill>
                  <a:srgbClr val="142238"/>
                </a:solidFill>
                <a:latin typeface="Malgun Gothic"/>
                <a:ea typeface="Malgun Gothic"/>
                <a:cs typeface="Malgun Gothic"/>
              </a:rPr>
              <a:t>첫 후보 개선 </a:t>
            </a:r>
            <a:r>
              <a:rPr sz="2100" b="0">
                <a:solidFill>
                  <a:srgbClr val="142238"/>
                </a:solidFill>
                <a:latin typeface="Times New Roman"/>
                <a:ea typeface="Times New Roman"/>
                <a:cs typeface="Times New Roman"/>
              </a:rPr>
              <a:t>3</a:t>
            </a:r>
            <a:r>
              <a:rPr sz="2100" b="0">
                <a:solidFill>
                  <a:srgbClr val="142238"/>
                </a:solidFill>
                <a:latin typeface="Malgun Gothic"/>
                <a:ea typeface="Malgun Gothic"/>
                <a:cs typeface="Malgun Gothic"/>
              </a:rPr>
              <a:t>건, 악화 </a:t>
            </a:r>
            <a:r>
              <a:rPr sz="2100" b="0">
                <a:solidFill>
                  <a:srgbClr val="142238"/>
                </a:solidFill>
                <a:latin typeface="Times New Roman"/>
                <a:ea typeface="Times New Roman"/>
                <a:cs typeface="Times New Roman"/>
              </a:rPr>
              <a:t>0</a:t>
            </a:r>
            <a:r>
              <a:rPr sz="2100" b="0">
                <a:solidFill>
                  <a:srgbClr val="142238"/>
                </a:solidFill>
                <a:latin typeface="Malgun Gothic"/>
                <a:ea typeface="Malgun Gothic"/>
                <a:cs typeface="Malgun Gothic"/>
              </a:rPr>
              <a:t>건</a:t>
            </a:r>
          </a:p>
          <a:p xmlns:a="http://schemas.openxmlformats.org/drawingml/2006/main">
            <a:pPr algn="l">
              <a:defRPr sz="2100" b="0">
                <a:solidFill>
                  <a:srgbClr val="142238"/>
                </a:solidFill>
                <a:latin typeface="Malgun Gothic"/>
                <a:ea typeface="Malgun Gothic"/>
                <a:cs typeface="Malgun Gothic"/>
              </a:defRPr>
            </a:pPr>
            <a:r>
              <a:rPr sz="2100" b="0">
                <a:solidFill>
                  <a:srgbClr val="142238"/>
                </a:solidFill>
                <a:latin typeface="Malgun Gothic"/>
                <a:ea typeface="Malgun Gothic"/>
                <a:cs typeface="Malgun Gothic"/>
              </a:rPr>
              <a:t>상위 </a:t>
            </a:r>
            <a:r>
              <a:rPr sz="2100" b="0">
                <a:solidFill>
                  <a:srgbClr val="142238"/>
                </a:solidFill>
                <a:latin typeface="Times New Roman"/>
                <a:ea typeface="Times New Roman"/>
                <a:cs typeface="Times New Roman"/>
              </a:rPr>
              <a:t>3</a:t>
            </a:r>
            <a:r>
              <a:rPr sz="2100" b="0">
                <a:solidFill>
                  <a:srgbClr val="142238"/>
                </a:solidFill>
                <a:latin typeface="Malgun Gothic"/>
                <a:ea typeface="Malgun Gothic"/>
                <a:cs typeface="Malgun Gothic"/>
              </a:rPr>
              <a:t>개 정답 포함은 </a:t>
            </a:r>
            <a:r>
              <a:rPr sz="2100" b="0">
                <a:solidFill>
                  <a:srgbClr val="142238"/>
                </a:solidFill>
                <a:latin typeface="Times New Roman"/>
                <a:ea typeface="Times New Roman"/>
                <a:cs typeface="Times New Roman"/>
              </a:rPr>
              <a:t>8/8</a:t>
            </a:r>
            <a:r>
              <a:rPr sz="2100" b="0">
                <a:solidFill>
                  <a:srgbClr val="142238"/>
                </a:solidFill>
                <a:latin typeface="Malgun Gothic"/>
                <a:ea typeface="Malgun Gothic"/>
                <a:cs typeface="Malgun Gothic"/>
              </a:rPr>
              <a:t>로 동일</a:t>
            </a:r>
          </a:p>
          <a:p xmlns:a="http://schemas.openxmlformats.org/drawingml/2006/main">
            <a:pPr algn="l">
              <a:defRPr sz="2100" b="0">
                <a:solidFill>
                  <a:srgbClr val="142238"/>
                </a:solidFill>
                <a:latin typeface="Malgun Gothic"/>
                <a:ea typeface="Malgun Gothic"/>
                <a:cs typeface="Malgun Gothic"/>
              </a:defRPr>
            </a:pPr>
            <a:r>
              <a:rPr sz="2100" b="0">
                <a:solidFill>
                  <a:srgbClr val="142238"/>
                </a:solidFill>
                <a:latin typeface="Malgun Gothic"/>
                <a:ea typeface="Malgun Gothic"/>
                <a:cs typeface="Malgun Gothic"/>
              </a:rPr>
              <a:t>전체 호출 </a:t>
            </a:r>
            <a:r>
              <a:rPr sz="2100" b="0">
                <a:solidFill>
                  <a:srgbClr val="142238"/>
                </a:solidFill>
                <a:latin typeface="Times New Roman"/>
                <a:ea typeface="Times New Roman"/>
                <a:cs typeface="Times New Roman"/>
              </a:rPr>
              <a:t>29.5</a:t>
            </a:r>
            <a:r>
              <a:rPr sz="2100" b="0">
                <a:solidFill>
                  <a:srgbClr val="142238"/>
                </a:solidFill>
                <a:latin typeface="Malgun Gothic"/>
                <a:ea typeface="Malgun Gothic"/>
                <a:cs typeface="Malgun Gothic"/>
              </a:rPr>
              <a:t>–</a:t>
            </a:r>
            <a:r>
              <a:rPr sz="2100" b="0">
                <a:solidFill>
                  <a:srgbClr val="142238"/>
                </a:solidFill>
                <a:latin typeface="Times New Roman"/>
                <a:ea typeface="Times New Roman"/>
                <a:cs typeface="Times New Roman"/>
              </a:rPr>
              <a:t>35.9</a:t>
            </a:r>
            <a:r>
              <a:rPr sz="2100" b="0">
                <a:solidFill>
                  <a:srgbClr val="142238"/>
                </a:solidFill>
                <a:latin typeface="Malgun Gothic"/>
                <a:ea typeface="Malgun Gothic"/>
                <a:cs typeface="Malgun Gothic"/>
              </a:rPr>
              <a:t>초 / 문항</a:t>
            </a:r>
          </a:p>
        </p:txBody>
      </p:sp>
      <p:sp>
        <p:nvSpPr>
          <p:cNvPr id="14" name="">
            <a:extLst xmlns:a="http://schemas.openxmlformats.org/drawingml/2006/main">
              <a:ext uri="{FF2B5EF4-FFF2-40B4-BE49-F238E27FC236}">
                <a16:creationId xmlns:a16="http://schemas.microsoft.com/office/drawing/2014/main" id="{BA9E17B4-EAD9-4100-A359-81C2EB0574D4}"/>
              </a:ext>
            </a:extLst>
          </p:cNvPr>
          <p:cNvSpPr>
            <a:spLocks xmlns:a="http://schemas.openxmlformats.org/drawingml/2006/main" noGrp="1"/>
          </p:cNvSpPr>
          <p:nvPr/>
        </p:nvSpPr>
        <p:spPr>
          <a:xfrm xmlns:a="http://schemas.openxmlformats.org/drawingml/2006/main">
            <a:off x="6210300" y="4943475"/>
            <a:ext cx="5295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B6676"/>
                </a:solidFill>
                <a:latin typeface="Malgun Gothic"/>
                <a:ea typeface="Malgun Gothic"/>
                <a:cs typeface="Malgun Gothic"/>
              </a:defRPr>
            </a:defPPr>
          </a:lstStyle>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고정 개발 문항 </a:t>
            </a:r>
            <a:r>
              <a:rPr sz="1800" b="0">
                <a:solidFill>
                  <a:srgbClr val="5B6676"/>
                </a:solidFill>
                <a:latin typeface="Times New Roman"/>
                <a:ea typeface="Times New Roman"/>
                <a:cs typeface="Times New Roman"/>
              </a:rPr>
              <a:t>8</a:t>
            </a:r>
            <a:r>
              <a:rPr sz="1800" b="0">
                <a:solidFill>
                  <a:srgbClr val="5B6676"/>
                </a:solidFill>
                <a:latin typeface="Malgun Gothic"/>
                <a:ea typeface="Malgun Gothic"/>
                <a:cs typeface="Malgun Gothic"/>
              </a:rPr>
              <a:t>개를 한 번씩 비교했습니다.</a:t>
            </a:r>
          </a:p>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최종 답변 정확도·현장 품질·속도 향상은</a:t>
            </a:r>
          </a:p>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이 시험에서 확인하지 않았습니다.</a:t>
            </a:r>
          </a:p>
        </p:txBody>
      </p:sp>
      <p:sp>
        <p:nvSpPr>
          <p:cNvPr id="15" name="">
            <a:extLst xmlns:a="http://schemas.openxmlformats.org/drawingml/2006/main">
              <a:ext uri="{FF2B5EF4-FFF2-40B4-BE49-F238E27FC236}">
                <a16:creationId xmlns:a16="http://schemas.microsoft.com/office/drawing/2014/main" id="{7475E8B6-4DC0-4F34-854C-6D717E823833}"/>
              </a:ext>
            </a:extLst>
          </p:cNvPr>
          <p:cNvSpPr>
            <a:spLocks xmlns:a="http://schemas.openxmlformats.org/drawingml/2006/main" noGrp="1"/>
          </p:cNvSpPr>
          <p:nvPr/>
        </p:nvSpPr>
        <p:spPr>
          <a:xfrm xmlns:a="http://schemas.openxmlformats.org/drawingml/2006/main">
            <a:off x="647700" y="60769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점수는 후보 안의 상대적 관련성입니다. 조치 성공률이나 답변의 사실 확률로 사용하지 않습니다.</a:t>
            </a:r>
          </a:p>
        </p:txBody>
      </p:sp>
    </p:spTree>
    <p:extLst>
      <p:ext uri="{BB962C8B-B14F-4D97-AF65-F5344CB8AC3E}">
        <p14:creationId xmlns:p14="http://schemas.microsoft.com/office/powerpoint/2010/main" val="6201072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D309F1CF-3502-4B7B-8B40-783B5B06035D}"/>
              </a:ext>
            </a:extLst>
          </p:cNvPr>
          <p:cNvCxnSpPr>
            <a:stCxn xmlns:a="http://schemas.openxmlformats.org/drawingml/2006/main" id="11" idx="3"/>
            <a:endCxn xmlns:a="http://schemas.openxmlformats.org/drawingml/2006/main" id="13" idx="1"/>
          </p:cNvCxnSpPr>
          <p:nvPr/>
        </p:nvCxnSpPr>
        <p:spPr>
          <a:xfrm xmlns:a="http://schemas.openxmlformats.org/drawingml/2006/main">
            <a:off x="5676900" y="4543425"/>
            <a:ext cx="923925" cy="4763"/>
          </a:xfrm>
          <a:prstGeom xmlns:a="http://schemas.openxmlformats.org/drawingml/2006/main" prst="straightConnector1">
            <a:avLst/>
          </a:prstGeom>
          <a:ln xmlns:a="http://schemas.openxmlformats.org/drawingml/2006/main" w="19050">
            <a:solidFill>
              <a:srgbClr val="8CA0BC"/>
            </a:solidFill>
          </a:ln>
        </p:spPr>
      </p:cxnSp>
      <p:cxnSp>
        <p:nvCxnSpPr>
          <p:cNvPr id="18" name="">
            <a:extLst xmlns:a="http://schemas.openxmlformats.org/drawingml/2006/main">
              <a:ext uri="{FF2B5EF4-FFF2-40B4-BE49-F238E27FC236}">
                <a16:creationId xmlns:a16="http://schemas.microsoft.com/office/drawing/2014/main" id="{2F609CE1-6688-48D1-B4DD-6BBEE9466400}"/>
              </a:ext>
            </a:extLst>
          </p:cNvPr>
          <p:cNvCxnSpPr>
            <a:stCxn xmlns:a="http://schemas.openxmlformats.org/drawingml/2006/main" id="10" idx="3"/>
            <a:endCxn xmlns:a="http://schemas.openxmlformats.org/drawingml/2006/main" id="12" idx="1"/>
          </p:cNvCxnSpPr>
          <p:nvPr/>
        </p:nvCxnSpPr>
        <p:spPr>
          <a:xfrm xmlns:a="http://schemas.openxmlformats.org/drawingml/2006/main">
            <a:off x="5676900" y="2886075"/>
            <a:ext cx="923925" cy="14288"/>
          </a:xfrm>
          <a:prstGeom xmlns:a="http://schemas.openxmlformats.org/drawingml/2006/main" prst="straightConnector1">
            <a:avLst/>
          </a:prstGeom>
          <a:ln xmlns:a="http://schemas.openxmlformats.org/drawingml/2006/main" w="19050">
            <a:solidFill>
              <a:srgbClr val="8CA0BC"/>
            </a:solidFill>
          </a:ln>
        </p:spPr>
      </p:cxnSp>
      <p:cxnSp>
        <p:nvCxnSpPr>
          <p:cNvPr id="17" name="">
            <a:extLst xmlns:a="http://schemas.openxmlformats.org/drawingml/2006/main">
              <a:ext uri="{FF2B5EF4-FFF2-40B4-BE49-F238E27FC236}">
                <a16:creationId xmlns:a16="http://schemas.microsoft.com/office/drawing/2014/main" id="{E524CF4F-3917-4A2B-9805-847895893473}"/>
              </a:ext>
            </a:extLst>
          </p:cNvPr>
          <p:cNvCxnSpPr>
            <a:stCxn xmlns:a="http://schemas.openxmlformats.org/drawingml/2006/main" id="9" idx="3"/>
            <a:endCxn xmlns:a="http://schemas.openxmlformats.org/drawingml/2006/main" id="11" idx="1"/>
          </p:cNvCxnSpPr>
          <p:nvPr/>
        </p:nvCxnSpPr>
        <p:spPr>
          <a:xfrm xmlns:a="http://schemas.openxmlformats.org/drawingml/2006/main">
            <a:off x="2362200" y="4481513"/>
            <a:ext cx="923925" cy="61913"/>
          </a:xfrm>
          <a:prstGeom xmlns:a="http://schemas.openxmlformats.org/drawingml/2006/main" prst="straightConnector1">
            <a:avLst/>
          </a:prstGeom>
          <a:ln xmlns:a="http://schemas.openxmlformats.org/drawingml/2006/main" w="19050">
            <a:solidFill>
              <a:srgbClr val="8CA0BC"/>
            </a:solidFill>
          </a:ln>
        </p:spPr>
      </p:cxnSp>
      <p:cxnSp>
        <p:nvCxnSpPr>
          <p:cNvPr id="16" name="">
            <a:extLst xmlns:a="http://schemas.openxmlformats.org/drawingml/2006/main">
              <a:ext uri="{FF2B5EF4-FFF2-40B4-BE49-F238E27FC236}">
                <a16:creationId xmlns:a16="http://schemas.microsoft.com/office/drawing/2014/main" id="{53847B73-694E-44FD-ADF1-D7A91DF9344D}"/>
              </a:ext>
            </a:extLst>
          </p:cNvPr>
          <p:cNvCxnSpPr>
            <a:stCxn xmlns:a="http://schemas.openxmlformats.org/drawingml/2006/main" id="9" idx="3"/>
            <a:endCxn xmlns:a="http://schemas.openxmlformats.org/drawingml/2006/main" id="10" idx="1"/>
          </p:cNvCxnSpPr>
          <p:nvPr/>
        </p:nvCxnSpPr>
        <p:spPr>
          <a:xfrm xmlns:a="http://schemas.openxmlformats.org/drawingml/2006/main" flipV="1">
            <a:off x="2362200" y="2886075"/>
            <a:ext cx="923925" cy="1595438"/>
          </a:xfrm>
          <a:prstGeom xmlns:a="http://schemas.openxmlformats.org/drawingml/2006/main" prst="straightConnector1">
            <a:avLst/>
          </a:prstGeom>
          <a:ln xmlns:a="http://schemas.openxmlformats.org/drawingml/2006/main" w="19050">
            <a:solidFill>
              <a:srgbClr val="8CA0BC"/>
            </a:solidFill>
          </a:ln>
        </p:spPr>
      </p:cxnSp>
      <p:cxnSp>
        <p:nvCxnSpPr>
          <p:cNvPr id="15" name="">
            <a:extLst xmlns:a="http://schemas.openxmlformats.org/drawingml/2006/main">
              <a:ext uri="{FF2B5EF4-FFF2-40B4-BE49-F238E27FC236}">
                <a16:creationId xmlns:a16="http://schemas.microsoft.com/office/drawing/2014/main" id="{C513D892-A58E-405F-8C30-D1CAE9C8465B}"/>
              </a:ext>
            </a:extLst>
          </p:cNvPr>
          <p:cNvCxnSpPr>
            <a:stCxn xmlns:a="http://schemas.openxmlformats.org/drawingml/2006/main" id="8" idx="3"/>
            <a:endCxn xmlns:a="http://schemas.openxmlformats.org/drawingml/2006/main" id="11" idx="1"/>
          </p:cNvCxnSpPr>
          <p:nvPr/>
        </p:nvCxnSpPr>
        <p:spPr>
          <a:xfrm xmlns:a="http://schemas.openxmlformats.org/drawingml/2006/main">
            <a:off x="2362200" y="2967038"/>
            <a:ext cx="923925" cy="1576388"/>
          </a:xfrm>
          <a:prstGeom xmlns:a="http://schemas.openxmlformats.org/drawingml/2006/main" prst="straightConnector1">
            <a:avLst/>
          </a:prstGeom>
          <a:ln xmlns:a="http://schemas.openxmlformats.org/drawingml/2006/main" w="19050">
            <a:solidFill>
              <a:srgbClr val="8CA0BC"/>
            </a:solidFill>
          </a:ln>
        </p:spPr>
      </p:cxnSp>
      <p:cxnSp>
        <p:nvCxnSpPr>
          <p:cNvPr id="14" name="">
            <a:extLst xmlns:a="http://schemas.openxmlformats.org/drawingml/2006/main">
              <a:ext uri="{FF2B5EF4-FFF2-40B4-BE49-F238E27FC236}">
                <a16:creationId xmlns:a16="http://schemas.microsoft.com/office/drawing/2014/main" id="{CB426960-A395-4C60-860B-947739B0CBFC}"/>
              </a:ext>
            </a:extLst>
          </p:cNvPr>
          <p:cNvCxnSpPr>
            <a:stCxn xmlns:a="http://schemas.openxmlformats.org/drawingml/2006/main" id="8" idx="3"/>
            <a:endCxn xmlns:a="http://schemas.openxmlformats.org/drawingml/2006/main" id="10" idx="1"/>
          </p:cNvCxnSpPr>
          <p:nvPr/>
        </p:nvCxnSpPr>
        <p:spPr>
          <a:xfrm xmlns:a="http://schemas.openxmlformats.org/drawingml/2006/main" flipV="1">
            <a:off x="2362200" y="2886075"/>
            <a:ext cx="923925" cy="80963"/>
          </a:xfrm>
          <a:prstGeom xmlns:a="http://schemas.openxmlformats.org/drawingml/2006/main" prst="straightConnector1">
            <a:avLst/>
          </a:prstGeom>
          <a:ln xmlns:a="http://schemas.openxmlformats.org/drawingml/2006/main" w="19050">
            <a:solidFill>
              <a:srgbClr val="8CA0BC"/>
            </a:solidFill>
          </a:ln>
        </p:spPr>
      </p:cxnSp>
      <p:sp>
        <p:nvSpPr>
          <p:cNvPr id="24" name="">
            <a:extLst xmlns:a="http://schemas.openxmlformats.org/drawingml/2006/main">
              <a:ext uri="{FF2B5EF4-FFF2-40B4-BE49-F238E27FC236}">
                <a16:creationId xmlns:a16="http://schemas.microsoft.com/office/drawing/2014/main" id="{C075C69D-BEDF-43F3-8EC6-139569884F25}"/>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Malgun Gothic"/>
                <a:ea typeface="Malgun Gothic"/>
                <a:cs typeface="Malgun Gothic"/>
              </a:rPr>
              <a:t>관계 그래프: 같은 부품과 설비의 이력을 연결합니다</a:t>
            </a:r>
          </a:p>
        </p:txBody>
      </p:sp>
      <p:sp>
        <p:nvSpPr>
          <p:cNvPr id="2" name="">
            <a:extLst xmlns:a="http://schemas.openxmlformats.org/drawingml/2006/main">
              <a:ext uri="{FF2B5EF4-FFF2-40B4-BE49-F238E27FC236}">
                <a16:creationId xmlns:a16="http://schemas.microsoft.com/office/drawing/2014/main" id="{858B1A3F-4B73-4E76-BB9E-B1B02664D53D}"/>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원문에 함께 적힌 설비·모듈·부품을 연결합니다. 아래는 가상 샘플 </a:t>
            </a:r>
            <a:r>
              <a:rPr sz="1725" b="0">
                <a:solidFill>
                  <a:srgbClr val="5B6676"/>
                </a:solidFill>
                <a:latin typeface="Times New Roman"/>
                <a:ea typeface="Times New Roman"/>
                <a:cs typeface="Times New Roman"/>
              </a:rPr>
              <a:t>4</a:t>
            </a:r>
            <a:r>
              <a:rPr sz="1725" b="0">
                <a:solidFill>
                  <a:srgbClr val="5B6676"/>
                </a:solidFill>
                <a:latin typeface="Malgun Gothic"/>
                <a:ea typeface="Malgun Gothic"/>
                <a:cs typeface="Malgun Gothic"/>
              </a:rPr>
              <a:t>행 중 같은 </a:t>
            </a:r>
            <a:r>
              <a:rPr sz="1725" b="0">
                <a:solidFill>
                  <a:srgbClr val="5B6676"/>
                </a:solidFill>
                <a:latin typeface="Times New Roman"/>
                <a:ea typeface="Times New Roman"/>
                <a:cs typeface="Times New Roman"/>
              </a:rPr>
              <a:t>CS</a:t>
            </a:r>
            <a:r>
              <a:rPr sz="1725" b="0">
                <a:solidFill>
                  <a:srgbClr val="5B6676"/>
                </a:solidFill>
                <a:latin typeface="Malgun Gothic"/>
                <a:ea typeface="Malgun Gothic"/>
                <a:cs typeface="Malgun Gothic"/>
              </a:rPr>
              <a:t>의 두 상세입니다.</a:t>
            </a:r>
          </a:p>
        </p:txBody>
      </p:sp>
      <p:sp>
        <p:nvSpPr>
          <p:cNvPr id="3" name="">
            <a:extLst xmlns:a="http://schemas.openxmlformats.org/drawingml/2006/main">
              <a:ext uri="{FF2B5EF4-FFF2-40B4-BE49-F238E27FC236}">
                <a16:creationId xmlns:a16="http://schemas.microsoft.com/office/drawing/2014/main" id="{3798316C-85B7-4A2E-8134-3786DF438AB8}"/>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같은 이름은 역할별로 한 번 표시 · 상세 기록은 병합하지 않음 · 연결은 원인이나 조치 성공을 뜻하지 않음 · </a:t>
            </a:r>
            <a:r>
              <a:rPr sz="1200" b="0">
                <a:solidFill>
                  <a:srgbClr val="5B6676"/>
                </a:solidFill>
                <a:latin typeface="Times New Roman"/>
                <a:ea typeface="Times New Roman"/>
                <a:cs typeface="Times New Roman"/>
              </a:rPr>
              <a:t>E1, E3</a:t>
            </a:r>
          </a:p>
        </p:txBody>
      </p:sp>
      <p:sp>
        <p:nvSpPr>
          <p:cNvPr id="4" name="">
            <a:extLst xmlns:a="http://schemas.openxmlformats.org/drawingml/2006/main">
              <a:ext uri="{FF2B5EF4-FFF2-40B4-BE49-F238E27FC236}">
                <a16:creationId xmlns:a16="http://schemas.microsoft.com/office/drawing/2014/main" id="{345A80D5-F761-4015-ADFF-D03E44732B77}"/>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07</a:t>
            </a:r>
          </a:p>
        </p:txBody>
      </p:sp>
      <p:sp>
        <p:nvSpPr>
          <p:cNvPr id="5" name="">
            <a:extLst xmlns:a="http://schemas.openxmlformats.org/drawingml/2006/main">
              <a:ext uri="{FF2B5EF4-FFF2-40B4-BE49-F238E27FC236}">
                <a16:creationId xmlns:a16="http://schemas.microsoft.com/office/drawing/2014/main" id="{401AAC5D-96C3-448F-AE1D-3966E1637DDD}"/>
              </a:ext>
            </a:extLst>
          </p:cNvPr>
          <p:cNvSpPr>
            <a:spLocks xmlns:a="http://schemas.openxmlformats.org/drawingml/2006/main" noGrp="1"/>
          </p:cNvSpPr>
          <p:nvPr/>
        </p:nvSpPr>
        <p:spPr>
          <a:xfrm xmlns:a="http://schemas.openxmlformats.org/drawingml/2006/main">
            <a:off x="628650" y="1809750"/>
            <a:ext cx="1971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59C7"/>
                </a:solidFill>
                <a:latin typeface="Malgun Gothic"/>
                <a:ea typeface="Malgun Gothic"/>
                <a:cs typeface="Malgun Gothic"/>
              </a:defRPr>
            </a:defPPr>
          </a:lstStyle>
          <a:p xmlns:a="http://schemas.openxmlformats.org/drawingml/2006/main">
            <a:pPr algn="l">
              <a:defRPr sz="1800" b="1">
                <a:solidFill>
                  <a:srgbClr val="1459C7"/>
                </a:solidFill>
                <a:latin typeface="Malgun Gothic"/>
                <a:ea typeface="Malgun Gothic"/>
                <a:cs typeface="Malgun Gothic"/>
              </a:defRPr>
            </a:pPr>
            <a:r>
              <a:rPr sz="1800" b="1">
                <a:solidFill>
                  <a:srgbClr val="1459C7"/>
                </a:solidFill>
                <a:latin typeface="Malgun Gothic"/>
                <a:ea typeface="Malgun Gothic"/>
                <a:cs typeface="Malgun Gothic"/>
              </a:rPr>
              <a:t>공통 이름</a:t>
            </a:r>
          </a:p>
        </p:txBody>
      </p:sp>
      <p:sp>
        <p:nvSpPr>
          <p:cNvPr id="6" name="">
            <a:extLst xmlns:a="http://schemas.openxmlformats.org/drawingml/2006/main">
              <a:ext uri="{FF2B5EF4-FFF2-40B4-BE49-F238E27FC236}">
                <a16:creationId xmlns:a16="http://schemas.microsoft.com/office/drawing/2014/main" id="{7C170A72-6FF5-4858-87A3-1862EF3A2AD9}"/>
              </a:ext>
            </a:extLst>
          </p:cNvPr>
          <p:cNvSpPr>
            <a:spLocks xmlns:a="http://schemas.openxmlformats.org/drawingml/2006/main" noGrp="1"/>
          </p:cNvSpPr>
          <p:nvPr/>
        </p:nvSpPr>
        <p:spPr>
          <a:xfrm xmlns:a="http://schemas.openxmlformats.org/drawingml/2006/main">
            <a:off x="3105150" y="1809750"/>
            <a:ext cx="3019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59C7"/>
                </a:solidFill>
                <a:latin typeface="Malgun Gothic"/>
                <a:ea typeface="Malgun Gothic"/>
                <a:cs typeface="Malgun Gothic"/>
              </a:defRPr>
            </a:defPPr>
          </a:lstStyle>
          <a:p xmlns:a="http://schemas.openxmlformats.org/drawingml/2006/main">
            <a:pPr algn="l">
              <a:defRPr sz="1800" b="1">
                <a:solidFill>
                  <a:srgbClr val="1459C7"/>
                </a:solidFill>
                <a:latin typeface="Malgun Gothic"/>
                <a:ea typeface="Malgun Gothic"/>
                <a:cs typeface="Malgun Gothic"/>
              </a:defRPr>
            </a:pPr>
            <a:r>
              <a:rPr sz="1800" b="1">
                <a:solidFill>
                  <a:srgbClr val="1459C7"/>
                </a:solidFill>
                <a:latin typeface="Malgun Gothic"/>
                <a:ea typeface="Malgun Gothic"/>
                <a:cs typeface="Malgun Gothic"/>
              </a:rPr>
              <a:t>동일 </a:t>
            </a:r>
            <a:r>
              <a:rPr sz="1800" b="1">
                <a:solidFill>
                  <a:srgbClr val="1459C7"/>
                </a:solidFill>
                <a:latin typeface="Times New Roman"/>
                <a:ea typeface="Times New Roman"/>
                <a:cs typeface="Times New Roman"/>
              </a:rPr>
              <a:t>CS</a:t>
            </a:r>
            <a:r>
              <a:rPr sz="1800" b="1">
                <a:solidFill>
                  <a:srgbClr val="1459C7"/>
                </a:solidFill>
                <a:latin typeface="Malgun Gothic"/>
                <a:ea typeface="Malgun Gothic"/>
                <a:cs typeface="Malgun Gothic"/>
              </a:rPr>
              <a:t>의 서로 다른 상세</a:t>
            </a:r>
          </a:p>
        </p:txBody>
      </p:sp>
      <p:sp>
        <p:nvSpPr>
          <p:cNvPr id="7" name="">
            <a:extLst xmlns:a="http://schemas.openxmlformats.org/drawingml/2006/main">
              <a:ext uri="{FF2B5EF4-FFF2-40B4-BE49-F238E27FC236}">
                <a16:creationId xmlns:a16="http://schemas.microsoft.com/office/drawing/2014/main" id="{18501F99-D098-4A3C-9280-65CF084D86C4}"/>
              </a:ext>
            </a:extLst>
          </p:cNvPr>
          <p:cNvSpPr>
            <a:spLocks xmlns:a="http://schemas.openxmlformats.org/drawingml/2006/main" noGrp="1"/>
          </p:cNvSpPr>
          <p:nvPr/>
        </p:nvSpPr>
        <p:spPr>
          <a:xfrm xmlns:a="http://schemas.openxmlformats.org/drawingml/2006/main">
            <a:off x="6305550" y="1809750"/>
            <a:ext cx="165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59C7"/>
                </a:solidFill>
                <a:latin typeface="Malgun Gothic"/>
                <a:ea typeface="Malgun Gothic"/>
                <a:cs typeface="Malgun Gothic"/>
              </a:defRPr>
            </a:defPPr>
          </a:lstStyle>
          <a:p xmlns:a="http://schemas.openxmlformats.org/drawingml/2006/main">
            <a:pPr algn="l">
              <a:defRPr sz="1800" b="1">
                <a:solidFill>
                  <a:srgbClr val="1459C7"/>
                </a:solidFill>
                <a:latin typeface="Malgun Gothic"/>
                <a:ea typeface="Malgun Gothic"/>
                <a:cs typeface="Malgun Gothic"/>
              </a:defRPr>
            </a:pPr>
            <a:r>
              <a:rPr sz="1800" b="1">
                <a:solidFill>
                  <a:srgbClr val="1459C7"/>
                </a:solidFill>
                <a:latin typeface="Malgun Gothic"/>
                <a:ea typeface="Malgun Gothic"/>
                <a:cs typeface="Malgun Gothic"/>
              </a:rPr>
              <a:t>부품</a:t>
            </a:r>
          </a:p>
        </p:txBody>
      </p:sp>
      <p:sp>
        <p:nvSpPr>
          <p:cNvPr id="8" name="">
            <a:extLst xmlns:a="http://schemas.openxmlformats.org/drawingml/2006/main">
              <a:ext uri="{FF2B5EF4-FFF2-40B4-BE49-F238E27FC236}">
                <a16:creationId xmlns:a16="http://schemas.microsoft.com/office/drawing/2014/main" id="{88610C43-1658-49AD-8A09-A9BE438A41E8}"/>
              </a:ext>
            </a:extLst>
          </p:cNvPr>
          <p:cNvSpPr>
            <a:spLocks xmlns:a="http://schemas.openxmlformats.org/drawingml/2006/main" noGrp="1"/>
          </p:cNvSpPr>
          <p:nvPr/>
        </p:nvSpPr>
        <p:spPr>
          <a:xfrm xmlns:a="http://schemas.openxmlformats.org/drawingml/2006/main">
            <a:off x="619125" y="2590800"/>
            <a:ext cx="1743075" cy="75247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설비</a:t>
            </a:r>
          </a:p>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세정장비</a:t>
            </a:r>
          </a:p>
        </p:txBody>
      </p:sp>
      <p:sp>
        <p:nvSpPr>
          <p:cNvPr id="9" name="">
            <a:extLst xmlns:a="http://schemas.openxmlformats.org/drawingml/2006/main">
              <a:ext uri="{FF2B5EF4-FFF2-40B4-BE49-F238E27FC236}">
                <a16:creationId xmlns:a16="http://schemas.microsoft.com/office/drawing/2014/main" id="{EA1F9804-2BCF-4E0E-91D7-2C42CC6AC603}"/>
              </a:ext>
            </a:extLst>
          </p:cNvPr>
          <p:cNvSpPr>
            <a:spLocks xmlns:a="http://schemas.openxmlformats.org/drawingml/2006/main" noGrp="1"/>
          </p:cNvSpPr>
          <p:nvPr/>
        </p:nvSpPr>
        <p:spPr>
          <a:xfrm xmlns:a="http://schemas.openxmlformats.org/drawingml/2006/main">
            <a:off x="619125" y="4105275"/>
            <a:ext cx="1743075" cy="75247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기인 모듈</a:t>
            </a:r>
          </a:p>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회전모듈</a:t>
            </a:r>
          </a:p>
        </p:txBody>
      </p:sp>
      <p:sp>
        <p:nvSpPr>
          <p:cNvPr id="10" name="">
            <a:extLst xmlns:a="http://schemas.openxmlformats.org/drawingml/2006/main">
              <a:ext uri="{FF2B5EF4-FFF2-40B4-BE49-F238E27FC236}">
                <a16:creationId xmlns:a16="http://schemas.microsoft.com/office/drawing/2014/main" id="{4A0A189E-A6EC-425F-BC61-43178C7786B1}"/>
              </a:ext>
            </a:extLst>
          </p:cNvPr>
          <p:cNvSpPr>
            <a:spLocks xmlns:a="http://schemas.openxmlformats.org/drawingml/2006/main" noGrp="1"/>
          </p:cNvSpPr>
          <p:nvPr/>
        </p:nvSpPr>
        <p:spPr>
          <a:xfrm xmlns:a="http://schemas.openxmlformats.org/drawingml/2006/main">
            <a:off x="3286125" y="2447925"/>
            <a:ext cx="2390775" cy="876300"/>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Times New Roman"/>
                <a:ea typeface="Times New Roman"/>
                <a:cs typeface="Times New Roman"/>
              </a:rPr>
              <a:t>CS-DEMO-001</a:t>
            </a:r>
          </a:p>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구동벨트 상세</a:t>
            </a:r>
          </a:p>
        </p:txBody>
      </p:sp>
      <p:sp>
        <p:nvSpPr>
          <p:cNvPr id="11" name="">
            <a:extLst xmlns:a="http://schemas.openxmlformats.org/drawingml/2006/main">
              <a:ext uri="{FF2B5EF4-FFF2-40B4-BE49-F238E27FC236}">
                <a16:creationId xmlns:a16="http://schemas.microsoft.com/office/drawing/2014/main" id="{1437970A-F81D-4C6D-AB21-6C922F6A2F66}"/>
              </a:ext>
            </a:extLst>
          </p:cNvPr>
          <p:cNvSpPr>
            <a:spLocks xmlns:a="http://schemas.openxmlformats.org/drawingml/2006/main" noGrp="1"/>
          </p:cNvSpPr>
          <p:nvPr/>
        </p:nvSpPr>
        <p:spPr>
          <a:xfrm xmlns:a="http://schemas.openxmlformats.org/drawingml/2006/main">
            <a:off x="3286125" y="4105275"/>
            <a:ext cx="2390775" cy="876300"/>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Times New Roman"/>
                <a:ea typeface="Times New Roman"/>
                <a:cs typeface="Times New Roman"/>
              </a:rPr>
              <a:t>CS-DEMO-001</a:t>
            </a:r>
          </a:p>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회전척 상세</a:t>
            </a:r>
          </a:p>
        </p:txBody>
      </p:sp>
      <p:sp>
        <p:nvSpPr>
          <p:cNvPr id="12" name="">
            <a:extLst xmlns:a="http://schemas.openxmlformats.org/drawingml/2006/main">
              <a:ext uri="{FF2B5EF4-FFF2-40B4-BE49-F238E27FC236}">
                <a16:creationId xmlns:a16="http://schemas.microsoft.com/office/drawing/2014/main" id="{CAB04688-84D4-44CC-B239-7797E2D59A51}"/>
              </a:ext>
            </a:extLst>
          </p:cNvPr>
          <p:cNvSpPr>
            <a:spLocks xmlns:a="http://schemas.openxmlformats.org/drawingml/2006/main" noGrp="1"/>
          </p:cNvSpPr>
          <p:nvPr/>
        </p:nvSpPr>
        <p:spPr>
          <a:xfrm xmlns:a="http://schemas.openxmlformats.org/drawingml/2006/main">
            <a:off x="6600825" y="2581275"/>
            <a:ext cx="1581150" cy="63817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구동벨트</a:t>
            </a:r>
          </a:p>
        </p:txBody>
      </p:sp>
      <p:sp>
        <p:nvSpPr>
          <p:cNvPr id="13" name="">
            <a:extLst xmlns:a="http://schemas.openxmlformats.org/drawingml/2006/main">
              <a:ext uri="{FF2B5EF4-FFF2-40B4-BE49-F238E27FC236}">
                <a16:creationId xmlns:a16="http://schemas.microsoft.com/office/drawing/2014/main" id="{9878F5BC-97A0-43C4-8215-F829159E1BFD}"/>
              </a:ext>
            </a:extLst>
          </p:cNvPr>
          <p:cNvSpPr>
            <a:spLocks xmlns:a="http://schemas.openxmlformats.org/drawingml/2006/main" noGrp="1"/>
          </p:cNvSpPr>
          <p:nvPr/>
        </p:nvSpPr>
        <p:spPr>
          <a:xfrm xmlns:a="http://schemas.openxmlformats.org/drawingml/2006/main">
            <a:off x="6600825" y="4229100"/>
            <a:ext cx="1581150" cy="63817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회전척</a:t>
            </a:r>
          </a:p>
        </p:txBody>
      </p:sp>
      <p:sp>
        <p:nvSpPr>
          <p:cNvPr id="20" name="">
            <a:extLst xmlns:a="http://schemas.openxmlformats.org/drawingml/2006/main">
              <a:ext uri="{FF2B5EF4-FFF2-40B4-BE49-F238E27FC236}">
                <a16:creationId xmlns:a16="http://schemas.microsoft.com/office/drawing/2014/main" id="{08FAAC14-AB38-414E-B911-5B2A62B0FBA5}"/>
              </a:ext>
            </a:extLst>
          </p:cNvPr>
          <p:cNvSpPr>
            <a:spLocks xmlns:a="http://schemas.openxmlformats.org/drawingml/2006/main" noGrp="1"/>
          </p:cNvSpPr>
          <p:nvPr/>
        </p:nvSpPr>
        <p:spPr>
          <a:xfrm xmlns:a="http://schemas.openxmlformats.org/drawingml/2006/main">
            <a:off x="8658225" y="2190750"/>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59C7"/>
                </a:solidFill>
                <a:latin typeface="Malgun Gothic"/>
                <a:ea typeface="Malgun Gothic"/>
                <a:cs typeface="Malgun Gothic"/>
              </a:defRPr>
            </a:defPPr>
          </a:lstStyle>
          <a:p xmlns:a="http://schemas.openxmlformats.org/drawingml/2006/main">
            <a:pPr algn="l">
              <a:defRPr sz="1950" b="1">
                <a:solidFill>
                  <a:srgbClr val="1459C7"/>
                </a:solidFill>
                <a:latin typeface="Malgun Gothic"/>
                <a:ea typeface="Malgun Gothic"/>
                <a:cs typeface="Malgun Gothic"/>
              </a:defRPr>
            </a:pPr>
            <a:r>
              <a:rPr sz="1950" b="1">
                <a:solidFill>
                  <a:srgbClr val="1459C7"/>
                </a:solidFill>
                <a:latin typeface="Malgun Gothic"/>
                <a:ea typeface="Malgun Gothic"/>
                <a:cs typeface="Malgun Gothic"/>
              </a:rPr>
              <a:t>상세를 선택하면</a:t>
            </a:r>
          </a:p>
        </p:txBody>
      </p:sp>
      <p:sp>
        <p:nvSpPr>
          <p:cNvPr id="21" name="">
            <a:extLst xmlns:a="http://schemas.openxmlformats.org/drawingml/2006/main">
              <a:ext uri="{FF2B5EF4-FFF2-40B4-BE49-F238E27FC236}">
                <a16:creationId xmlns:a16="http://schemas.microsoft.com/office/drawing/2014/main" id="{4F3C94A1-7AEC-4FA9-B1B4-331F60F7684E}"/>
              </a:ext>
            </a:extLst>
          </p:cNvPr>
          <p:cNvSpPr>
            <a:spLocks xmlns:a="http://schemas.openxmlformats.org/drawingml/2006/main" noGrp="1"/>
          </p:cNvSpPr>
          <p:nvPr/>
        </p:nvSpPr>
        <p:spPr>
          <a:xfrm xmlns:a="http://schemas.openxmlformats.org/drawingml/2006/main">
            <a:off x="8658225" y="2686050"/>
            <a:ext cx="2876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38"/>
                </a:solidFill>
                <a:latin typeface="Malgun Gothic"/>
                <a:ea typeface="Malgun Gothic"/>
                <a:cs typeface="Malgun Gothic"/>
              </a:defRPr>
            </a:defPPr>
          </a:lstStyle>
          <a:p xmlns:a="http://schemas.openxmlformats.org/drawingml/2006/main">
            <a:pPr algn="l">
              <a:defRPr sz="1800" b="0">
                <a:solidFill>
                  <a:srgbClr val="142238"/>
                </a:solidFill>
                <a:latin typeface="Malgun Gothic"/>
                <a:ea typeface="Malgun Gothic"/>
                <a:cs typeface="Malgun Gothic"/>
              </a:defRPr>
            </a:pPr>
            <a:r>
              <a:rPr sz="1800" b="0">
                <a:solidFill>
                  <a:srgbClr val="142238"/>
                </a:solidFill>
                <a:latin typeface="Malgun Gothic"/>
                <a:ea typeface="Malgun Gothic"/>
                <a:cs typeface="Malgun Gothic"/>
              </a:rPr>
              <a:t>발생일·현상·원인·조치와</a:t>
            </a:r>
          </a:p>
          <a:p xmlns:a="http://schemas.openxmlformats.org/drawingml/2006/main">
            <a:pPr algn="l">
              <a:defRPr sz="1800" b="0">
                <a:solidFill>
                  <a:srgbClr val="142238"/>
                </a:solidFill>
                <a:latin typeface="Malgun Gothic"/>
                <a:ea typeface="Malgun Gothic"/>
                <a:cs typeface="Malgun Gothic"/>
              </a:defRPr>
            </a:pPr>
            <a:r>
              <a:rPr sz="1800" b="0">
                <a:solidFill>
                  <a:srgbClr val="142238"/>
                </a:solidFill>
                <a:latin typeface="Malgun Gothic"/>
                <a:ea typeface="Malgun Gothic"/>
                <a:cs typeface="Malgun Gothic"/>
              </a:rPr>
              <a:t>해당 원문 셀을 확인합니다.</a:t>
            </a:r>
          </a:p>
        </p:txBody>
      </p:sp>
      <p:sp>
        <p:nvSpPr>
          <p:cNvPr id="22" name="">
            <a:extLst xmlns:a="http://schemas.openxmlformats.org/drawingml/2006/main">
              <a:ext uri="{FF2B5EF4-FFF2-40B4-BE49-F238E27FC236}">
                <a16:creationId xmlns:a16="http://schemas.microsoft.com/office/drawing/2014/main" id="{CC584DFA-9448-4074-85D3-CAE71FB6A0F4}"/>
              </a:ext>
            </a:extLst>
          </p:cNvPr>
          <p:cNvSpPr>
            <a:spLocks xmlns:a="http://schemas.openxmlformats.org/drawingml/2006/main" noGrp="1"/>
          </p:cNvSpPr>
          <p:nvPr/>
        </p:nvSpPr>
        <p:spPr>
          <a:xfrm xmlns:a="http://schemas.openxmlformats.org/drawingml/2006/main">
            <a:off x="8658225" y="3819525"/>
            <a:ext cx="29432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238"/>
                </a:solidFill>
                <a:latin typeface="Malgun Gothic"/>
                <a:ea typeface="Malgun Gothic"/>
                <a:cs typeface="Malgun Gothic"/>
              </a:defRPr>
            </a:defPPr>
          </a:lstStyle>
          <a:p xmlns:a="http://schemas.openxmlformats.org/drawingml/2006/main">
            <a:pPr algn="l">
              <a:defRPr sz="1800" b="0">
                <a:solidFill>
                  <a:srgbClr val="142238"/>
                </a:solidFill>
                <a:latin typeface="Malgun Gothic"/>
                <a:ea typeface="Malgun Gothic"/>
                <a:cs typeface="Malgun Gothic"/>
              </a:defRPr>
            </a:pPr>
            <a:r>
              <a:rPr sz="1800" b="0">
                <a:solidFill>
                  <a:srgbClr val="142238"/>
                </a:solidFill>
                <a:latin typeface="Malgun Gothic"/>
                <a:ea typeface="Malgun Gothic"/>
                <a:cs typeface="Malgun Gothic"/>
              </a:rPr>
              <a:t>구동벨트: 교체 예정</a:t>
            </a:r>
          </a:p>
          <a:p xmlns:a="http://schemas.openxmlformats.org/drawingml/2006/main">
            <a:pPr algn="l">
              <a:defRPr sz="1800" b="0">
                <a:solidFill>
                  <a:srgbClr val="142238"/>
                </a:solidFill>
                <a:latin typeface="Malgun Gothic"/>
                <a:ea typeface="Malgun Gothic"/>
                <a:cs typeface="Malgun Gothic"/>
              </a:defRPr>
            </a:pPr>
            <a:r>
              <a:rPr sz="1800" b="0">
                <a:solidFill>
                  <a:srgbClr val="142238"/>
                </a:solidFill>
                <a:latin typeface="Malgun Gothic"/>
                <a:ea typeface="Malgun Gothic"/>
                <a:cs typeface="Malgun Gothic"/>
              </a:rPr>
              <a:t>회전척: 정렬 후 진동 감소</a:t>
            </a:r>
          </a:p>
          <a:p xmlns:a="http://schemas.openxmlformats.org/drawingml/2006/main">
            <a:pPr algn="l">
              <a:defRPr sz="1800" b="0">
                <a:solidFill>
                  <a:srgbClr val="142238"/>
                </a:solidFill>
                <a:latin typeface="Malgun Gothic"/>
                <a:ea typeface="Malgun Gothic"/>
                <a:cs typeface="Malgun Gothic"/>
              </a:defRPr>
            </a:pPr>
            <a:r>
              <a:rPr sz="1800" b="0">
                <a:solidFill>
                  <a:srgbClr val="142238"/>
                </a:solidFill>
                <a:latin typeface="Malgun Gothic"/>
                <a:ea typeface="Malgun Gothic"/>
                <a:cs typeface="Malgun Gothic"/>
              </a:rPr>
              <a:t>장기 재발 여부 미확인</a:t>
            </a:r>
          </a:p>
        </p:txBody>
      </p:sp>
      <p:graphicFrame>
        <p:nvGraphicFramePr>
          <p:cNvPr id="23" name="">
            <a:extLst xmlns:a="http://schemas.openxmlformats.org/drawingml/2006/main">
              <a:ext uri="{FF2B5EF4-FFF2-40B4-BE49-F238E27FC236}">
                <a16:creationId xmlns:a16="http://schemas.microsoft.com/office/drawing/2014/main" id="{2A36FF55-2A0B-4E9F-8041-C350F789A60B}"/>
              </a:ext>
            </a:extLst>
          </p:cNvPr>
          <p:cNvGraphicFramePr/>
          <p:nvPr/>
        </p:nvGraphicFramePr>
        <p:xfrm>
          <a:off xmlns:a="http://schemas.openxmlformats.org/drawingml/2006/main" x="619125" y="5095875"/>
          <a:ext xmlns:a="http://schemas.openxmlformats.org/drawingml/2006/main" cx="10953750" cy="1162050"/>
        </p:xfrm>
        <a:graphic xmlns:a="http://schemas.openxmlformats.org/drawingml/2006/main">
          <a:graphicData uri="http://schemas.openxmlformats.org/drawingml/2006/table">
            <a:tbl>
              <a:tblPr/>
              <a:tblGrid>
                <a:gridCol w="5486400"/>
                <a:gridCol w="5467350"/>
              </a:tblGrid>
              <a:tr h="400050">
                <a:tc>
                  <a:txBody>
                    <a:bodyPr lIns="133350" tIns="133350" rIns="133350" bIns="133350">
                      <a:noAutofit/>
                    </a:bodyPr>
                    <a:lstStyle/>
                    <a:p>
                      <a:r>
                        <a:rPr sz="1650" b="1">
                          <a:solidFill>
                            <a:srgbClr val="FFFFFF"/>
                          </a:solidFill>
                          <a:latin typeface="Malgun Gothic"/>
                          <a:ea typeface="Malgun Gothic"/>
                          <a:cs typeface="Malgun Gothic"/>
                        </a:rPr>
                        <a:t>관계 후보 보완 검색</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650" b="1">
                          <a:solidFill>
                            <a:srgbClr val="FFFFFF"/>
                          </a:solidFill>
                          <a:latin typeface="Malgun Gothic"/>
                          <a:ea typeface="Malgun Gothic"/>
                          <a:cs typeface="Malgun Gothic"/>
                        </a:rPr>
                        <a:t>관계 보기</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762000">
                <a:tc>
                  <a:txBody>
                    <a:bodyPr lIns="133350" tIns="133350" rIns="133350" bIns="133350">
                      <a:noAutofit/>
                    </a:bodyPr>
                    <a:lstStyle/>
                    <a:p>
                      <a:r>
                        <a:rPr sz="1650" b="0">
                          <a:solidFill>
                            <a:srgbClr val="142238"/>
                          </a:solidFill>
                          <a:latin typeface="Malgun Gothic"/>
                          <a:ea typeface="Malgun Gothic"/>
                          <a:cs typeface="Malgun Gothic"/>
                        </a:rPr>
                        <a:t>같은 상세에 함께 적힌 이름으로 후보 보완</a:t>
                      </a:r>
                    </a:p>
                    <a:p>
                      <a:r>
                        <a:rPr sz="1650" b="0">
                          <a:solidFill>
                            <a:srgbClr val="142238"/>
                          </a:solidFill>
                          <a:latin typeface="Malgun Gothic"/>
                          <a:ea typeface="Malgun Gothic"/>
                          <a:cs typeface="Malgun Gothic"/>
                        </a:rPr>
                        <a:t>숫자·부정·모호한 조건은 보호하며 우회</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650" b="0">
                          <a:solidFill>
                            <a:srgbClr val="142238"/>
                          </a:solidFill>
                          <a:latin typeface="Malgun Gothic"/>
                          <a:ea typeface="Malgun Gothic"/>
                          <a:cs typeface="Malgun Gothic"/>
                        </a:rPr>
                        <a:t>반환된 사례의 원문 관계를 시각화</a:t>
                      </a:r>
                    </a:p>
                    <a:p>
                      <a:r>
                        <a:rPr sz="1650" b="0">
                          <a:solidFill>
                            <a:srgbClr val="142238"/>
                          </a:solidFill>
                          <a:latin typeface="Malgun Gothic"/>
                          <a:ea typeface="Malgun Gothic"/>
                          <a:cs typeface="Malgun Gothic"/>
                        </a:rPr>
                        <a:t>검색 순위와 원문 기록은 변경하지 않음</a:t>
                      </a:r>
                    </a:p>
                  </a:txBody>
                  <a:tcPr marL="91440" marR="91440" marT="45720" marB="45720" anchor="ctr">
                    <a:lnR w="9525">
                      <a:solidFill>
                        <a:srgbClr val="D8DFE8"/>
                      </a:solidFill>
                    </a:lnR>
                    <a:lnB w="9525">
                      <a:solidFill>
                        <a:srgbClr val="D8DFE8"/>
                      </a:solidFill>
                    </a:lnB>
                    <a:solidFill>
                      <a:srgbClr val="FFFFFF"/>
                    </a:solidFill>
                  </a:tcPr>
                </a:tc>
              </a:tr>
            </a:tbl>
          </a:graphicData>
        </a:graphic>
      </p:graphicFrame>
    </p:spTree>
    <p:extLst>
      <p:ext uri="{BB962C8B-B14F-4D97-AF65-F5344CB8AC3E}">
        <p14:creationId xmlns:p14="http://schemas.microsoft.com/office/powerpoint/2010/main" val="6057596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D2D9D1C-5D94-4EC7-8692-E8D485DD2801}"/>
              </a:ext>
            </a:extLst>
          </p:cNvPr>
          <p:cNvCxnSpPr>
            <a:stCxn xmlns:a="http://schemas.openxmlformats.org/drawingml/2006/main" id="6" idx="3"/>
            <a:endCxn xmlns:a="http://schemas.openxmlformats.org/drawingml/2006/main" id="7" idx="1"/>
          </p:cNvCxnSpPr>
          <p:nvPr/>
        </p:nvCxnSpPr>
        <p:spPr>
          <a:xfrm xmlns:a="http://schemas.openxmlformats.org/drawingml/2006/main">
            <a:off x="6343650" y="2114550"/>
            <a:ext cx="419100"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8B523D3A-1C3B-4524-9053-AA1E04E51A33}"/>
              </a:ext>
            </a:extLst>
          </p:cNvPr>
          <p:cNvCxnSpPr>
            <a:stCxn xmlns:a="http://schemas.openxmlformats.org/drawingml/2006/main" id="5" idx="3"/>
            <a:endCxn xmlns:a="http://schemas.openxmlformats.org/drawingml/2006/main" id="6" idx="1"/>
          </p:cNvCxnSpPr>
          <p:nvPr/>
        </p:nvCxnSpPr>
        <p:spPr>
          <a:xfrm xmlns:a="http://schemas.openxmlformats.org/drawingml/2006/main">
            <a:off x="2914650" y="2114550"/>
            <a:ext cx="419100"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sp>
        <p:nvSpPr>
          <p:cNvPr id="17" name="">
            <a:extLst xmlns:a="http://schemas.openxmlformats.org/drawingml/2006/main">
              <a:ext uri="{FF2B5EF4-FFF2-40B4-BE49-F238E27FC236}">
                <a16:creationId xmlns:a16="http://schemas.microsoft.com/office/drawing/2014/main" id="{92DF2CE2-B00E-4992-90B6-BF34B8F41D40}"/>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Malgun Gothic"/>
                <a:ea typeface="Malgun Gothic"/>
                <a:cs typeface="Malgun Gothic"/>
              </a:rPr>
              <a:t>답변은 선택한 사례의 실제 원문 셀로 확인합니다</a:t>
            </a:r>
          </a:p>
        </p:txBody>
      </p:sp>
      <p:sp>
        <p:nvSpPr>
          <p:cNvPr id="2" name="">
            <a:extLst xmlns:a="http://schemas.openxmlformats.org/drawingml/2006/main">
              <a:ext uri="{FF2B5EF4-FFF2-40B4-BE49-F238E27FC236}">
                <a16:creationId xmlns:a16="http://schemas.microsoft.com/office/drawing/2014/main" id="{DC17F759-48A5-4AF2-BA60-88D680729879}"/>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Times New Roman"/>
                <a:ea typeface="Times New Roman"/>
                <a:cs typeface="Times New Roman"/>
              </a:rPr>
              <a:t>Clef</a:t>
            </a:r>
            <a:r>
              <a:rPr sz="1725" b="0">
                <a:solidFill>
                  <a:srgbClr val="5B6676"/>
                </a:solidFill>
                <a:latin typeface="Malgun Gothic"/>
                <a:ea typeface="Malgun Gothic"/>
                <a:cs typeface="Malgun Gothic"/>
              </a:rPr>
              <a:t>의 관련성 판단 이후에도 답변 생성과 근거 검사를 별도 단계로 수행합니다.</a:t>
            </a:r>
          </a:p>
        </p:txBody>
      </p:sp>
      <p:sp>
        <p:nvSpPr>
          <p:cNvPr id="3" name="">
            <a:extLst xmlns:a="http://schemas.openxmlformats.org/drawingml/2006/main">
              <a:ext uri="{FF2B5EF4-FFF2-40B4-BE49-F238E27FC236}">
                <a16:creationId xmlns:a16="http://schemas.microsoft.com/office/drawing/2014/main" id="{B54DFE04-2983-40F3-8BFD-08DF1F0F6875}"/>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아래 답변은 원문을 바탕으로 작성한 설명 예시 · 실제 </a:t>
            </a:r>
            <a:r>
              <a:rPr sz="1200" b="0">
                <a:solidFill>
                  <a:srgbClr val="5B6676"/>
                </a:solidFill>
                <a:latin typeface="Times New Roman"/>
                <a:ea typeface="Times New Roman"/>
                <a:cs typeface="Times New Roman"/>
              </a:rPr>
              <a:t>LLM </a:t>
            </a:r>
            <a:r>
              <a:rPr sz="1200" b="0">
                <a:solidFill>
                  <a:srgbClr val="5B6676"/>
                </a:solidFill>
                <a:latin typeface="Malgun Gothic"/>
                <a:ea typeface="Malgun Gothic"/>
                <a:cs typeface="Malgun Gothic"/>
              </a:rPr>
              <a:t>답변 평가 결과가 아님 · </a:t>
            </a:r>
            <a:r>
              <a:rPr sz="1200" b="0">
                <a:solidFill>
                  <a:srgbClr val="5B6676"/>
                </a:solidFill>
                <a:latin typeface="Times New Roman"/>
                <a:ea typeface="Times New Roman"/>
                <a:cs typeface="Times New Roman"/>
              </a:rPr>
              <a:t>E1, E7</a:t>
            </a:r>
          </a:p>
        </p:txBody>
      </p:sp>
      <p:sp>
        <p:nvSpPr>
          <p:cNvPr id="4" name="">
            <a:extLst xmlns:a="http://schemas.openxmlformats.org/drawingml/2006/main">
              <a:ext uri="{FF2B5EF4-FFF2-40B4-BE49-F238E27FC236}">
                <a16:creationId xmlns:a16="http://schemas.microsoft.com/office/drawing/2014/main" id="{033245C9-798F-4024-B89D-D26D19EE786E}"/>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08</a:t>
            </a:r>
          </a:p>
        </p:txBody>
      </p:sp>
      <p:sp>
        <p:nvSpPr>
          <p:cNvPr id="5" name="">
            <a:extLst xmlns:a="http://schemas.openxmlformats.org/drawingml/2006/main">
              <a:ext uri="{FF2B5EF4-FFF2-40B4-BE49-F238E27FC236}">
                <a16:creationId xmlns:a16="http://schemas.microsoft.com/office/drawing/2014/main" id="{1C84E9F7-75CE-4F23-9EFB-B4C19329EE56}"/>
              </a:ext>
            </a:extLst>
          </p:cNvPr>
          <p:cNvSpPr>
            <a:spLocks xmlns:a="http://schemas.openxmlformats.org/drawingml/2006/main" noGrp="1"/>
          </p:cNvSpPr>
          <p:nvPr/>
        </p:nvSpPr>
        <p:spPr>
          <a:xfrm xmlns:a="http://schemas.openxmlformats.org/drawingml/2006/main">
            <a:off x="619125" y="1752600"/>
            <a:ext cx="2295525" cy="723900"/>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Times New Roman"/>
                <a:ea typeface="Times New Roman"/>
                <a:cs typeface="Times New Roman"/>
              </a:rPr>
              <a:t>Clef</a:t>
            </a:r>
          </a:p>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관련 후보 순서</a:t>
            </a:r>
          </a:p>
        </p:txBody>
      </p:sp>
      <p:sp>
        <p:nvSpPr>
          <p:cNvPr id="6" name="">
            <a:extLst xmlns:a="http://schemas.openxmlformats.org/drawingml/2006/main">
              <a:ext uri="{FF2B5EF4-FFF2-40B4-BE49-F238E27FC236}">
                <a16:creationId xmlns:a16="http://schemas.microsoft.com/office/drawing/2014/main" id="{5813CAE6-CEE2-4B50-AF0B-F37612C8DD20}"/>
              </a:ext>
            </a:extLst>
          </p:cNvPr>
          <p:cNvSpPr>
            <a:spLocks xmlns:a="http://schemas.openxmlformats.org/drawingml/2006/main" noGrp="1"/>
          </p:cNvSpPr>
          <p:nvPr/>
        </p:nvSpPr>
        <p:spPr>
          <a:xfrm xmlns:a="http://schemas.openxmlformats.org/drawingml/2006/main">
            <a:off x="3333750" y="1752600"/>
            <a:ext cx="3009900" cy="723900"/>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답변 </a:t>
            </a:r>
            <a:r>
              <a:rPr sz="1875" b="0">
                <a:solidFill>
                  <a:srgbClr val="142238"/>
                </a:solidFill>
                <a:latin typeface="Times New Roman"/>
                <a:ea typeface="Times New Roman"/>
                <a:cs typeface="Times New Roman"/>
              </a:rPr>
              <a:t>LLM</a:t>
            </a:r>
          </a:p>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근거로 한국어 설명</a:t>
            </a:r>
          </a:p>
        </p:txBody>
      </p:sp>
      <p:sp>
        <p:nvSpPr>
          <p:cNvPr id="7" name="">
            <a:extLst xmlns:a="http://schemas.openxmlformats.org/drawingml/2006/main">
              <a:ext uri="{FF2B5EF4-FFF2-40B4-BE49-F238E27FC236}">
                <a16:creationId xmlns:a16="http://schemas.microsoft.com/office/drawing/2014/main" id="{A5781683-82E8-46A2-8009-1D3BB6E9A8BF}"/>
              </a:ext>
            </a:extLst>
          </p:cNvPr>
          <p:cNvSpPr>
            <a:spLocks xmlns:a="http://schemas.openxmlformats.org/drawingml/2006/main" noGrp="1"/>
          </p:cNvSpPr>
          <p:nvPr/>
        </p:nvSpPr>
        <p:spPr>
          <a:xfrm xmlns:a="http://schemas.openxmlformats.org/drawingml/2006/main">
            <a:off x="6762750" y="1752600"/>
            <a:ext cx="4800600" cy="723900"/>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875">
                <a:latin typeface="Malgun Gothic"/>
                <a:ea typeface="Malgun Gothic"/>
                <a:cs typeface="Malgun Gothic"/>
              </a:defRPr>
            </a:defPPr>
          </a:lstStyle>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원문 셀 검사</a:t>
            </a:r>
          </a:p>
          <a:p xmlns:a="http://schemas.openxmlformats.org/drawingml/2006/main">
            <a:pPr algn="ctr">
              <a:defRPr sz="1875">
                <a:latin typeface="Malgun Gothic"/>
                <a:ea typeface="Malgun Gothic"/>
                <a:cs typeface="Malgun Gothic"/>
              </a:defRPr>
            </a:pPr>
            <a:r>
              <a:rPr sz="1875" b="0">
                <a:solidFill>
                  <a:srgbClr val="142238"/>
                </a:solidFill>
                <a:latin typeface="Malgun Gothic"/>
                <a:ea typeface="Malgun Gothic"/>
                <a:cs typeface="Malgun Gothic"/>
              </a:rPr>
              <a:t>근거 </a:t>
            </a:r>
            <a:r>
              <a:rPr sz="1875" b="0">
                <a:solidFill>
                  <a:srgbClr val="142238"/>
                </a:solidFill>
                <a:latin typeface="Times New Roman"/>
                <a:ea typeface="Times New Roman"/>
                <a:cs typeface="Times New Roman"/>
              </a:rPr>
              <a:t>ID</a:t>
            </a:r>
            <a:r>
              <a:rPr sz="1875" b="0">
                <a:solidFill>
                  <a:srgbClr val="142238"/>
                </a:solidFill>
                <a:latin typeface="Malgun Gothic"/>
                <a:ea typeface="Malgun Gothic"/>
                <a:cs typeface="Malgun Gothic"/>
              </a:rPr>
              <a:t>·인용·수치·날짜</a:t>
            </a:r>
          </a:p>
        </p:txBody>
      </p:sp>
      <p:sp>
        <p:nvSpPr>
          <p:cNvPr id="10" name="">
            <a:extLst xmlns:a="http://schemas.openxmlformats.org/drawingml/2006/main">
              <a:ext uri="{FF2B5EF4-FFF2-40B4-BE49-F238E27FC236}">
                <a16:creationId xmlns:a16="http://schemas.microsoft.com/office/drawing/2014/main" id="{D51EFF36-0D29-4A8F-A19A-D2294F143B98}"/>
              </a:ext>
            </a:extLst>
          </p:cNvPr>
          <p:cNvSpPr>
            <a:spLocks xmlns:a="http://schemas.openxmlformats.org/drawingml/2006/main" noGrp="1"/>
          </p:cNvSpPr>
          <p:nvPr/>
        </p:nvSpPr>
        <p:spPr>
          <a:xfrm xmlns:a="http://schemas.openxmlformats.org/drawingml/2006/main">
            <a:off x="647700" y="2847975"/>
            <a:ext cx="5191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59C7"/>
                </a:solidFill>
                <a:latin typeface="Malgun Gothic"/>
                <a:ea typeface="Malgun Gothic"/>
                <a:cs typeface="Malgun Gothic"/>
              </a:defRPr>
            </a:defPPr>
          </a:lstStyle>
          <a:p xmlns:a="http://schemas.openxmlformats.org/drawingml/2006/main">
            <a:pPr algn="l">
              <a:defRPr sz="2025" b="1">
                <a:solidFill>
                  <a:srgbClr val="1459C7"/>
                </a:solidFill>
                <a:latin typeface="Malgun Gothic"/>
                <a:ea typeface="Malgun Gothic"/>
                <a:cs typeface="Malgun Gothic"/>
              </a:defRPr>
            </a:pPr>
            <a:r>
              <a:rPr sz="2025" b="1">
                <a:solidFill>
                  <a:srgbClr val="1459C7"/>
                </a:solidFill>
                <a:latin typeface="Malgun Gothic"/>
                <a:ea typeface="Malgun Gothic"/>
                <a:cs typeface="Malgun Gothic"/>
              </a:rPr>
              <a:t>근거의 주소</a:t>
            </a:r>
          </a:p>
        </p:txBody>
      </p:sp>
      <p:sp>
        <p:nvSpPr>
          <p:cNvPr id="11" name="">
            <a:extLst xmlns:a="http://schemas.openxmlformats.org/drawingml/2006/main">
              <a:ext uri="{FF2B5EF4-FFF2-40B4-BE49-F238E27FC236}">
                <a16:creationId xmlns:a16="http://schemas.microsoft.com/office/drawing/2014/main" id="{76E1AE33-BAEE-42E6-AE6F-ED1E3AA34955}"/>
              </a:ext>
            </a:extLst>
          </p:cNvPr>
          <p:cNvSpPr>
            <a:spLocks xmlns:a="http://schemas.openxmlformats.org/drawingml/2006/main" noGrp="1"/>
          </p:cNvSpPr>
          <p:nvPr/>
        </p:nvSpPr>
        <p:spPr>
          <a:xfrm xmlns:a="http://schemas.openxmlformats.org/drawingml/2006/main">
            <a:off x="647700" y="3352800"/>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238"/>
                </a:solidFill>
                <a:latin typeface="Malgun Gothic"/>
                <a:ea typeface="Malgun Gothic"/>
                <a:cs typeface="Malgun Gothic"/>
              </a:defRPr>
            </a:defPPr>
          </a:lstStyle>
          <a:p xmlns:a="http://schemas.openxmlformats.org/drawingml/2006/main">
            <a:pPr algn="l">
              <a:defRPr sz="1950" b="0">
                <a:solidFill>
                  <a:srgbClr val="142238"/>
                </a:solidFill>
                <a:latin typeface="Malgun Gothic"/>
                <a:ea typeface="Malgun Gothic"/>
                <a:cs typeface="Malgun Gothic"/>
              </a:defRPr>
            </a:pPr>
            <a:r>
              <a:rPr sz="1950" b="0">
                <a:solidFill>
                  <a:srgbClr val="142238"/>
                </a:solidFill>
                <a:latin typeface="Times New Roman"/>
                <a:ea typeface="Times New Roman"/>
                <a:cs typeface="Times New Roman"/>
              </a:rPr>
              <a:t>CS-2026-17340 / </a:t>
            </a:r>
            <a:r>
              <a:rPr sz="1950" b="0">
                <a:solidFill>
                  <a:srgbClr val="142238"/>
                </a:solidFill>
                <a:latin typeface="Malgun Gothic"/>
                <a:ea typeface="Malgun Gothic"/>
                <a:cs typeface="Malgun Gothic"/>
              </a:rPr>
              <a:t>작업</a:t>
            </a:r>
            <a:r>
              <a:rPr sz="1950" b="0">
                <a:solidFill>
                  <a:srgbClr val="142238"/>
                </a:solidFill>
                <a:latin typeface="Times New Roman"/>
                <a:ea typeface="Times New Roman"/>
                <a:cs typeface="Times New Roman"/>
              </a:rPr>
              <a:t>2 / </a:t>
            </a:r>
            <a:r>
              <a:rPr sz="1950" b="0">
                <a:solidFill>
                  <a:srgbClr val="142238"/>
                </a:solidFill>
                <a:latin typeface="Malgun Gothic"/>
                <a:ea typeface="Malgun Gothic"/>
                <a:cs typeface="Malgun Gothic"/>
              </a:rPr>
              <a:t>조치내용(</a:t>
            </a:r>
            <a:r>
              <a:rPr sz="1950" b="0">
                <a:solidFill>
                  <a:srgbClr val="142238"/>
                </a:solidFill>
                <a:latin typeface="Times New Roman"/>
                <a:ea typeface="Times New Roman"/>
                <a:cs typeface="Times New Roman"/>
              </a:rPr>
              <a:t>2)</a:t>
            </a:r>
          </a:p>
          <a:p xmlns:a="http://schemas.openxmlformats.org/drawingml/2006/main">
            <a:pPr algn="l">
              <a:defRPr sz="1950" b="0">
                <a:solidFill>
                  <a:srgbClr val="142238"/>
                </a:solidFill>
                <a:latin typeface="Malgun Gothic"/>
                <a:ea typeface="Malgun Gothic"/>
                <a:cs typeface="Malgun Gothic"/>
              </a:defRPr>
            </a:pPr>
            <a:r>
              <a:rPr sz="1950" b="0">
                <a:solidFill>
                  <a:srgbClr val="142238"/>
                </a:solidFill>
                <a:latin typeface="Times New Roman"/>
                <a:ea typeface="Times New Roman"/>
                <a:cs typeface="Times New Roman"/>
              </a:rPr>
              <a:t>CSList</a:t>
            </a:r>
            <a:r>
              <a:rPr sz="1950" b="0">
                <a:solidFill>
                  <a:srgbClr val="142238"/>
                </a:solidFill>
                <a:latin typeface="Malgun Gothic"/>
                <a:ea typeface="Malgun Gothic"/>
                <a:cs typeface="Malgun Gothic"/>
              </a:rPr>
              <a:t>!</a:t>
            </a:r>
            <a:r>
              <a:rPr sz="1950" b="0">
                <a:solidFill>
                  <a:srgbClr val="142238"/>
                </a:solidFill>
                <a:latin typeface="Times New Roman"/>
                <a:ea typeface="Times New Roman"/>
                <a:cs typeface="Times New Roman"/>
              </a:rPr>
              <a:t>BR17341</a:t>
            </a:r>
          </a:p>
        </p:txBody>
      </p:sp>
      <p:sp>
        <p:nvSpPr>
          <p:cNvPr id="12" name="">
            <a:extLst xmlns:a="http://schemas.openxmlformats.org/drawingml/2006/main">
              <a:ext uri="{FF2B5EF4-FFF2-40B4-BE49-F238E27FC236}">
                <a16:creationId xmlns:a16="http://schemas.microsoft.com/office/drawing/2014/main" id="{CF33BAC0-ED3E-4A32-AA55-F639F95C4594}"/>
              </a:ext>
            </a:extLst>
          </p:cNvPr>
          <p:cNvSpPr>
            <a:spLocks xmlns:a="http://schemas.openxmlformats.org/drawingml/2006/main" noGrp="1"/>
          </p:cNvSpPr>
          <p:nvPr/>
        </p:nvSpPr>
        <p:spPr>
          <a:xfrm xmlns:a="http://schemas.openxmlformats.org/drawingml/2006/main">
            <a:off x="647700" y="4371975"/>
            <a:ext cx="52482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238"/>
                </a:solidFill>
                <a:latin typeface="Malgun Gothic"/>
                <a:ea typeface="Malgun Gothic"/>
                <a:cs typeface="Malgun Gothic"/>
              </a:defRPr>
            </a:defPPr>
          </a:lstStyle>
          <a:p xmlns:a="http://schemas.openxmlformats.org/drawingml/2006/main">
            <a:pPr algn="l">
              <a:defRPr sz="1875" b="0">
                <a:solidFill>
                  <a:srgbClr val="142238"/>
                </a:solidFill>
                <a:latin typeface="Malgun Gothic"/>
                <a:ea typeface="Malgun Gothic"/>
                <a:cs typeface="Malgun Gothic"/>
              </a:defRPr>
            </a:pPr>
            <a:r>
              <a:rPr sz="1875" b="0">
                <a:solidFill>
                  <a:srgbClr val="142238"/>
                </a:solidFill>
                <a:latin typeface="Malgun Gothic"/>
                <a:ea typeface="Malgun Gothic"/>
                <a:cs typeface="Malgun Gothic"/>
              </a:rPr>
              <a:t>“냉매 배관 용접 보수 및 냉매 전량 완충,</a:t>
            </a:r>
          </a:p>
          <a:p xmlns:a="http://schemas.openxmlformats.org/drawingml/2006/main">
            <a:pPr algn="l">
              <a:defRPr sz="1875" b="0">
                <a:solidFill>
                  <a:srgbClr val="142238"/>
                </a:solidFill>
                <a:latin typeface="Malgun Gothic"/>
                <a:ea typeface="Malgun Gothic"/>
                <a:cs typeface="Malgun Gothic"/>
              </a:defRPr>
            </a:pPr>
            <a:r>
              <a:rPr sz="1875" b="0">
                <a:solidFill>
                  <a:srgbClr val="142238"/>
                </a:solidFill>
                <a:latin typeface="Malgun Gothic"/>
                <a:ea typeface="Malgun Gothic"/>
                <a:cs typeface="Malgun Gothic"/>
              </a:rPr>
              <a:t>펌프 오버홀 진행. 테스트 런 </a:t>
            </a:r>
            <a:r>
              <a:rPr sz="1875" b="0">
                <a:solidFill>
                  <a:srgbClr val="142238"/>
                </a:solidFill>
                <a:latin typeface="Times New Roman"/>
                <a:ea typeface="Times New Roman"/>
                <a:cs typeface="Times New Roman"/>
              </a:rPr>
              <a:t>15</a:t>
            </a:r>
            <a:r>
              <a:rPr sz="1875" b="0">
                <a:solidFill>
                  <a:srgbClr val="142238"/>
                </a:solidFill>
                <a:latin typeface="Malgun Gothic"/>
                <a:ea typeface="Malgun Gothic"/>
                <a:cs typeface="Malgun Gothic"/>
              </a:rPr>
              <a:t>분 동안</a:t>
            </a:r>
          </a:p>
          <a:p xmlns:a="http://schemas.openxmlformats.org/drawingml/2006/main">
            <a:pPr algn="l">
              <a:defRPr sz="1875" b="0">
                <a:solidFill>
                  <a:srgbClr val="142238"/>
                </a:solidFill>
                <a:latin typeface="Malgun Gothic"/>
                <a:ea typeface="Malgun Gothic"/>
                <a:cs typeface="Malgun Gothic"/>
              </a:defRPr>
            </a:pPr>
            <a:r>
              <a:rPr sz="1875" b="0">
                <a:solidFill>
                  <a:srgbClr val="142238"/>
                </a:solidFill>
                <a:latin typeface="Times New Roman"/>
                <a:ea typeface="Times New Roman"/>
                <a:cs typeface="Times New Roman"/>
              </a:rPr>
              <a:t>22</a:t>
            </a:r>
            <a:r>
              <a:rPr sz="1875" b="0">
                <a:solidFill>
                  <a:srgbClr val="142238"/>
                </a:solidFill>
                <a:latin typeface="Malgun Gothic"/>
                <a:ea typeface="Malgun Gothic"/>
                <a:cs typeface="Malgun Gothic"/>
              </a:rPr>
              <a:t>도 유지.”</a:t>
            </a:r>
          </a:p>
        </p:txBody>
      </p:sp>
      <p:sp>
        <p:nvSpPr>
          <p:cNvPr id="13" name="">
            <a:extLst xmlns:a="http://schemas.openxmlformats.org/drawingml/2006/main">
              <a:ext uri="{FF2B5EF4-FFF2-40B4-BE49-F238E27FC236}">
                <a16:creationId xmlns:a16="http://schemas.microsoft.com/office/drawing/2014/main" id="{5783FA6C-4CD1-491D-A673-E359F944808F}"/>
              </a:ext>
            </a:extLst>
          </p:cNvPr>
          <p:cNvSpPr>
            <a:spLocks xmlns:a="http://schemas.openxmlformats.org/drawingml/2006/main" noGrp="1"/>
          </p:cNvSpPr>
          <p:nvPr/>
        </p:nvSpPr>
        <p:spPr>
          <a:xfrm xmlns:a="http://schemas.openxmlformats.org/drawingml/2006/main">
            <a:off x="6334125" y="2847975"/>
            <a:ext cx="5229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59C7"/>
                </a:solidFill>
                <a:latin typeface="Malgun Gothic"/>
                <a:ea typeface="Malgun Gothic"/>
                <a:cs typeface="Malgun Gothic"/>
              </a:defRPr>
            </a:defPPr>
          </a:lstStyle>
          <a:p xmlns:a="http://schemas.openxmlformats.org/drawingml/2006/main">
            <a:pPr algn="l">
              <a:defRPr sz="2025" b="1">
                <a:solidFill>
                  <a:srgbClr val="1459C7"/>
                </a:solidFill>
                <a:latin typeface="Malgun Gothic"/>
                <a:ea typeface="Malgun Gothic"/>
                <a:cs typeface="Malgun Gothic"/>
              </a:defRPr>
            </a:pPr>
            <a:r>
              <a:rPr sz="2025" b="1">
                <a:solidFill>
                  <a:srgbClr val="1459C7"/>
                </a:solidFill>
                <a:latin typeface="Malgun Gothic"/>
                <a:ea typeface="Malgun Gothic"/>
                <a:cs typeface="Malgun Gothic"/>
              </a:rPr>
              <a:t>답변에서 유지할 범위</a:t>
            </a:r>
          </a:p>
        </p:txBody>
      </p:sp>
      <p:sp>
        <p:nvSpPr>
          <p:cNvPr id="14" name="">
            <a:extLst xmlns:a="http://schemas.openxmlformats.org/drawingml/2006/main">
              <a:ext uri="{FF2B5EF4-FFF2-40B4-BE49-F238E27FC236}">
                <a16:creationId xmlns:a16="http://schemas.microsoft.com/office/drawing/2014/main" id="{7DF8ED27-7B42-47AA-B76D-74418A0AE383}"/>
              </a:ext>
            </a:extLst>
          </p:cNvPr>
          <p:cNvSpPr>
            <a:spLocks xmlns:a="http://schemas.openxmlformats.org/drawingml/2006/main" noGrp="1"/>
          </p:cNvSpPr>
          <p:nvPr/>
        </p:nvSpPr>
        <p:spPr>
          <a:xfrm xmlns:a="http://schemas.openxmlformats.org/drawingml/2006/main">
            <a:off x="6334125" y="3352800"/>
            <a:ext cx="52292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238"/>
                </a:solidFill>
                <a:latin typeface="Malgun Gothic"/>
                <a:ea typeface="Malgun Gothic"/>
                <a:cs typeface="Malgun Gothic"/>
              </a:defRPr>
            </a:defPPr>
          </a:lstStyle>
          <a:p xmlns:a="http://schemas.openxmlformats.org/drawingml/2006/main">
            <a:pPr algn="l">
              <a:defRPr sz="2025" b="0">
                <a:solidFill>
                  <a:srgbClr val="142238"/>
                </a:solidFill>
                <a:latin typeface="Malgun Gothic"/>
                <a:ea typeface="Malgun Gothic"/>
                <a:cs typeface="Malgun Gothic"/>
              </a:defRPr>
            </a:pPr>
            <a:r>
              <a:rPr sz="2025" b="0">
                <a:solidFill>
                  <a:srgbClr val="142238"/>
                </a:solidFill>
                <a:latin typeface="Malgun Gothic"/>
                <a:ea typeface="Malgun Gothic"/>
                <a:cs typeface="Malgun Gothic"/>
              </a:rPr>
              <a:t>배관 보수와 펌프 오버홀을 시행했고,</a:t>
            </a:r>
          </a:p>
          <a:p xmlns:a="http://schemas.openxmlformats.org/drawingml/2006/main">
            <a:pPr algn="l">
              <a:defRPr sz="2025" b="0">
                <a:solidFill>
                  <a:srgbClr val="142238"/>
                </a:solidFill>
                <a:latin typeface="Malgun Gothic"/>
                <a:ea typeface="Malgun Gothic"/>
                <a:cs typeface="Malgun Gothic"/>
              </a:defRPr>
            </a:pPr>
            <a:r>
              <a:rPr sz="2025" b="0">
                <a:solidFill>
                  <a:srgbClr val="142238"/>
                </a:solidFill>
                <a:latin typeface="Times New Roman"/>
                <a:ea typeface="Times New Roman"/>
                <a:cs typeface="Times New Roman"/>
              </a:rPr>
              <a:t>15</a:t>
            </a:r>
            <a:r>
              <a:rPr sz="2025" b="0">
                <a:solidFill>
                  <a:srgbClr val="142238"/>
                </a:solidFill>
                <a:latin typeface="Malgun Gothic"/>
                <a:ea typeface="Malgun Gothic"/>
                <a:cs typeface="Malgun Gothic"/>
              </a:rPr>
              <a:t>분 시험에서 </a:t>
            </a:r>
            <a:r>
              <a:rPr sz="2025" b="0">
                <a:solidFill>
                  <a:srgbClr val="142238"/>
                </a:solidFill>
                <a:latin typeface="Times New Roman"/>
                <a:ea typeface="Times New Roman"/>
                <a:cs typeface="Times New Roman"/>
              </a:rPr>
              <a:t>22</a:t>
            </a:r>
            <a:r>
              <a:rPr sz="2025" b="0">
                <a:solidFill>
                  <a:srgbClr val="142238"/>
                </a:solidFill>
                <a:latin typeface="Malgun Gothic"/>
                <a:ea typeface="Malgun Gothic"/>
                <a:cs typeface="Malgun Gothic"/>
              </a:rPr>
              <a:t>도를 유지한 기록이 있습니다.</a:t>
            </a:r>
          </a:p>
        </p:txBody>
      </p:sp>
      <p:sp>
        <p:nvSpPr>
          <p:cNvPr id="15" name="">
            <a:extLst xmlns:a="http://schemas.openxmlformats.org/drawingml/2006/main">
              <a:ext uri="{FF2B5EF4-FFF2-40B4-BE49-F238E27FC236}">
                <a16:creationId xmlns:a16="http://schemas.microsoft.com/office/drawing/2014/main" id="{BC51FECA-5D00-41B2-8F4B-0947712AB660}"/>
              </a:ext>
            </a:extLst>
          </p:cNvPr>
          <p:cNvSpPr>
            <a:spLocks xmlns:a="http://schemas.openxmlformats.org/drawingml/2006/main" noGrp="1"/>
          </p:cNvSpPr>
          <p:nvPr/>
        </p:nvSpPr>
        <p:spPr>
          <a:xfrm xmlns:a="http://schemas.openxmlformats.org/drawingml/2006/main">
            <a:off x="6334125" y="4667250"/>
            <a:ext cx="52292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B6676"/>
                </a:solidFill>
                <a:latin typeface="Malgun Gothic"/>
                <a:ea typeface="Malgun Gothic"/>
                <a:cs typeface="Malgun Gothic"/>
              </a:defRPr>
            </a:defPPr>
          </a:lstStyle>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같은 </a:t>
            </a:r>
            <a:r>
              <a:rPr sz="1800" b="0">
                <a:solidFill>
                  <a:srgbClr val="5B6676"/>
                </a:solidFill>
                <a:latin typeface="Times New Roman"/>
                <a:ea typeface="Times New Roman"/>
                <a:cs typeface="Times New Roman"/>
              </a:rPr>
              <a:t>CS</a:t>
            </a:r>
            <a:r>
              <a:rPr sz="1800" b="0">
                <a:solidFill>
                  <a:srgbClr val="5B6676"/>
                </a:solidFill>
                <a:latin typeface="Malgun Gothic"/>
                <a:ea typeface="Malgun Gothic"/>
                <a:cs typeface="Malgun Gothic"/>
              </a:rPr>
              <a:t>여도 다른 상세·작업의 셀은 구분합니다.</a:t>
            </a:r>
          </a:p>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“완전 해결”, “장기 재발 없음”처럼 원문에 없는</a:t>
            </a:r>
          </a:p>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결론까지 확대하지 않아야 합니다.</a:t>
            </a:r>
          </a:p>
        </p:txBody>
      </p:sp>
      <p:sp>
        <p:nvSpPr>
          <p:cNvPr id="16" name="">
            <a:extLst xmlns:a="http://schemas.openxmlformats.org/drawingml/2006/main">
              <a:ext uri="{FF2B5EF4-FFF2-40B4-BE49-F238E27FC236}">
                <a16:creationId xmlns:a16="http://schemas.microsoft.com/office/drawing/2014/main" id="{1FD0F234-9F29-4A57-AB53-242D8CF75135}"/>
              </a:ext>
            </a:extLst>
          </p:cNvPr>
          <p:cNvSpPr>
            <a:spLocks xmlns:a="http://schemas.openxmlformats.org/drawingml/2006/main" noGrp="1"/>
          </p:cNvSpPr>
          <p:nvPr/>
        </p:nvSpPr>
        <p:spPr>
          <a:xfrm xmlns:a="http://schemas.openxmlformats.org/drawingml/2006/main">
            <a:off x="647700" y="60674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B6676"/>
                </a:solidFill>
                <a:latin typeface="Malgun Gothic"/>
                <a:ea typeface="Malgun Gothic"/>
                <a:cs typeface="Malgun Gothic"/>
              </a:defRPr>
            </a:defPPr>
          </a:lstStyle>
          <a:p xmlns:a="http://schemas.openxmlformats.org/drawingml/2006/main">
            <a:pPr algn="l">
              <a:defRPr sz="1650" b="0">
                <a:solidFill>
                  <a:srgbClr val="5B6676"/>
                </a:solidFill>
                <a:latin typeface="Malgun Gothic"/>
                <a:ea typeface="Malgun Gothic"/>
                <a:cs typeface="Malgun Gothic"/>
              </a:defRPr>
            </a:pPr>
            <a:r>
              <a:rPr sz="1650" b="0">
                <a:solidFill>
                  <a:srgbClr val="5B6676"/>
                </a:solidFill>
                <a:latin typeface="Malgun Gothic"/>
                <a:ea typeface="Malgun Gothic"/>
                <a:cs typeface="Malgun Gothic"/>
              </a:rPr>
              <a:t>원문 셀 존재와 규칙 검사가 모든 의미 오류를 보장하지는 않습니다. 최종 조치 판단은 담당자가 합니다.</a:t>
            </a:r>
          </a:p>
        </p:txBody>
      </p:sp>
    </p:spTree>
    <p:extLst>
      <p:ext uri="{BB962C8B-B14F-4D97-AF65-F5344CB8AC3E}">
        <p14:creationId xmlns:p14="http://schemas.microsoft.com/office/powerpoint/2010/main" val="1198105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590E82-F923-470D-803E-B336FA09A571}"/>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238"/>
                </a:solidFill>
                <a:latin typeface="Malgun Gothic"/>
                <a:ea typeface="Malgun Gothic"/>
                <a:cs typeface="Malgun Gothic"/>
              </a:defRPr>
            </a:defPPr>
          </a:lstStyle>
          <a:p xmlns:a="http://schemas.openxmlformats.org/drawingml/2006/main">
            <a:pPr algn="l">
              <a:defRPr sz="3150" b="1">
                <a:solidFill>
                  <a:srgbClr val="142238"/>
                </a:solidFill>
                <a:latin typeface="Malgun Gothic"/>
                <a:ea typeface="Malgun Gothic"/>
                <a:cs typeface="Malgun Gothic"/>
              </a:defRPr>
            </a:pPr>
            <a:r>
              <a:rPr sz="3150" b="1">
                <a:solidFill>
                  <a:srgbClr val="142238"/>
                </a:solidFill>
                <a:latin typeface="Malgun Gothic"/>
                <a:ea typeface="Malgun Gothic"/>
                <a:cs typeface="Malgun Gothic"/>
              </a:rPr>
              <a:t>현장 사용 흐름과 효과를 확인할 항목</a:t>
            </a:r>
          </a:p>
        </p:txBody>
      </p:sp>
      <p:sp>
        <p:nvSpPr>
          <p:cNvPr id="2" name="">
            <a:extLst xmlns:a="http://schemas.openxmlformats.org/drawingml/2006/main">
              <a:ext uri="{FF2B5EF4-FFF2-40B4-BE49-F238E27FC236}">
                <a16:creationId xmlns:a16="http://schemas.microsoft.com/office/drawing/2014/main" id="{6A7E7783-1640-4390-9CB4-3D0CCA650DF6}"/>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관리자는 자료를 등록하고, 사용자는 브라우저에서 문제 현상과 과거 조치를 확인합니다.</a:t>
            </a:r>
          </a:p>
        </p:txBody>
      </p:sp>
      <p:sp>
        <p:nvSpPr>
          <p:cNvPr id="3" name="">
            <a:extLst xmlns:a="http://schemas.openxmlformats.org/drawingml/2006/main">
              <a:ext uri="{FF2B5EF4-FFF2-40B4-BE49-F238E27FC236}">
                <a16:creationId xmlns:a16="http://schemas.microsoft.com/office/drawing/2014/main" id="{74664627-1D4E-426B-9B1E-E8C37D038C6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기능 검사: </a:t>
            </a:r>
            <a:r>
              <a:rPr sz="1200" b="0">
                <a:solidFill>
                  <a:srgbClr val="5B6676"/>
                </a:solidFill>
                <a:latin typeface="Times New Roman"/>
                <a:ea typeface="Times New Roman"/>
                <a:cs typeface="Times New Roman"/>
              </a:rPr>
              <a:t>Mac</a:t>
            </a:r>
            <a:r>
              <a:rPr sz="1200" b="0">
                <a:solidFill>
                  <a:srgbClr val="5B6676"/>
                </a:solidFill>
                <a:latin typeface="Malgun Gothic"/>
                <a:ea typeface="Malgun Gothic"/>
                <a:cs typeface="Malgun Gothic"/>
              </a:rPr>
              <a:t>·가상 자료·모의 모델 · 실제 </a:t>
            </a:r>
            <a:r>
              <a:rPr sz="1200" b="0">
                <a:solidFill>
                  <a:srgbClr val="5B6676"/>
                </a:solidFill>
                <a:latin typeface="Times New Roman"/>
                <a:ea typeface="Times New Roman"/>
                <a:cs typeface="Times New Roman"/>
              </a:rPr>
              <a:t>Windows DRM</a:t>
            </a:r>
            <a:r>
              <a:rPr sz="1200" b="0">
                <a:solidFill>
                  <a:srgbClr val="5B6676"/>
                </a:solidFill>
                <a:latin typeface="Malgun Gothic"/>
                <a:ea typeface="Malgun Gothic"/>
                <a:cs typeface="Malgun Gothic"/>
              </a:rPr>
              <a:t>·</a:t>
            </a:r>
            <a:r>
              <a:rPr sz="1200" b="0">
                <a:solidFill>
                  <a:srgbClr val="5B6676"/>
                </a:solidFill>
                <a:latin typeface="Times New Roman"/>
                <a:ea typeface="Times New Roman"/>
                <a:cs typeface="Times New Roman"/>
              </a:rPr>
              <a:t>120B </a:t>
            </a:r>
            <a:r>
              <a:rPr sz="1200" b="0">
                <a:solidFill>
                  <a:srgbClr val="5B6676"/>
                </a:solidFill>
                <a:latin typeface="Malgun Gothic"/>
                <a:ea typeface="Malgun Gothic"/>
                <a:cs typeface="Malgun Gothic"/>
              </a:rPr>
              <a:t>모델 부하·권한 분리는 추가 확인 · </a:t>
            </a:r>
            <a:r>
              <a:rPr sz="1200" b="0">
                <a:solidFill>
                  <a:srgbClr val="5B6676"/>
                </a:solidFill>
                <a:latin typeface="Times New Roman"/>
                <a:ea typeface="Times New Roman"/>
                <a:cs typeface="Times New Roman"/>
              </a:rPr>
              <a:t>E4, E6</a:t>
            </a:r>
          </a:p>
        </p:txBody>
      </p:sp>
      <p:sp>
        <p:nvSpPr>
          <p:cNvPr id="4" name="">
            <a:extLst xmlns:a="http://schemas.openxmlformats.org/drawingml/2006/main">
              <a:ext uri="{FF2B5EF4-FFF2-40B4-BE49-F238E27FC236}">
                <a16:creationId xmlns:a16="http://schemas.microsoft.com/office/drawing/2014/main" id="{58F7E83E-7A4F-4A24-883F-D0B29D06CE03}"/>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09</a:t>
            </a:r>
          </a:p>
        </p:txBody>
      </p:sp>
      <p:graphicFrame>
        <p:nvGraphicFramePr>
          <p:cNvPr id="5" name="">
            <a:extLst xmlns:a="http://schemas.openxmlformats.org/drawingml/2006/main">
              <a:ext uri="{FF2B5EF4-FFF2-40B4-BE49-F238E27FC236}">
                <a16:creationId xmlns:a16="http://schemas.microsoft.com/office/drawing/2014/main" id="{C79DD93C-28CD-4C04-97B9-B04CDD6FD259}"/>
              </a:ext>
            </a:extLst>
          </p:cNvPr>
          <p:cNvGraphicFramePr/>
          <p:nvPr/>
        </p:nvGraphicFramePr>
        <p:xfrm>
          <a:off xmlns:a="http://schemas.openxmlformats.org/drawingml/2006/main" x="628650" y="1762125"/>
          <a:ext xmlns:a="http://schemas.openxmlformats.org/drawingml/2006/main" cx="10934700" cy="3438525"/>
        </p:xfrm>
        <a:graphic xmlns:a="http://schemas.openxmlformats.org/drawingml/2006/main">
          <a:graphicData uri="http://schemas.openxmlformats.org/drawingml/2006/table">
            <a:tbl>
              <a:tblPr/>
              <a:tblGrid>
                <a:gridCol w="2266950"/>
                <a:gridCol w="4324350"/>
                <a:gridCol w="4343400"/>
              </a:tblGrid>
              <a:tr h="466725">
                <a:tc>
                  <a:txBody>
                    <a:bodyPr lIns="133350" tIns="133350" rIns="133350" bIns="133350">
                      <a:noAutofit/>
                    </a:bodyPr>
                    <a:lstStyle/>
                    <a:p>
                      <a:r>
                        <a:rPr sz="1800" b="1">
                          <a:solidFill>
                            <a:srgbClr val="FFFFFF"/>
                          </a:solidFill>
                          <a:latin typeface="Malgun Gothic"/>
                          <a:ea typeface="Malgun Gothic"/>
                          <a:cs typeface="Malgun Gothic"/>
                        </a:rPr>
                        <a:t>업무 단계</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현재 제공하는 기능</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현장에서 확인할 효과</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990600">
                <a:tc>
                  <a:txBody>
                    <a:bodyPr lIns="133350" tIns="133350" rIns="133350" bIns="133350">
                      <a:noAutofit/>
                    </a:bodyPr>
                    <a:lstStyle/>
                    <a:p>
                      <a:r>
                        <a:rPr sz="1800" b="0">
                          <a:solidFill>
                            <a:srgbClr val="142238"/>
                          </a:solidFill>
                          <a:latin typeface="Malgun Gothic"/>
                          <a:ea typeface="Malgun Gothic"/>
                          <a:cs typeface="Malgun Gothic"/>
                        </a:rPr>
                        <a:t>자료를 계속 추가</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여러 파일 대기, 중복 상세 구분</a:t>
                      </a:r>
                    </a:p>
                    <a:p>
                      <a:r>
                        <a:rPr sz="1800" b="0">
                          <a:solidFill>
                            <a:srgbClr val="142238"/>
                          </a:solidFill>
                          <a:latin typeface="Malgun Gothic"/>
                          <a:ea typeface="Malgun Gothic"/>
                          <a:cs typeface="Malgun Gothic"/>
                        </a:rPr>
                        <a:t>정리·번역·색인과 중단 후 재개</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성공 자료 보존, 실패 사유 확인</a:t>
                      </a:r>
                    </a:p>
                    <a:p>
                      <a:r>
                        <a:rPr sz="1800" b="0">
                          <a:solidFill>
                            <a:srgbClr val="142238"/>
                          </a:solidFill>
                          <a:latin typeface="Malgun Gothic"/>
                          <a:ea typeface="Malgun Gothic"/>
                          <a:cs typeface="Malgun Gothic"/>
                        </a:rPr>
                        <a:t>수동 재작업 시간 측정</a:t>
                      </a:r>
                    </a:p>
                  </a:txBody>
                  <a:tcPr marL="91440" marR="91440" marT="45720" marB="45720" anchor="ctr">
                    <a:lnR w="9525">
                      <a:solidFill>
                        <a:srgbClr val="D8DFE8"/>
                      </a:solidFill>
                    </a:lnR>
                    <a:lnB w="9525">
                      <a:solidFill>
                        <a:srgbClr val="D8DFE8"/>
                      </a:solidFill>
                    </a:lnB>
                    <a:solidFill>
                      <a:srgbClr val="FFFFFF"/>
                    </a:solidFill>
                  </a:tcPr>
                </a:tc>
              </a:tr>
              <a:tr h="990600">
                <a:tc>
                  <a:txBody>
                    <a:bodyPr lIns="133350" tIns="133350" rIns="133350" bIns="133350">
                      <a:noAutofit/>
                    </a:bodyPr>
                    <a:lstStyle/>
                    <a:p>
                      <a:r>
                        <a:rPr sz="1800" b="0">
                          <a:solidFill>
                            <a:srgbClr val="142238"/>
                          </a:solidFill>
                          <a:latin typeface="Malgun Gothic"/>
                          <a:ea typeface="Malgun Gothic"/>
                          <a:cs typeface="Malgun Gothic"/>
                        </a:rPr>
                        <a:t>문제로 과거 이력 조회</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준비 중에도 등록 자료에 질문</a:t>
                      </a:r>
                    </a:p>
                    <a:p>
                      <a:r>
                        <a:rPr sz="1800" b="0">
                          <a:solidFill>
                            <a:srgbClr val="142238"/>
                          </a:solidFill>
                          <a:latin typeface="Times New Roman"/>
                          <a:ea typeface="Times New Roman"/>
                          <a:cs typeface="Times New Roman"/>
                        </a:rPr>
                        <a:t>Clef </a:t>
                      </a:r>
                      <a:r>
                        <a:rPr sz="1800" b="0">
                          <a:solidFill>
                            <a:srgbClr val="142238"/>
                          </a:solidFill>
                          <a:latin typeface="Malgun Gothic"/>
                          <a:ea typeface="Malgun Gothic"/>
                          <a:cs typeface="Malgun Gothic"/>
                        </a:rPr>
                        <a:t>후보 판단과 원문 셀 인용</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정답 근거를 찾는 시간</a:t>
                      </a:r>
                    </a:p>
                    <a:p>
                      <a:r>
                        <a:rPr sz="1800" b="0">
                          <a:solidFill>
                            <a:srgbClr val="142238"/>
                          </a:solidFill>
                          <a:latin typeface="Malgun Gothic"/>
                          <a:ea typeface="Malgun Gothic"/>
                          <a:cs typeface="Malgun Gothic"/>
                        </a:rPr>
                        <a:t>질문 조건이 다른 조치의 혼입 여부</a:t>
                      </a:r>
                    </a:p>
                  </a:txBody>
                  <a:tcPr marL="91440" marR="91440" marT="45720" marB="45720" anchor="ctr">
                    <a:lnR w="9525">
                      <a:solidFill>
                        <a:srgbClr val="D8DFE8"/>
                      </a:solidFill>
                    </a:lnR>
                    <a:lnB w="9525">
                      <a:solidFill>
                        <a:srgbClr val="D8DFE8"/>
                      </a:solidFill>
                    </a:lnB>
                    <a:solidFill>
                      <a:srgbClr val="F6F8FB"/>
                    </a:solidFill>
                  </a:tcPr>
                </a:tc>
              </a:tr>
              <a:tr h="990600">
                <a:tc>
                  <a:txBody>
                    <a:bodyPr lIns="133350" tIns="133350" rIns="133350" bIns="133350">
                      <a:noAutofit/>
                    </a:bodyPr>
                    <a:lstStyle/>
                    <a:p>
                      <a:r>
                        <a:rPr sz="1800" b="0">
                          <a:solidFill>
                            <a:srgbClr val="142238"/>
                          </a:solidFill>
                          <a:latin typeface="Malgun Gothic"/>
                          <a:ea typeface="Malgun Gothic"/>
                          <a:cs typeface="Malgun Gothic"/>
                        </a:rPr>
                        <a:t>다른 부품·설비 이력 확인</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공통 설비·모듈·부품 관계 보기</a:t>
                      </a:r>
                    </a:p>
                    <a:p>
                      <a:r>
                        <a:rPr sz="1800" b="0">
                          <a:solidFill>
                            <a:srgbClr val="142238"/>
                          </a:solidFill>
                          <a:latin typeface="Malgun Gothic"/>
                          <a:ea typeface="Malgun Gothic"/>
                          <a:cs typeface="Malgun Gothic"/>
                        </a:rPr>
                        <a:t>예정·재발·결과 미확인 원문 유지</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타 설비의 이력 재사용 가능성</a:t>
                      </a:r>
                    </a:p>
                    <a:p>
                      <a:r>
                        <a:rPr sz="1800" b="0">
                          <a:solidFill>
                            <a:srgbClr val="142238"/>
                          </a:solidFill>
                          <a:latin typeface="Malgun Gothic"/>
                          <a:ea typeface="Malgun Gothic"/>
                          <a:cs typeface="Malgun Gothic"/>
                        </a:rPr>
                        <a:t>실제 적용 전에 조건 차이 확인</a:t>
                      </a:r>
                    </a:p>
                  </a:txBody>
                  <a:tcPr marL="91440" marR="91440" marT="45720" marB="45720" anchor="ctr">
                    <a:lnR w="9525">
                      <a:solidFill>
                        <a:srgbClr val="D8DFE8"/>
                      </a:solidFill>
                    </a:lnR>
                    <a:lnB w="9525">
                      <a:solidFill>
                        <a:srgbClr val="D8DFE8"/>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145FC7F-B9ED-4E73-9E65-C5585727745E}"/>
              </a:ext>
            </a:extLst>
          </p:cNvPr>
          <p:cNvSpPr>
            <a:spLocks xmlns:a="http://schemas.openxmlformats.org/drawingml/2006/main" noGrp="1"/>
          </p:cNvSpPr>
          <p:nvPr/>
        </p:nvSpPr>
        <p:spPr>
          <a:xfrm xmlns:a="http://schemas.openxmlformats.org/drawingml/2006/main">
            <a:off x="657225" y="5495925"/>
            <a:ext cx="10848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459C7"/>
                </a:solidFill>
                <a:latin typeface="Malgun Gothic"/>
                <a:ea typeface="Malgun Gothic"/>
                <a:cs typeface="Malgun Gothic"/>
              </a:defRPr>
            </a:defPPr>
          </a:lstStyle>
          <a:p xmlns:a="http://schemas.openxmlformats.org/drawingml/2006/main">
            <a:pPr algn="l">
              <a:defRPr sz="2325" b="1">
                <a:solidFill>
                  <a:srgbClr val="1459C7"/>
                </a:solidFill>
                <a:latin typeface="Malgun Gothic"/>
                <a:ea typeface="Malgun Gothic"/>
                <a:cs typeface="Malgun Gothic"/>
              </a:defRPr>
            </a:pPr>
            <a:r>
              <a:rPr sz="2325" b="1">
                <a:solidFill>
                  <a:srgbClr val="1459C7"/>
                </a:solidFill>
                <a:latin typeface="Malgun Gothic"/>
                <a:ea typeface="Malgun Gothic"/>
                <a:cs typeface="Malgun Gothic"/>
              </a:rPr>
              <a:t>작업 복구 </a:t>
            </a:r>
            <a:r>
              <a:rPr sz="2325" b="1">
                <a:solidFill>
                  <a:srgbClr val="1459C7"/>
                </a:solidFill>
                <a:latin typeface="Times New Roman"/>
                <a:ea typeface="Times New Roman"/>
                <a:cs typeface="Times New Roman"/>
              </a:rPr>
              <a:t>14/14 </a:t>
            </a:r>
            <a:r>
              <a:rPr sz="2325" b="1">
                <a:solidFill>
                  <a:srgbClr val="1459C7"/>
                </a:solidFill>
                <a:latin typeface="Malgun Gothic"/>
                <a:ea typeface="Malgun Gothic"/>
                <a:cs typeface="Malgun Gothic"/>
              </a:rPr>
              <a:t>통과 · 동시 처리 </a:t>
            </a:r>
            <a:r>
              <a:rPr sz="2325" b="1">
                <a:solidFill>
                  <a:srgbClr val="1459C7"/>
                </a:solidFill>
                <a:latin typeface="Times New Roman"/>
                <a:ea typeface="Times New Roman"/>
                <a:cs typeface="Times New Roman"/>
              </a:rPr>
              <a:t>7/7 </a:t>
            </a:r>
            <a:r>
              <a:rPr sz="2325" b="1">
                <a:solidFill>
                  <a:srgbClr val="1459C7"/>
                </a:solidFill>
                <a:latin typeface="Malgun Gothic"/>
                <a:ea typeface="Malgun Gothic"/>
                <a:cs typeface="Malgun Gothic"/>
              </a:rPr>
              <a:t>통과</a:t>
            </a:r>
          </a:p>
        </p:txBody>
      </p:sp>
      <p:sp>
        <p:nvSpPr>
          <p:cNvPr id="7" name="">
            <a:extLst xmlns:a="http://schemas.openxmlformats.org/drawingml/2006/main">
              <a:ext uri="{FF2B5EF4-FFF2-40B4-BE49-F238E27FC236}">
                <a16:creationId xmlns:a16="http://schemas.microsoft.com/office/drawing/2014/main" id="{2D711A3F-DD3A-401F-A77E-4B7C6308EC47}"/>
              </a:ext>
            </a:extLst>
          </p:cNvPr>
          <p:cNvSpPr>
            <a:spLocks xmlns:a="http://schemas.openxmlformats.org/drawingml/2006/main" noGrp="1"/>
          </p:cNvSpPr>
          <p:nvPr/>
        </p:nvSpPr>
        <p:spPr>
          <a:xfrm xmlns:a="http://schemas.openxmlformats.org/drawingml/2006/main">
            <a:off x="657225" y="6019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B6676"/>
                </a:solidFill>
                <a:latin typeface="Malgun Gothic"/>
                <a:ea typeface="Malgun Gothic"/>
                <a:cs typeface="Malgun Gothic"/>
              </a:defRPr>
            </a:defPPr>
          </a:lstStyle>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위 건수는 기능 검사 수입니다. 동시 사용자 수나 현장 정답률을 뜻하지 않습니다.</a:t>
            </a:r>
          </a:p>
        </p:txBody>
      </p:sp>
    </p:spTree>
    <p:extLst>
      <p:ext uri="{BB962C8B-B14F-4D97-AF65-F5344CB8AC3E}">
        <p14:creationId xmlns:p14="http://schemas.microsoft.com/office/powerpoint/2010/main" val="1000318000"/>
      </p:ext>
    </p:extLst>
  </p:cSld>
</p:sld>
</file>

<file path=ppt/slides/slide10.xml><?xml version="1.0" encoding="utf-8"?>
<p:sld xmlns:p="http://schemas.openxmlformats.org/presentationml/2006/main">
  <p:cSld>
    <p:bg>
      <p:bgPr>
        <a:solidFill xmlns:a="http://schemas.openxmlformats.org/drawingml/2006/main">
          <a:srgbClr val="14223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8ACA7E-D2E7-4045-B2C7-4A37AE5E0E31}"/>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Malgun Gothic"/>
                <a:ea typeface="Malgun Gothic"/>
                <a:cs typeface="Malgun Gothic"/>
              </a:defRPr>
            </a:defPPr>
          </a:lstStyle>
          <a:p xmlns:a="http://schemas.openxmlformats.org/drawingml/2006/main">
            <a:pPr algn="l">
              <a:defRPr sz="3150" b="1">
                <a:solidFill>
                  <a:srgbClr val="FFFFFF"/>
                </a:solidFill>
                <a:latin typeface="Malgun Gothic"/>
                <a:ea typeface="Malgun Gothic"/>
                <a:cs typeface="Malgun Gothic"/>
              </a:defRPr>
            </a:pPr>
            <a:r>
              <a:rPr sz="3150" b="1">
                <a:solidFill>
                  <a:srgbClr val="FFFFFF"/>
                </a:solidFill>
                <a:latin typeface="Times New Roman"/>
                <a:ea typeface="Times New Roman"/>
                <a:cs typeface="Times New Roman"/>
              </a:rPr>
              <a:t>CS </a:t>
            </a:r>
            <a:r>
              <a:rPr sz="3150" b="1">
                <a:solidFill>
                  <a:srgbClr val="FFFFFF"/>
                </a:solidFill>
                <a:latin typeface="Malgun Gothic"/>
                <a:ea typeface="Malgun Gothic"/>
                <a:cs typeface="Malgun Gothic"/>
              </a:rPr>
              <a:t>업무에 맞춘 근거 선택·관계 설명·원문 확인</a:t>
            </a:r>
          </a:p>
        </p:txBody>
      </p:sp>
      <p:sp>
        <p:nvSpPr>
          <p:cNvPr id="2" name="">
            <a:extLst xmlns:a="http://schemas.openxmlformats.org/drawingml/2006/main">
              <a:ext uri="{FF2B5EF4-FFF2-40B4-BE49-F238E27FC236}">
                <a16:creationId xmlns:a16="http://schemas.microsoft.com/office/drawing/2014/main" id="{12A8B89F-B4E1-4C0C-9B24-1240A69D71FD}"/>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4D3E7"/>
                </a:solidFill>
                <a:latin typeface="Malgun Gothic"/>
                <a:ea typeface="Malgun Gothic"/>
                <a:cs typeface="Malgun Gothic"/>
              </a:defRPr>
            </a:defPPr>
          </a:lstStyle>
          <a:p xmlns:a="http://schemas.openxmlformats.org/drawingml/2006/main">
            <a:pPr algn="l">
              <a:defRPr sz="1725" b="0">
                <a:solidFill>
                  <a:srgbClr val="C4D3E7"/>
                </a:solidFill>
                <a:latin typeface="Malgun Gothic"/>
                <a:ea typeface="Malgun Gothic"/>
                <a:cs typeface="Malgun Gothic"/>
              </a:defRPr>
            </a:pPr>
            <a:r>
              <a:rPr sz="1725" b="0">
                <a:solidFill>
                  <a:srgbClr val="C4D3E7"/>
                </a:solidFill>
                <a:latin typeface="Malgun Gothic"/>
                <a:ea typeface="Malgun Gothic"/>
                <a:cs typeface="Malgun Gothic"/>
              </a:rPr>
              <a:t>공개 모델을 </a:t>
            </a:r>
            <a:r>
              <a:rPr sz="1725" b="0">
                <a:solidFill>
                  <a:srgbClr val="C4D3E7"/>
                </a:solidFill>
                <a:latin typeface="Times New Roman"/>
                <a:ea typeface="Times New Roman"/>
                <a:cs typeface="Times New Roman"/>
              </a:rPr>
              <a:t>CS </a:t>
            </a:r>
            <a:r>
              <a:rPr sz="1725" b="0">
                <a:solidFill>
                  <a:srgbClr val="C4D3E7"/>
                </a:solidFill>
                <a:latin typeface="Malgun Gothic"/>
                <a:ea typeface="Malgun Gothic"/>
                <a:cs typeface="Malgun Gothic"/>
              </a:rPr>
              <a:t>상세 구조와 운영 흐름에 결합한 서비스입니다.</a:t>
            </a:r>
          </a:p>
        </p:txBody>
      </p:sp>
      <p:sp>
        <p:nvSpPr>
          <p:cNvPr id="3" name="">
            <a:extLst xmlns:a="http://schemas.openxmlformats.org/drawingml/2006/main">
              <a:ext uri="{FF2B5EF4-FFF2-40B4-BE49-F238E27FC236}">
                <a16:creationId xmlns:a16="http://schemas.microsoft.com/office/drawing/2014/main" id="{5BDFA79A-7EA3-488C-82A3-57F15C56B439}"/>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ACAE0"/>
                </a:solidFill>
                <a:latin typeface="Malgun Gothic"/>
                <a:ea typeface="Malgun Gothic"/>
                <a:cs typeface="Malgun Gothic"/>
              </a:defRPr>
            </a:defPPr>
          </a:lstStyle>
          <a:p xmlns:a="http://schemas.openxmlformats.org/drawingml/2006/main">
            <a:pPr algn="l">
              <a:defRPr sz="1200" b="0">
                <a:solidFill>
                  <a:srgbClr val="BACAE0"/>
                </a:solidFill>
                <a:latin typeface="Malgun Gothic"/>
                <a:ea typeface="Malgun Gothic"/>
                <a:cs typeface="Malgun Gothic"/>
              </a:defRPr>
            </a:pPr>
            <a:r>
              <a:rPr sz="1200" b="0">
                <a:solidFill>
                  <a:srgbClr val="BACAE0"/>
                </a:solidFill>
                <a:latin typeface="Times New Roman"/>
                <a:ea typeface="Times New Roman"/>
                <a:cs typeface="Times New Roman"/>
              </a:rPr>
              <a:t>2026.10.14 </a:t>
            </a:r>
            <a:r>
              <a:rPr sz="1200" b="0">
                <a:solidFill>
                  <a:srgbClr val="BACAE0"/>
                </a:solidFill>
                <a:latin typeface="Malgun Gothic"/>
                <a:ea typeface="Malgun Gothic"/>
                <a:cs typeface="Malgun Gothic"/>
              </a:rPr>
              <a:t>기준 · </a:t>
            </a:r>
            <a:r>
              <a:rPr sz="1200" b="0">
                <a:solidFill>
                  <a:srgbClr val="BACAE0"/>
                </a:solidFill>
                <a:latin typeface="Times New Roman"/>
                <a:ea typeface="Times New Roman"/>
                <a:cs typeface="Times New Roman"/>
              </a:rPr>
              <a:t>AI </a:t>
            </a:r>
            <a:r>
              <a:rPr sz="1200" b="0">
                <a:solidFill>
                  <a:srgbClr val="BACAE0"/>
                </a:solidFill>
                <a:latin typeface="Malgun Gothic"/>
                <a:ea typeface="Malgun Gothic"/>
                <a:cs typeface="Malgun Gothic"/>
              </a:rPr>
              <a:t>분과 공지에 맞춰 평가 항목과 제출 증빙을 조정</a:t>
            </a:r>
          </a:p>
        </p:txBody>
      </p:sp>
      <p:sp>
        <p:nvSpPr>
          <p:cNvPr id="4" name="">
            <a:extLst xmlns:a="http://schemas.openxmlformats.org/drawingml/2006/main">
              <a:ext uri="{FF2B5EF4-FFF2-40B4-BE49-F238E27FC236}">
                <a16:creationId xmlns:a16="http://schemas.microsoft.com/office/drawing/2014/main" id="{D31E0436-14AD-4C95-B712-812B346BBFE0}"/>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BACAE0"/>
                </a:solidFill>
                <a:latin typeface="Malgun Gothic"/>
                <a:ea typeface="Malgun Gothic"/>
                <a:cs typeface="Malgun Gothic"/>
              </a:defRPr>
            </a:defPPr>
          </a:lstStyle>
          <a:p xmlns:a="http://schemas.openxmlformats.org/drawingml/2006/main">
            <a:pPr algn="r">
              <a:defRPr sz="1650" b="0">
                <a:solidFill>
                  <a:srgbClr val="BACAE0"/>
                </a:solidFill>
                <a:latin typeface="Malgun Gothic"/>
                <a:ea typeface="Malgun Gothic"/>
                <a:cs typeface="Malgun Gothic"/>
              </a:defRPr>
            </a:pPr>
            <a:r>
              <a:rPr sz="1650" b="0">
                <a:solidFill>
                  <a:srgbClr val="BACAE0"/>
                </a:solidFill>
                <a:latin typeface="Times New Roman"/>
                <a:ea typeface="Times New Roman"/>
                <a:cs typeface="Times New Roman"/>
              </a:rPr>
              <a:t>10</a:t>
            </a:r>
          </a:p>
        </p:txBody>
      </p:sp>
      <p:sp>
        <p:nvSpPr>
          <p:cNvPr id="5" name="">
            <a:extLst xmlns:a="http://schemas.openxmlformats.org/drawingml/2006/main">
              <a:ext uri="{FF2B5EF4-FFF2-40B4-BE49-F238E27FC236}">
                <a16:creationId xmlns:a16="http://schemas.microsoft.com/office/drawing/2014/main" id="{77D8D80D-A226-40EE-9060-359E4843A377}"/>
              </a:ext>
            </a:extLst>
          </p:cNvPr>
          <p:cNvSpPr>
            <a:spLocks xmlns:a="http://schemas.openxmlformats.org/drawingml/2006/main" noGrp="1"/>
          </p:cNvSpPr>
          <p:nvPr/>
        </p:nvSpPr>
        <p:spPr>
          <a:xfrm xmlns:a="http://schemas.openxmlformats.org/drawingml/2006/main">
            <a:off x="657225" y="1971675"/>
            <a:ext cx="5153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FB6EF"/>
                </a:solidFill>
                <a:latin typeface="Malgun Gothic"/>
                <a:ea typeface="Malgun Gothic"/>
                <a:cs typeface="Malgun Gothic"/>
              </a:defRPr>
            </a:defPPr>
          </a:lstStyle>
          <a:p xmlns:a="http://schemas.openxmlformats.org/drawingml/2006/main">
            <a:pPr algn="l">
              <a:defRPr sz="2100" b="1">
                <a:solidFill>
                  <a:srgbClr val="8FB6EF"/>
                </a:solidFill>
                <a:latin typeface="Malgun Gothic"/>
                <a:ea typeface="Malgun Gothic"/>
                <a:cs typeface="Malgun Gothic"/>
              </a:defRPr>
            </a:pPr>
            <a:r>
              <a:rPr sz="2100" b="1">
                <a:solidFill>
                  <a:srgbClr val="8FB6EF"/>
                </a:solidFill>
                <a:latin typeface="Malgun Gothic"/>
                <a:ea typeface="Malgun Gothic"/>
                <a:cs typeface="Malgun Gothic"/>
              </a:rPr>
              <a:t>추가한 기술과 역할</a:t>
            </a:r>
          </a:p>
        </p:txBody>
      </p:sp>
      <p:sp>
        <p:nvSpPr>
          <p:cNvPr id="6" name="">
            <a:extLst xmlns:a="http://schemas.openxmlformats.org/drawingml/2006/main">
              <a:ext uri="{FF2B5EF4-FFF2-40B4-BE49-F238E27FC236}">
                <a16:creationId xmlns:a16="http://schemas.microsoft.com/office/drawing/2014/main" id="{5CDFD87C-0BFB-4100-8317-6E72524FBCEA}"/>
              </a:ext>
            </a:extLst>
          </p:cNvPr>
          <p:cNvSpPr>
            <a:spLocks xmlns:a="http://schemas.openxmlformats.org/drawingml/2006/main" noGrp="1"/>
          </p:cNvSpPr>
          <p:nvPr/>
        </p:nvSpPr>
        <p:spPr>
          <a:xfrm xmlns:a="http://schemas.openxmlformats.org/drawingml/2006/main">
            <a:off x="657225" y="2609850"/>
            <a:ext cx="52863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Malgun Gothic"/>
                <a:ea typeface="Malgun Gothic"/>
                <a:cs typeface="Malgun Gothic"/>
              </a:defRPr>
            </a:defPPr>
          </a:lstStyle>
          <a:p xmlns:a="http://schemas.openxmlformats.org/drawingml/2006/main">
            <a:pPr algn="l">
              <a:defRPr sz="2175" b="0">
                <a:solidFill>
                  <a:srgbClr val="FFFFFF"/>
                </a:solidFill>
                <a:latin typeface="Malgun Gothic"/>
                <a:ea typeface="Malgun Gothic"/>
                <a:cs typeface="Malgun Gothic"/>
              </a:defRPr>
            </a:pPr>
            <a:r>
              <a:rPr sz="2175" b="0">
                <a:solidFill>
                  <a:srgbClr val="FFFFFF"/>
                </a:solidFill>
                <a:latin typeface="Times New Roman"/>
                <a:ea typeface="Times New Roman"/>
                <a:cs typeface="Times New Roman"/>
              </a:rPr>
              <a:t>Clef: </a:t>
            </a:r>
            <a:r>
              <a:rPr sz="2175" b="0">
                <a:solidFill>
                  <a:srgbClr val="FFFFFF"/>
                </a:solidFill>
                <a:latin typeface="Malgun Gothic"/>
                <a:ea typeface="Malgun Gothic"/>
                <a:cs typeface="Malgun Gothic"/>
              </a:rPr>
              <a:t>질문과 후보를 함께 판단</a:t>
            </a:r>
          </a:p>
          <a:p xmlns:a="http://schemas.openxmlformats.org/drawingml/2006/main">
            <a:pPr algn="l">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관계 그래프: 공통 부품의 이력을 연결</a:t>
            </a:r>
          </a:p>
          <a:p xmlns:a="http://schemas.openxmlformats.org/drawingml/2006/main">
            <a:pPr algn="l">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원문 셀: 조치·수치·날짜의 근거 확인</a:t>
            </a:r>
          </a:p>
        </p:txBody>
      </p:sp>
      <p:sp>
        <p:nvSpPr>
          <p:cNvPr id="7" name="">
            <a:extLst xmlns:a="http://schemas.openxmlformats.org/drawingml/2006/main">
              <a:ext uri="{FF2B5EF4-FFF2-40B4-BE49-F238E27FC236}">
                <a16:creationId xmlns:a16="http://schemas.microsoft.com/office/drawing/2014/main" id="{FB6727FF-1B7E-4284-B880-4176EB1F08CF}"/>
              </a:ext>
            </a:extLst>
          </p:cNvPr>
          <p:cNvSpPr>
            <a:spLocks xmlns:a="http://schemas.openxmlformats.org/drawingml/2006/main" noGrp="1"/>
          </p:cNvSpPr>
          <p:nvPr/>
        </p:nvSpPr>
        <p:spPr>
          <a:xfrm xmlns:a="http://schemas.openxmlformats.org/drawingml/2006/main">
            <a:off x="6600825" y="1971675"/>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FB6EF"/>
                </a:solidFill>
                <a:latin typeface="Malgun Gothic"/>
                <a:ea typeface="Malgun Gothic"/>
                <a:cs typeface="Malgun Gothic"/>
              </a:defRPr>
            </a:defPPr>
          </a:lstStyle>
          <a:p xmlns:a="http://schemas.openxmlformats.org/drawingml/2006/main">
            <a:pPr algn="l">
              <a:defRPr sz="2100" b="1">
                <a:solidFill>
                  <a:srgbClr val="8FB6EF"/>
                </a:solidFill>
                <a:latin typeface="Malgun Gothic"/>
                <a:ea typeface="Malgun Gothic"/>
                <a:cs typeface="Malgun Gothic"/>
              </a:defRPr>
            </a:pPr>
            <a:r>
              <a:rPr sz="2100" b="1">
                <a:solidFill>
                  <a:srgbClr val="8FB6EF"/>
                </a:solidFill>
                <a:latin typeface="Malgun Gothic"/>
                <a:ea typeface="Malgun Gothic"/>
                <a:cs typeface="Malgun Gothic"/>
              </a:rPr>
              <a:t>합성 개발 평가와 기능 검사</a:t>
            </a:r>
          </a:p>
        </p:txBody>
      </p:sp>
      <p:sp>
        <p:nvSpPr>
          <p:cNvPr id="8" name="">
            <a:extLst xmlns:a="http://schemas.openxmlformats.org/drawingml/2006/main">
              <a:ext uri="{FF2B5EF4-FFF2-40B4-BE49-F238E27FC236}">
                <a16:creationId xmlns:a16="http://schemas.microsoft.com/office/drawing/2014/main" id="{141B3271-7AE3-48D9-801C-7A3232EB75E5}"/>
              </a:ext>
            </a:extLst>
          </p:cNvPr>
          <p:cNvSpPr>
            <a:spLocks xmlns:a="http://schemas.openxmlformats.org/drawingml/2006/main" noGrp="1"/>
          </p:cNvSpPr>
          <p:nvPr/>
        </p:nvSpPr>
        <p:spPr>
          <a:xfrm xmlns:a="http://schemas.openxmlformats.org/drawingml/2006/main">
            <a:off x="6600825" y="2609850"/>
            <a:ext cx="49053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Malgun Gothic"/>
                <a:ea typeface="Malgun Gothic"/>
                <a:cs typeface="Malgun Gothic"/>
              </a:defRPr>
            </a:defPPr>
          </a:lstStyle>
          <a:p xmlns:a="http://schemas.openxmlformats.org/drawingml/2006/main">
            <a:pPr algn="l">
              <a:defRPr sz="2175" b="0">
                <a:solidFill>
                  <a:srgbClr val="FFFFFF"/>
                </a:solidFill>
                <a:latin typeface="Malgun Gothic"/>
                <a:ea typeface="Malgun Gothic"/>
                <a:cs typeface="Malgun Gothic"/>
              </a:defRPr>
            </a:pPr>
            <a:r>
              <a:rPr sz="2175" b="0">
                <a:solidFill>
                  <a:srgbClr val="FFFFFF"/>
                </a:solidFill>
                <a:latin typeface="Times New Roman"/>
                <a:ea typeface="Times New Roman"/>
                <a:cs typeface="Times New Roman"/>
              </a:rPr>
              <a:t>Clef </a:t>
            </a:r>
            <a:r>
              <a:rPr sz="2175" b="0">
                <a:solidFill>
                  <a:srgbClr val="FFFFFF"/>
                </a:solidFill>
                <a:latin typeface="Malgun Gothic"/>
                <a:ea typeface="Malgun Gothic"/>
                <a:cs typeface="Malgun Gothic"/>
              </a:rPr>
              <a:t>첫 정답 </a:t>
            </a:r>
            <a:r>
              <a:rPr sz="2175" b="0">
                <a:solidFill>
                  <a:srgbClr val="FFFFFF"/>
                </a:solidFill>
                <a:latin typeface="Times New Roman"/>
                <a:ea typeface="Times New Roman"/>
                <a:cs typeface="Times New Roman"/>
              </a:rPr>
              <a:t>5/8</a:t>
            </a:r>
            <a:r>
              <a:rPr sz="2175" b="0">
                <a:solidFill>
                  <a:srgbClr val="FFFFFF"/>
                </a:solidFill>
                <a:latin typeface="Malgun Gothic"/>
                <a:ea typeface="Malgun Gothic"/>
                <a:cs typeface="Malgun Gothic"/>
              </a:rPr>
              <a:t>에서 </a:t>
            </a:r>
            <a:r>
              <a:rPr sz="2175" b="0">
                <a:solidFill>
                  <a:srgbClr val="FFFFFF"/>
                </a:solidFill>
                <a:latin typeface="Times New Roman"/>
                <a:ea typeface="Times New Roman"/>
                <a:cs typeface="Times New Roman"/>
              </a:rPr>
              <a:t>8/8</a:t>
            </a:r>
          </a:p>
          <a:p xmlns:a="http://schemas.openxmlformats.org/drawingml/2006/main">
            <a:pPr algn="l">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관계 보완 첫 정답 </a:t>
            </a:r>
            <a:r>
              <a:rPr sz="2175" b="0">
                <a:solidFill>
                  <a:srgbClr val="FFFFFF"/>
                </a:solidFill>
                <a:latin typeface="Times New Roman"/>
                <a:ea typeface="Times New Roman"/>
                <a:cs typeface="Times New Roman"/>
              </a:rPr>
              <a:t>32/34</a:t>
            </a:r>
            <a:r>
              <a:rPr sz="2175" b="0">
                <a:solidFill>
                  <a:srgbClr val="FFFFFF"/>
                </a:solidFill>
                <a:latin typeface="Malgun Gothic"/>
                <a:ea typeface="Malgun Gothic"/>
                <a:cs typeface="Malgun Gothic"/>
              </a:rPr>
              <a:t>에서 </a:t>
            </a:r>
            <a:r>
              <a:rPr sz="2175" b="0">
                <a:solidFill>
                  <a:srgbClr val="FFFFFF"/>
                </a:solidFill>
                <a:latin typeface="Times New Roman"/>
                <a:ea typeface="Times New Roman"/>
                <a:cs typeface="Times New Roman"/>
              </a:rPr>
              <a:t>34/34</a:t>
            </a:r>
          </a:p>
          <a:p xmlns:a="http://schemas.openxmlformats.org/drawingml/2006/main">
            <a:pPr algn="l">
              <a:defRPr sz="2175" b="0">
                <a:solidFill>
                  <a:srgbClr val="FFFFFF"/>
                </a:solidFill>
                <a:latin typeface="Malgun Gothic"/>
                <a:ea typeface="Malgun Gothic"/>
                <a:cs typeface="Malgun Gothic"/>
              </a:defRPr>
            </a:pPr>
            <a:r>
              <a:rPr sz="2175" b="0">
                <a:solidFill>
                  <a:srgbClr val="FFFFFF"/>
                </a:solidFill>
                <a:latin typeface="Malgun Gothic"/>
                <a:ea typeface="Malgun Gothic"/>
                <a:cs typeface="Malgun Gothic"/>
              </a:rPr>
              <a:t>작업 복구와 준비 중 질문 기능 확인</a:t>
            </a:r>
          </a:p>
        </p:txBody>
      </p:sp>
      <p:sp>
        <p:nvSpPr>
          <p:cNvPr id="9" name="">
            <a:extLst xmlns:a="http://schemas.openxmlformats.org/drawingml/2006/main">
              <a:ext uri="{FF2B5EF4-FFF2-40B4-BE49-F238E27FC236}">
                <a16:creationId xmlns:a16="http://schemas.microsoft.com/office/drawing/2014/main" id="{C829196F-9E17-4738-86E9-39677908FCF3}"/>
              </a:ext>
            </a:extLst>
          </p:cNvPr>
          <p:cNvSpPr>
            <a:spLocks xmlns:a="http://schemas.openxmlformats.org/drawingml/2006/main" noGrp="1"/>
          </p:cNvSpPr>
          <p:nvPr/>
        </p:nvSpPr>
        <p:spPr>
          <a:xfrm xmlns:a="http://schemas.openxmlformats.org/drawingml/2006/main">
            <a:off x="657225" y="4772025"/>
            <a:ext cx="10848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BBD5FA"/>
                </a:solidFill>
                <a:latin typeface="Malgun Gothic"/>
                <a:ea typeface="Malgun Gothic"/>
                <a:cs typeface="Malgun Gothic"/>
              </a:defRPr>
            </a:defPPr>
          </a:lstStyle>
          <a:p xmlns:a="http://schemas.openxmlformats.org/drawingml/2006/main">
            <a:pPr algn="l">
              <a:defRPr sz="2400" b="1">
                <a:solidFill>
                  <a:srgbClr val="BBD5FA"/>
                </a:solidFill>
                <a:latin typeface="Malgun Gothic"/>
                <a:ea typeface="Malgun Gothic"/>
                <a:cs typeface="Malgun Gothic"/>
              </a:defRPr>
            </a:pPr>
            <a:r>
              <a:rPr sz="2400" b="1">
                <a:solidFill>
                  <a:srgbClr val="BBD5FA"/>
                </a:solidFill>
                <a:latin typeface="Malgun Gothic"/>
                <a:ea typeface="Malgun Gothic"/>
                <a:cs typeface="Malgun Gothic"/>
              </a:rPr>
              <a:t>다음 판단: 한 설비군의 새 현장 질문 </a:t>
            </a:r>
            <a:r>
              <a:rPr sz="2400" b="1">
                <a:solidFill>
                  <a:srgbClr val="BBD5FA"/>
                </a:solidFill>
                <a:latin typeface="Times New Roman"/>
                <a:ea typeface="Times New Roman"/>
                <a:cs typeface="Times New Roman"/>
              </a:rPr>
              <a:t>50</a:t>
            </a:r>
            <a:r>
              <a:rPr sz="2400" b="1">
                <a:solidFill>
                  <a:srgbClr val="BBD5FA"/>
                </a:solidFill>
                <a:latin typeface="Malgun Gothic"/>
                <a:ea typeface="Malgun Gothic"/>
                <a:cs typeface="Malgun Gothic"/>
              </a:rPr>
              <a:t>개로 시범 평가</a:t>
            </a:r>
          </a:p>
        </p:txBody>
      </p:sp>
      <p:sp>
        <p:nvSpPr>
          <p:cNvPr id="10" name="">
            <a:extLst xmlns:a="http://schemas.openxmlformats.org/drawingml/2006/main">
              <a:ext uri="{FF2B5EF4-FFF2-40B4-BE49-F238E27FC236}">
                <a16:creationId xmlns:a16="http://schemas.microsoft.com/office/drawing/2014/main" id="{8EAB6AC6-D6AF-4836-A855-8E855CC66F2C}"/>
              </a:ext>
            </a:extLst>
          </p:cNvPr>
          <p:cNvSpPr>
            <a:spLocks xmlns:a="http://schemas.openxmlformats.org/drawingml/2006/main" noGrp="1"/>
          </p:cNvSpPr>
          <p:nvPr/>
        </p:nvSpPr>
        <p:spPr>
          <a:xfrm xmlns:a="http://schemas.openxmlformats.org/drawingml/2006/main">
            <a:off x="657225" y="54959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3DEED"/>
                </a:solidFill>
                <a:latin typeface="Malgun Gothic"/>
                <a:ea typeface="Malgun Gothic"/>
                <a:cs typeface="Malgun Gothic"/>
              </a:defRPr>
            </a:defPPr>
          </a:lstStyle>
          <a:p xmlns:a="http://schemas.openxmlformats.org/drawingml/2006/main">
            <a:pPr algn="l">
              <a:defRPr sz="1875" b="0">
                <a:solidFill>
                  <a:srgbClr val="D3DEED"/>
                </a:solidFill>
                <a:latin typeface="Malgun Gothic"/>
                <a:ea typeface="Malgun Gothic"/>
                <a:cs typeface="Malgun Gothic"/>
              </a:defRPr>
            </a:pPr>
            <a:r>
              <a:rPr sz="1875" b="0">
                <a:solidFill>
                  <a:srgbClr val="D3DEED"/>
                </a:solidFill>
                <a:latin typeface="Times New Roman"/>
                <a:ea typeface="Times New Roman"/>
                <a:cs typeface="Times New Roman"/>
              </a:rPr>
              <a:t>Excel </a:t>
            </a:r>
            <a:r>
              <a:rPr sz="1875" b="0">
                <a:solidFill>
                  <a:srgbClr val="D3DEED"/>
                </a:solidFill>
                <a:latin typeface="Malgun Gothic"/>
                <a:ea typeface="Malgun Gothic"/>
                <a:cs typeface="Malgun Gothic"/>
              </a:rPr>
              <a:t>검색·</a:t>
            </a:r>
            <a:r>
              <a:rPr sz="1875" b="0">
                <a:solidFill>
                  <a:srgbClr val="D3DEED"/>
                </a:solidFill>
                <a:latin typeface="Times New Roman"/>
                <a:ea typeface="Times New Roman"/>
                <a:cs typeface="Times New Roman"/>
              </a:rPr>
              <a:t>Clef </a:t>
            </a:r>
            <a:r>
              <a:rPr sz="1875" b="0">
                <a:solidFill>
                  <a:srgbClr val="D3DEED"/>
                </a:solidFill>
                <a:latin typeface="Malgun Gothic"/>
                <a:ea typeface="Malgun Gothic"/>
                <a:cs typeface="Malgun Gothic"/>
              </a:rPr>
              <a:t>미적용·적용을 비교해 정답 근거 탐색 시간과 잘못된 조치 안내를 측정합니다.</a:t>
            </a:r>
          </a:p>
          <a:p xmlns:a="http://schemas.openxmlformats.org/drawingml/2006/main">
            <a:pPr algn="l">
              <a:defRPr sz="1875" b="0">
                <a:solidFill>
                  <a:srgbClr val="D3DEED"/>
                </a:solidFill>
                <a:latin typeface="Malgun Gothic"/>
                <a:ea typeface="Malgun Gothic"/>
                <a:cs typeface="Malgun Gothic"/>
              </a:defRPr>
            </a:pPr>
            <a:r>
              <a:rPr sz="1875" b="0">
                <a:solidFill>
                  <a:srgbClr val="D3DEED"/>
                </a:solidFill>
                <a:latin typeface="Malgun Gothic"/>
                <a:ea typeface="Malgun Gothic"/>
                <a:cs typeface="Malgun Gothic"/>
              </a:rPr>
              <a:t>그 결과로 양산 적용과 타 설비 확산 여부를 결정합니다.</a:t>
            </a:r>
          </a:p>
        </p:txBody>
      </p:sp>
    </p:spTree>
    <p:extLst>
      <p:ext uri="{BB962C8B-B14F-4D97-AF65-F5344CB8AC3E}">
        <p14:creationId xmlns:p14="http://schemas.microsoft.com/office/powerpoint/2010/main" val="16846109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2026-10-13T23:33:54.2460000Z</dcterms:created>
  <dcterms:modified xsi:type="dcterms:W3CDTF">2026-10-13T23:33:54.2460000Z</dcterms:modified>
</coreProperties>
</file>